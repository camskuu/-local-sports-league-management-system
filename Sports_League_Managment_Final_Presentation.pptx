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81"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82" r:id="rId26"/>
    <p:sldId id="280"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BAAAE2-8FB7-1AA9-36E9-F5CA505C0D58}" v="1" dt="2026-05-02T22:34:13.498"/>
    <p1510:client id="{429EFA12-1F1C-CAEE-D121-5F3E805A560E}" v="367" dt="2026-05-02T22:52:02.709"/>
    <p1510:client id="{E09BB682-97FD-2A06-01E7-CF80F47E95FA}" v="7" dt="2026-05-02T22:12:38.477"/>
    <p1510:client id="{EDE745CF-8CBC-8A40-8B6D-7B6D4C9759DB}" v="401" dt="2026-05-02T22:14:55.9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35576A4D-C924-40FD-B330-FB81298B2DBF}" type="datetimeFigureOut">
              <a:t>5/2/2026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DDE5B76F-A099-489E-9EDD-5AF577AFB29D}" type="slidenum">
              <a:t>‹#›</a:t>
            </a:fld>
            <a:endParaRPr lang="en-US"/>
          </a:p>
        </p:txBody>
      </p:sp>
    </p:spTree>
    <p:extLst>
      <p:ext uri="{BB962C8B-B14F-4D97-AF65-F5344CB8AC3E}">
        <p14:creationId xmlns:p14="http://schemas.microsoft.com/office/powerpoint/2010/main" val="265858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Hello everyone. We are Group 13, Our project is the Local Sports League Management System: Bryan Vera, Cameron Bergeron, Dalton </a:t>
            </a:r>
            <a:r>
              <a:rPr lang="en-US" err="1"/>
              <a:t>Opudo</a:t>
            </a:r>
            <a:r>
              <a:rPr lang="en-US"/>
              <a:t>, and Lance Martin.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Cameron- The goal is to show how the database makes league information easier to store, search, update, and report. </a:t>
            </a:r>
          </a:p>
          <a:p>
            <a:r>
              <a:rPr lang="en-US"/>
              <a:t>First, we will briefly summarize the business and the problem our database is solving. Then we will review the business rules and the ERD.  After that, we will show the sample data and explain how the database handles repetition. The largest part of the presentation is the query demonstration, where each query is connected to a real business question. We will finish with team reflections and the overall value delivered by the system.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Bryan - Our database is designed for a local community sports league organization. This league manages recreational sports such as soccer, basketball, baseball, volleyball, flag football, and tennis across different seasons. Before using a centralized database, information like rosters, schedules, scores, and player stats  could be scattered across spreadsheets or manual records. This database helps by keeping the information in one structured system. That makes daily administration more accurate, reduces recordkeeping errors, and gives users quick access to the information they need.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Lance - These are the main business questions our database is designed to answer. League staff need to know how many teams and players are participating, which players and coaches belong to each team, what matches are scheduled, where those matches take place, and what the completed results were. The database also supports performance questions, such as team standings and individual player statistics. These questions matter because they help administrators communicate with coaches, players, and families while also supporting better planning for future seasons.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Dalton - These business rules describe the main structure of the league. A sport can have many seasons, but each season belongs to one sport. A season can include many teams, and a team can participate in many seasons. To avoid duplicating team records, we use the TEAM_SEASON table to represent a team in a specific season and division. Players are also assigned through a season-based roster table. This lets the same player or team appear in future seasons while still keeping each season’s records separate and accurate.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Cameron - These rules focus on matches, results, and database controls. Each match belongs to one season, has a valid date and time, and takes place at a location. Each match includes exactly two teams: one home team and one away team. The database also prevents common errors. For example, a team cannot play against itself, a location cannot host two matches at the same date and time, and a player can only have one stat record per match. These controls help protect data quality as the league grows.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Bryan - This is our final ERD. Our design achieved third normal form. Each table represents one main subject, such as sport, season, team, player, coach, location, match, or player match statistics. We separated repeating and many-to-many information into bridge tables like TEAM_SEASON, PLAYER_TEAM_SEASON, and COACH_TEAM_SEASON. This means non-key attributes depend on the key, the whole key, and nothing but the key. In practical terms, the design reduces duplication and keeps updates safer and more consistent.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ECF5C-19FE-0A63-D82D-0754CACD3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7506B-929E-5B78-E6B1-6149E7C0E7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B07FA4-1FF5-BDA2-90F5-EA7D3979220D}"/>
              </a:ext>
            </a:extLst>
          </p:cNvPr>
          <p:cNvSpPr>
            <a:spLocks noGrp="1"/>
          </p:cNvSpPr>
          <p:nvPr>
            <p:ph type="body" idx="1"/>
          </p:nvPr>
        </p:nvSpPr>
        <p:spPr/>
        <p:txBody>
          <a:bodyPr/>
          <a:lstStyle/>
          <a:p>
            <a:r>
              <a:rPr lang="en-US"/>
              <a:t>Lance - This is our final Data Dependency Diagram. Through our design, we achieved 3rd Normal Form. The tables separate core entities from season assignments, rosters, coach</a:t>
            </a:r>
          </a:p>
          <a:p>
            <a:r>
              <a:rPr lang="en-US"/>
              <a:t>assignments, matches, locations, and player stats. </a:t>
            </a:r>
          </a:p>
        </p:txBody>
      </p:sp>
      <p:sp>
        <p:nvSpPr>
          <p:cNvPr id="4" name="Slide Number Placeholder 3">
            <a:extLst>
              <a:ext uri="{FF2B5EF4-FFF2-40B4-BE49-F238E27FC236}">
                <a16:creationId xmlns:a16="http://schemas.microsoft.com/office/drawing/2014/main" id="{BC5EF4BC-8BB3-F456-5543-B25309954AC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257130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Cameron - Our sample data was expanded so the database demonstration would be meaningful. The data includes ten sports, sixteen seasons, twenty-four teams, forty-eight players, twenty-four coaches, fifteen locations, twenty-four team-season records, forty-eight roster assignments, thirty matches, and ninety-six player match stat rows. This gives us enough data to demonstrate schedules, completed matches, future matches, coach assignments, rosters, player statistics, and scoring summaries. The goal was not just to add rows, but to create data that supports useful reporting.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Dalton - This slide shows how the database handles repetition. In a sports league, the same team appears in many matches, and the same player can have statistics in many matches. Instead of copying the team name, player name, and other details every time, the database stores each main record once and connects it with foreign keys. For example, a team is stored in TEAM, then connected to matches through TEAM_SEASON. This keeps the data cleaner and prevents inconsistent duplicate records.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Query 1, presented by Cameron. The purpose of this query is to summarize scoring by season. It groups data by season and sport, then uses aggregate functions including COUNT, SUM, and AVG. For league administrators, this report shows which seasons have the most match activity, how many total points were scored, and the average points scored per match. In the real world, this could help compare sports, evaluate participation, and decide where staff, scorekeepers, or facility resources may be needed most.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Query 2, presented by Dalton. This query displays unique coach assignments by joining coaches, team-season records, teams, and seasons. It also uses CONCAT to display the coach’s full name in a readable format and DISTINCT to avoid duplicate rows. The business value is that league staff can quickly see which coach is assigned to which team and season. This is much easier for a non-technical user than looking through ID numbers across separate tables.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Query 3, presented by Bryan. This query identifies teams that have not lost a match. It uses a subquery and UNION to find teams that lost either as the home team or as the away team. Then the outer query returns teams that are not in that losing list. This is useful for standings, awards, and league summaries because administrators can quickly identify undefeated teams without manually checking each result.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Query 4, presented by Lance. The purpose of this query is to display match results sorted by the most recent match date first. It joins the match table to team-season and team tables so the output shows team names instead of only team IDs. This makes the report useful for league users who want a quick schedule and results view. In practice, this could be used by staff when answering questions about recent or upcoming matches.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Query 5, presented by Cameron. This query creates a readable match results report. It shows the match date, location, home team, away team, final score, and match status. The query joins matches with locations and teams, then uses CONCAT to display the score in a user-friendly format. This report would be useful for administrators, coaches, and families because it presents match information in one clear place instead of requiring them to search through multiple tables.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Query 6, presented by Cameron. This query creates a coach assignment report with contact information. It joins the coach, coach-team-season, team-season, team, and season tables. The report shows the coach name, team, season, division, and phone number. In the real world, this helps league staff quickly contact the correct coach for a specific team and season, which is important for scheduling updates, cancellations, and administrative communication.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Query 7, presented by Dalton. This query calculates total goals by player. Because each player can appear in multiple player match stat records, the query groups by player and uses SUM to add up all goals across matches. The result can be used as a leaderboard or performance report. For coaches and administrators, this gives a quick way to recognize high-scoring players and track player production over the season.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Query 8, presented by Dalton. This query shows matches sorted by date in descending order. It focuses on match ID, date and time, and match status. Even though this is a simple query, it is still valuable because users often need a quick schedule view. By sorting the most recent or upcoming matches first, league staff can quickly review the match calendar and check whether games are completed or still scheduled.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Query 9, presented by Bryan. This query also summarizes player goals, but it keeps first and last names in separate columns. It joins players to player match statistics, groups by player, and orders the results from highest total goals to lowest. This format is useful when exporting reports or sorting by player names. The business value is that it turns detailed match-by-match statistics into a simple player evaluation report.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Query 10, presented by Bryan. This query lists all players along with the teams they are assigned to and their jersey numbers. It joins the player table to PLAYER_TEAM_SEASON, TEAM_SEASON, and TEAM. This demonstrates why the normalized design is useful. The roster data is stored cleanly through assignment tables, but the query can still produce a simple report that coaches and administrators can actually use.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Query 11, presented by Lance. This query displays the total minutes played by each player. It joins players with their match statistics, groups by player, and sums the minutes played. This report focuses on participation instead of scoring. In the real world, coaches and administrators could use this information to monitor playing time, check player involvement, and make sure participation is being tracked fairly across matches.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Query 12, presented by Lance. This query calculates the average total score per match at each location. It joins the location and match tables, groups by location, and averages the combined home and away score. The report could help league staff identify venues where games tend to be higher scoring or where more scorekeeping attention may be needed. It also shows how the database can support planning decisions beyond basic schedules and rosters.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Cameron - This is Query 13, the insert trigger demonstration. The trigger runs after a match is inserted into the MATCH_GAME table. It checks whether the home team won, the away team won, or the game ended in a tie. Based on that result, it updates the correct team-season record by increasing wins, losses, ties, and points. The business value is that standings update automatically when a new completed match is entered, which reduces manual work and helps prevent mistakes.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Dalton - This is Query 14, the delete trigger demonstration. This trigger runs after a match is deleted from the MATCH_GAME table. If a match was entered incorrectly and then removed, the trigger reverses the standings impact from that match. For example, it subtracts the win and points from the winning team, subtracts the loss from the losing team, or reverses tie points for both teams. This helps keep the standings consistent with the actual matches stored in the database.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Bryan - Overall Reflection: Our team met the original objectives by creating a database that organizes sports, seasons, teams, players, coaches, locations, matches, standings, and player statistics. The business rules were mostly achieved through primary keys, foreign keys, unique constraints, and bridge tables that reduce repetition and keep the data organized.</a:t>
            </a:r>
          </a:p>
          <a:p>
            <a:endParaRPr lang="en-US"/>
          </a:p>
          <a:p>
            <a:r>
              <a:rPr lang="en-US"/>
              <a:t>Cameron Bergeron:</a:t>
            </a:r>
          </a:p>
          <a:p>
            <a:r>
              <a:rPr lang="en-US"/>
              <a:t>The database met the goal of tracking season activity and match results. The biggest challenge was avoiding repeated team data across seasons, which we solved with the TEAM_SEASON table.</a:t>
            </a:r>
          </a:p>
          <a:p>
            <a:endParaRPr lang="en-US"/>
          </a:p>
          <a:p>
            <a:r>
              <a:rPr lang="en-US"/>
              <a:t>Bryan Vera:</a:t>
            </a:r>
            <a:endParaRPr>
              <a:ea typeface="Calibri"/>
              <a:cs typeface="Calibri"/>
            </a:endParaRPr>
          </a:p>
          <a:p>
            <a:r>
              <a:rPr lang="en-US"/>
              <a:t>The database successfully tracks player performance by match. The main challenge was preventing duplicate player stat records, which we solved with the PLAYER_MATCH_STAT table and unique player-match records.</a:t>
            </a:r>
          </a:p>
          <a:p>
            <a:endParaRPr lang="en-US"/>
          </a:p>
          <a:p>
            <a:r>
              <a:rPr lang="en-US"/>
              <a:t>Dalton J. </a:t>
            </a:r>
            <a:r>
              <a:rPr lang="en-US" err="1"/>
              <a:t>Opudo</a:t>
            </a:r>
            <a:r>
              <a:rPr lang="en-US"/>
              <a:t>:</a:t>
            </a:r>
            <a:endParaRPr>
              <a:ea typeface="Calibri"/>
              <a:cs typeface="Calibri"/>
            </a:endParaRPr>
          </a:p>
          <a:p>
            <a:r>
              <a:rPr lang="en-US"/>
              <a:t>The database clearly connects coaches to teams and seasons. The biggest challenge was handling coach assignments across multiple seasons, which we solved with the COACH_TEAM_SEASON table.</a:t>
            </a:r>
          </a:p>
          <a:p>
            <a:endParaRPr lang="en-US"/>
          </a:p>
          <a:p>
            <a:r>
              <a:rPr lang="en-US"/>
              <a:t>Lance Martin:</a:t>
            </a:r>
            <a:endParaRPr>
              <a:ea typeface="Calibri"/>
              <a:cs typeface="Calibri"/>
            </a:endParaRPr>
          </a:p>
          <a:p>
            <a:r>
              <a:rPr lang="en-US"/>
              <a:t>The database supports match scheduling by tracking dates, times, teams, and locations. The main challenge was preventing location double-booking, which we solved with a unique constraint on </a:t>
            </a:r>
            <a:r>
              <a:rPr lang="en-US" err="1"/>
              <a:t>location_id</a:t>
            </a:r>
            <a:r>
              <a:rPr lang="en-US"/>
              <a:t> and </a:t>
            </a:r>
            <a:r>
              <a:rPr lang="en-US" err="1"/>
              <a:t>match_datetime</a:t>
            </a:r>
            <a:r>
              <a:rPr lang="en-US"/>
              <a:t>.</a:t>
            </a:r>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Lance - To close, our database delivers value by turning league activity into organized, reliable, and useful information. It centralizes teams, players, coaches, schedules, locations, match results, standings, and player statistics. It also answers practical business questions that league staff would ask every season. We met our original objective of creating a database that supports day-to-day league management while reducing duplication and improving accuracy. Thank you for watching our presentation.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02A43"/>
          </a:solidFill>
          <a:ln w="12700">
            <a:solidFill>
              <a:srgbClr val="102A43"/>
            </a:solidFill>
            <a:prstDash val="solid"/>
          </a:ln>
        </p:spPr>
      </p:sp>
      <p:sp>
        <p:nvSpPr>
          <p:cNvPr id="3" name="Shape 1"/>
          <p:cNvSpPr/>
          <p:nvPr/>
        </p:nvSpPr>
        <p:spPr>
          <a:xfrm>
            <a:off x="0" y="5102352"/>
            <a:ext cx="12191695" cy="1755648"/>
          </a:xfrm>
          <a:prstGeom prst="rect">
            <a:avLst/>
          </a:prstGeom>
          <a:solidFill>
            <a:srgbClr val="2F855A"/>
          </a:solidFill>
          <a:ln w="12700">
            <a:solidFill>
              <a:srgbClr val="2F855A"/>
            </a:solidFill>
            <a:prstDash val="solid"/>
          </a:ln>
        </p:spPr>
      </p:sp>
      <p:sp>
        <p:nvSpPr>
          <p:cNvPr id="4" name="Text 2"/>
          <p:cNvSpPr/>
          <p:nvPr/>
        </p:nvSpPr>
        <p:spPr>
          <a:xfrm>
            <a:off x="685800" y="594360"/>
            <a:ext cx="1097280" cy="731520"/>
          </a:xfrm>
          <a:prstGeom prst="rect">
            <a:avLst/>
          </a:prstGeom>
          <a:noFill/>
          <a:ln/>
        </p:spPr>
        <p:txBody>
          <a:bodyPr wrap="square" lIns="0" tIns="0" rIns="0" bIns="0" rtlCol="0" anchor="ctr"/>
          <a:lstStyle/>
          <a:p>
            <a:pPr marL="0" indent="0">
              <a:buNone/>
            </a:pPr>
            <a:r>
              <a:rPr lang="en-US" sz="3600">
                <a:solidFill>
                  <a:srgbClr val="FFFFFF"/>
                </a:solidFill>
              </a:rPr>
              <a:t>🏟️</a:t>
            </a:r>
            <a:endParaRPr lang="en-US" sz="3600"/>
          </a:p>
        </p:txBody>
      </p:sp>
      <p:sp>
        <p:nvSpPr>
          <p:cNvPr id="5" name="Text 3"/>
          <p:cNvSpPr/>
          <p:nvPr/>
        </p:nvSpPr>
        <p:spPr>
          <a:xfrm>
            <a:off x="685800" y="1408176"/>
            <a:ext cx="7955280" cy="1325880"/>
          </a:xfrm>
          <a:prstGeom prst="rect">
            <a:avLst/>
          </a:prstGeom>
          <a:noFill/>
          <a:ln/>
        </p:spPr>
        <p:txBody>
          <a:bodyPr wrap="square" lIns="0" tIns="0" rIns="0" bIns="0" rtlCol="0" anchor="ctr">
            <a:normAutofit/>
          </a:bodyPr>
          <a:lstStyle/>
          <a:p>
            <a:pPr marL="0" indent="0">
              <a:buNone/>
            </a:pPr>
            <a:r>
              <a:rPr lang="en-US" sz="3600" b="1">
                <a:solidFill>
                  <a:srgbClr val="FFFFFF"/>
                </a:solidFill>
                <a:latin typeface="Aptos Display" pitchFamily="34" charset="0"/>
                <a:ea typeface="Aptos Display" pitchFamily="34" charset="-122"/>
                <a:cs typeface="Aptos Display" pitchFamily="34" charset="-120"/>
              </a:rPr>
              <a:t>Local Sports League</a:t>
            </a:r>
            <a:endParaRPr lang="en-US" sz="3600"/>
          </a:p>
          <a:p>
            <a:pPr marL="0" indent="0">
              <a:buNone/>
            </a:pPr>
            <a:r>
              <a:rPr lang="en-US" sz="3600" b="1">
                <a:solidFill>
                  <a:srgbClr val="FFFFFF"/>
                </a:solidFill>
                <a:latin typeface="Aptos Display" pitchFamily="34" charset="0"/>
                <a:ea typeface="Aptos Display" pitchFamily="34" charset="-122"/>
                <a:cs typeface="Aptos Display" pitchFamily="34" charset="-120"/>
              </a:rPr>
              <a:t>Management System</a:t>
            </a:r>
            <a:endParaRPr lang="en-US" sz="3600"/>
          </a:p>
        </p:txBody>
      </p:sp>
      <p:sp>
        <p:nvSpPr>
          <p:cNvPr id="6" name="Text 4"/>
          <p:cNvSpPr/>
          <p:nvPr/>
        </p:nvSpPr>
        <p:spPr>
          <a:xfrm>
            <a:off x="713232" y="2907792"/>
            <a:ext cx="7589520" cy="310896"/>
          </a:xfrm>
          <a:prstGeom prst="rect">
            <a:avLst/>
          </a:prstGeom>
          <a:noFill/>
          <a:ln/>
        </p:spPr>
        <p:txBody>
          <a:bodyPr wrap="square" lIns="0" tIns="0" rIns="0" bIns="0" rtlCol="0" anchor="ctr"/>
          <a:lstStyle/>
          <a:p>
            <a:r>
              <a:rPr lang="en-US">
                <a:solidFill>
                  <a:srgbClr val="DDEAFE"/>
                </a:solidFill>
              </a:rPr>
              <a:t>Final database demonstration </a:t>
            </a:r>
            <a:endParaRPr lang="en-US" sz="1800">
              <a:solidFill>
                <a:srgbClr val="000000"/>
              </a:solidFill>
            </a:endParaRPr>
          </a:p>
        </p:txBody>
      </p:sp>
      <p:sp>
        <p:nvSpPr>
          <p:cNvPr id="7" name="Text 5"/>
          <p:cNvSpPr/>
          <p:nvPr/>
        </p:nvSpPr>
        <p:spPr>
          <a:xfrm>
            <a:off x="713232" y="5358384"/>
            <a:ext cx="1554480" cy="256032"/>
          </a:xfrm>
          <a:prstGeom prst="rect">
            <a:avLst/>
          </a:prstGeom>
          <a:noFill/>
          <a:ln/>
        </p:spPr>
        <p:txBody>
          <a:bodyPr wrap="square" lIns="0" tIns="0" rIns="0" bIns="0" rtlCol="0" anchor="ctr"/>
          <a:lstStyle/>
          <a:p>
            <a:pPr marL="0" indent="0">
              <a:buNone/>
            </a:pPr>
            <a:r>
              <a:rPr lang="en-US" sz="1700" b="1">
                <a:solidFill>
                  <a:srgbClr val="FFFFFF"/>
                </a:solidFill>
              </a:rPr>
              <a:t>Group 13</a:t>
            </a:r>
            <a:endParaRPr lang="en-US" sz="1700"/>
          </a:p>
        </p:txBody>
      </p:sp>
      <p:sp>
        <p:nvSpPr>
          <p:cNvPr id="8" name="Text 6"/>
          <p:cNvSpPr/>
          <p:nvPr/>
        </p:nvSpPr>
        <p:spPr>
          <a:xfrm>
            <a:off x="713232" y="5696712"/>
            <a:ext cx="8961120" cy="246888"/>
          </a:xfrm>
          <a:prstGeom prst="rect">
            <a:avLst/>
          </a:prstGeom>
          <a:noFill/>
          <a:ln/>
        </p:spPr>
        <p:txBody>
          <a:bodyPr wrap="square" lIns="0" tIns="0" rIns="0" bIns="0" rtlCol="0" anchor="ctr"/>
          <a:lstStyle/>
          <a:p>
            <a:r>
              <a:rPr lang="en-US" sz="1400">
                <a:solidFill>
                  <a:srgbClr val="FFFFFF"/>
                </a:solidFill>
              </a:rPr>
              <a:t>Bryan G Vera • Cameron J Bergeron • Dalton J </a:t>
            </a:r>
            <a:r>
              <a:rPr lang="en-US" sz="1400" err="1">
                <a:solidFill>
                  <a:srgbClr val="FFFFFF"/>
                </a:solidFill>
              </a:rPr>
              <a:t>Opudo</a:t>
            </a:r>
            <a:r>
              <a:rPr lang="en-US" sz="1400">
                <a:solidFill>
                  <a:srgbClr val="FFFFFF"/>
                </a:solidFill>
              </a:rPr>
              <a:t> • Lance L Martin</a:t>
            </a:r>
            <a:endParaRPr lang="en-US" sz="1400"/>
          </a:p>
        </p:txBody>
      </p:sp>
      <p:sp>
        <p:nvSpPr>
          <p:cNvPr id="9" name="Text 7"/>
          <p:cNvSpPr/>
          <p:nvPr/>
        </p:nvSpPr>
        <p:spPr>
          <a:xfrm>
            <a:off x="713232" y="5989320"/>
            <a:ext cx="3840480" cy="201168"/>
          </a:xfrm>
          <a:prstGeom prst="rect">
            <a:avLst/>
          </a:prstGeom>
          <a:noFill/>
          <a:ln/>
        </p:spPr>
        <p:txBody>
          <a:bodyPr wrap="square" lIns="0" tIns="0" rIns="0" bIns="0" rtlCol="0" anchor="ctr"/>
          <a:lstStyle/>
          <a:p>
            <a:pPr marL="0" indent="0">
              <a:buNone/>
            </a:pPr>
            <a:r>
              <a:rPr lang="en-US" sz="1200">
                <a:solidFill>
                  <a:srgbClr val="E6FFFA"/>
                </a:solidFill>
              </a:rPr>
              <a:t>CS-3743 Database Systems</a:t>
            </a:r>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LOCAL SPORTS LEAGUE MANAGEMENT SYSTEM</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Presentation Roadmap</a:t>
            </a:r>
            <a:endParaRPr lang="en-US" sz="2700"/>
          </a:p>
        </p:txBody>
      </p:sp>
      <p:sp>
        <p:nvSpPr>
          <p:cNvPr id="5" name="Shape 3"/>
          <p:cNvSpPr/>
          <p:nvPr/>
        </p:nvSpPr>
        <p:spPr>
          <a:xfrm>
            <a:off x="713232" y="1207008"/>
            <a:ext cx="457200" cy="457200"/>
          </a:xfrm>
          <a:prstGeom prst="ellipse">
            <a:avLst/>
          </a:prstGeom>
          <a:solidFill>
            <a:srgbClr val="2F855A"/>
          </a:solidFill>
          <a:ln w="12700">
            <a:solidFill>
              <a:srgbClr val="2F855A"/>
            </a:solidFill>
            <a:prstDash val="solid"/>
          </a:ln>
        </p:spPr>
      </p:sp>
      <p:sp>
        <p:nvSpPr>
          <p:cNvPr id="6" name="Text 4"/>
          <p:cNvSpPr/>
          <p:nvPr/>
        </p:nvSpPr>
        <p:spPr>
          <a:xfrm>
            <a:off x="713232" y="1316736"/>
            <a:ext cx="457200" cy="146304"/>
          </a:xfrm>
          <a:prstGeom prst="rect">
            <a:avLst/>
          </a:prstGeom>
          <a:noFill/>
          <a:ln/>
        </p:spPr>
        <p:txBody>
          <a:bodyPr wrap="square" lIns="0" tIns="0" rIns="0" bIns="0" rtlCol="0" anchor="ctr"/>
          <a:lstStyle/>
          <a:p>
            <a:pPr marL="0" indent="0" algn="ctr">
              <a:buNone/>
            </a:pPr>
            <a:r>
              <a:rPr lang="en-US" sz="1200" b="1">
                <a:solidFill>
                  <a:srgbClr val="FFFFFF"/>
                </a:solidFill>
              </a:rPr>
              <a:t>1</a:t>
            </a:r>
            <a:endParaRPr lang="en-US" sz="1200"/>
          </a:p>
        </p:txBody>
      </p:sp>
      <p:sp>
        <p:nvSpPr>
          <p:cNvPr id="7" name="Text 5"/>
          <p:cNvSpPr/>
          <p:nvPr/>
        </p:nvSpPr>
        <p:spPr>
          <a:xfrm>
            <a:off x="1389888" y="1179576"/>
            <a:ext cx="2514600" cy="292608"/>
          </a:xfrm>
          <a:prstGeom prst="rect">
            <a:avLst/>
          </a:prstGeom>
          <a:noFill/>
          <a:ln/>
        </p:spPr>
        <p:txBody>
          <a:bodyPr wrap="square" lIns="0" tIns="0" rIns="0" bIns="0" rtlCol="0" anchor="ctr"/>
          <a:lstStyle/>
          <a:p>
            <a:pPr marL="0" indent="0">
              <a:buNone/>
            </a:pPr>
            <a:r>
              <a:rPr lang="en-US" sz="1800" b="1">
                <a:solidFill>
                  <a:srgbClr val="102A43"/>
                </a:solidFill>
              </a:rPr>
              <a:t>Business summary</a:t>
            </a:r>
            <a:endParaRPr lang="en-US" sz="1800"/>
          </a:p>
        </p:txBody>
      </p:sp>
      <p:sp>
        <p:nvSpPr>
          <p:cNvPr id="8" name="Text 6"/>
          <p:cNvSpPr/>
          <p:nvPr/>
        </p:nvSpPr>
        <p:spPr>
          <a:xfrm>
            <a:off x="4005072" y="1234440"/>
            <a:ext cx="5166360" cy="219456"/>
          </a:xfrm>
          <a:prstGeom prst="rect">
            <a:avLst/>
          </a:prstGeom>
          <a:noFill/>
          <a:ln/>
        </p:spPr>
        <p:txBody>
          <a:bodyPr wrap="square" lIns="0" tIns="0" rIns="0" bIns="0" rtlCol="0" anchor="ctr">
            <a:normAutofit/>
          </a:bodyPr>
          <a:lstStyle/>
          <a:p>
            <a:r>
              <a:rPr lang="en-US" sz="1400">
                <a:solidFill>
                  <a:srgbClr val="4A5568"/>
                </a:solidFill>
              </a:rPr>
              <a:t>Why local sport leagues needs the database</a:t>
            </a:r>
            <a:endParaRPr lang="en-US" sz="1400"/>
          </a:p>
        </p:txBody>
      </p:sp>
      <p:sp>
        <p:nvSpPr>
          <p:cNvPr id="9" name="Shape 7"/>
          <p:cNvSpPr/>
          <p:nvPr/>
        </p:nvSpPr>
        <p:spPr>
          <a:xfrm>
            <a:off x="713232" y="2066544"/>
            <a:ext cx="457200" cy="457200"/>
          </a:xfrm>
          <a:prstGeom prst="ellipse">
            <a:avLst/>
          </a:prstGeom>
          <a:solidFill>
            <a:srgbClr val="2F855A"/>
          </a:solidFill>
          <a:ln w="12700">
            <a:solidFill>
              <a:srgbClr val="2F855A"/>
            </a:solidFill>
            <a:prstDash val="solid"/>
          </a:ln>
        </p:spPr>
      </p:sp>
      <p:sp>
        <p:nvSpPr>
          <p:cNvPr id="10" name="Text 8"/>
          <p:cNvSpPr/>
          <p:nvPr/>
        </p:nvSpPr>
        <p:spPr>
          <a:xfrm>
            <a:off x="713232" y="2176272"/>
            <a:ext cx="457200" cy="146304"/>
          </a:xfrm>
          <a:prstGeom prst="rect">
            <a:avLst/>
          </a:prstGeom>
          <a:noFill/>
          <a:ln/>
        </p:spPr>
        <p:txBody>
          <a:bodyPr wrap="square" lIns="0" tIns="0" rIns="0" bIns="0" rtlCol="0" anchor="ctr"/>
          <a:lstStyle/>
          <a:p>
            <a:pPr marL="0" indent="0" algn="ctr">
              <a:buNone/>
            </a:pPr>
            <a:r>
              <a:rPr lang="en-US" sz="1200" b="1">
                <a:solidFill>
                  <a:srgbClr val="FFFFFF"/>
                </a:solidFill>
              </a:rPr>
              <a:t>2</a:t>
            </a:r>
            <a:endParaRPr lang="en-US" sz="1200"/>
          </a:p>
        </p:txBody>
      </p:sp>
      <p:sp>
        <p:nvSpPr>
          <p:cNvPr id="11" name="Text 9"/>
          <p:cNvSpPr/>
          <p:nvPr/>
        </p:nvSpPr>
        <p:spPr>
          <a:xfrm>
            <a:off x="1389888" y="2039112"/>
            <a:ext cx="2514600" cy="292608"/>
          </a:xfrm>
          <a:prstGeom prst="rect">
            <a:avLst/>
          </a:prstGeom>
          <a:noFill/>
          <a:ln/>
        </p:spPr>
        <p:txBody>
          <a:bodyPr wrap="square" lIns="0" tIns="0" rIns="0" bIns="0" rtlCol="0" anchor="ctr"/>
          <a:lstStyle/>
          <a:p>
            <a:pPr marL="0" indent="0">
              <a:buNone/>
            </a:pPr>
            <a:r>
              <a:rPr lang="en-US" sz="1800" b="1">
                <a:solidFill>
                  <a:srgbClr val="102A43"/>
                </a:solidFill>
              </a:rPr>
              <a:t>Rules + ERD</a:t>
            </a:r>
            <a:r>
              <a:rPr lang="en-US" b="1">
                <a:solidFill>
                  <a:srgbClr val="102A43"/>
                </a:solidFill>
              </a:rPr>
              <a:t>/DDD</a:t>
            </a:r>
            <a:endParaRPr lang="en-US" sz="1800"/>
          </a:p>
        </p:txBody>
      </p:sp>
      <p:sp>
        <p:nvSpPr>
          <p:cNvPr id="12" name="Text 10"/>
          <p:cNvSpPr/>
          <p:nvPr/>
        </p:nvSpPr>
        <p:spPr>
          <a:xfrm>
            <a:off x="4005072" y="2093976"/>
            <a:ext cx="5166360" cy="219456"/>
          </a:xfrm>
          <a:prstGeom prst="rect">
            <a:avLst/>
          </a:prstGeom>
          <a:noFill/>
          <a:ln/>
        </p:spPr>
        <p:txBody>
          <a:bodyPr wrap="square" lIns="0" tIns="0" rIns="0" bIns="0" rtlCol="0" anchor="ctr">
            <a:normAutofit/>
          </a:bodyPr>
          <a:lstStyle/>
          <a:p>
            <a:pPr marL="0" indent="0">
              <a:buNone/>
            </a:pPr>
            <a:r>
              <a:rPr lang="en-US" sz="1400">
                <a:solidFill>
                  <a:srgbClr val="4A5568"/>
                </a:solidFill>
              </a:rPr>
              <a:t>How the data is organized and normalized</a:t>
            </a:r>
            <a:endParaRPr lang="en-US" sz="1400"/>
          </a:p>
        </p:txBody>
      </p:sp>
      <p:sp>
        <p:nvSpPr>
          <p:cNvPr id="13" name="Shape 11"/>
          <p:cNvSpPr/>
          <p:nvPr/>
        </p:nvSpPr>
        <p:spPr>
          <a:xfrm>
            <a:off x="713232" y="2926080"/>
            <a:ext cx="457200" cy="457200"/>
          </a:xfrm>
          <a:prstGeom prst="ellipse">
            <a:avLst/>
          </a:prstGeom>
          <a:solidFill>
            <a:srgbClr val="2F855A"/>
          </a:solidFill>
          <a:ln w="12700">
            <a:solidFill>
              <a:srgbClr val="2F855A"/>
            </a:solidFill>
            <a:prstDash val="solid"/>
          </a:ln>
        </p:spPr>
      </p:sp>
      <p:sp>
        <p:nvSpPr>
          <p:cNvPr id="14" name="Text 12"/>
          <p:cNvSpPr/>
          <p:nvPr/>
        </p:nvSpPr>
        <p:spPr>
          <a:xfrm>
            <a:off x="713232" y="3035808"/>
            <a:ext cx="457200" cy="146304"/>
          </a:xfrm>
          <a:prstGeom prst="rect">
            <a:avLst/>
          </a:prstGeom>
          <a:noFill/>
          <a:ln/>
        </p:spPr>
        <p:txBody>
          <a:bodyPr wrap="square" lIns="0" tIns="0" rIns="0" bIns="0" rtlCol="0" anchor="ctr"/>
          <a:lstStyle/>
          <a:p>
            <a:pPr marL="0" indent="0" algn="ctr">
              <a:buNone/>
            </a:pPr>
            <a:r>
              <a:rPr lang="en-US" sz="1200" b="1">
                <a:solidFill>
                  <a:srgbClr val="FFFFFF"/>
                </a:solidFill>
              </a:rPr>
              <a:t>3</a:t>
            </a:r>
            <a:endParaRPr lang="en-US" sz="1200"/>
          </a:p>
        </p:txBody>
      </p:sp>
      <p:sp>
        <p:nvSpPr>
          <p:cNvPr id="15" name="Text 13"/>
          <p:cNvSpPr/>
          <p:nvPr/>
        </p:nvSpPr>
        <p:spPr>
          <a:xfrm>
            <a:off x="1389888" y="2898648"/>
            <a:ext cx="2514600" cy="292608"/>
          </a:xfrm>
          <a:prstGeom prst="rect">
            <a:avLst/>
          </a:prstGeom>
          <a:noFill/>
          <a:ln/>
        </p:spPr>
        <p:txBody>
          <a:bodyPr wrap="square" lIns="0" tIns="0" rIns="0" bIns="0" rtlCol="0" anchor="ctr"/>
          <a:lstStyle/>
          <a:p>
            <a:pPr marL="0" indent="0">
              <a:buNone/>
            </a:pPr>
            <a:r>
              <a:rPr lang="en-US" sz="1800" b="1">
                <a:solidFill>
                  <a:srgbClr val="102A43"/>
                </a:solidFill>
              </a:rPr>
              <a:t>Sample data</a:t>
            </a:r>
            <a:endParaRPr lang="en-US" sz="1800"/>
          </a:p>
        </p:txBody>
      </p:sp>
      <p:sp>
        <p:nvSpPr>
          <p:cNvPr id="16" name="Text 14"/>
          <p:cNvSpPr/>
          <p:nvPr/>
        </p:nvSpPr>
        <p:spPr>
          <a:xfrm>
            <a:off x="4005072" y="2953512"/>
            <a:ext cx="5166360" cy="219456"/>
          </a:xfrm>
          <a:prstGeom prst="rect">
            <a:avLst/>
          </a:prstGeom>
          <a:noFill/>
          <a:ln/>
        </p:spPr>
        <p:txBody>
          <a:bodyPr wrap="square" lIns="0" tIns="0" rIns="0" bIns="0" rtlCol="0" anchor="ctr">
            <a:normAutofit/>
          </a:bodyPr>
          <a:lstStyle/>
          <a:p>
            <a:pPr marL="0" indent="0">
              <a:buNone/>
            </a:pPr>
            <a:r>
              <a:rPr lang="en-US" sz="1400">
                <a:solidFill>
                  <a:srgbClr val="4A5568"/>
                </a:solidFill>
              </a:rPr>
              <a:t>How repeated real-world records are handled</a:t>
            </a:r>
            <a:endParaRPr lang="en-US" sz="1400"/>
          </a:p>
        </p:txBody>
      </p:sp>
      <p:sp>
        <p:nvSpPr>
          <p:cNvPr id="17" name="Shape 15"/>
          <p:cNvSpPr/>
          <p:nvPr/>
        </p:nvSpPr>
        <p:spPr>
          <a:xfrm>
            <a:off x="713232" y="3785616"/>
            <a:ext cx="457200" cy="457200"/>
          </a:xfrm>
          <a:prstGeom prst="ellipse">
            <a:avLst/>
          </a:prstGeom>
          <a:solidFill>
            <a:srgbClr val="2F855A"/>
          </a:solidFill>
          <a:ln w="12700">
            <a:solidFill>
              <a:srgbClr val="2F855A"/>
            </a:solidFill>
            <a:prstDash val="solid"/>
          </a:ln>
        </p:spPr>
      </p:sp>
      <p:sp>
        <p:nvSpPr>
          <p:cNvPr id="18" name="Text 16"/>
          <p:cNvSpPr/>
          <p:nvPr/>
        </p:nvSpPr>
        <p:spPr>
          <a:xfrm>
            <a:off x="713232" y="3895344"/>
            <a:ext cx="457200" cy="146304"/>
          </a:xfrm>
          <a:prstGeom prst="rect">
            <a:avLst/>
          </a:prstGeom>
          <a:noFill/>
          <a:ln/>
        </p:spPr>
        <p:txBody>
          <a:bodyPr wrap="square" lIns="0" tIns="0" rIns="0" bIns="0" rtlCol="0" anchor="ctr"/>
          <a:lstStyle/>
          <a:p>
            <a:pPr marL="0" indent="0" algn="ctr">
              <a:buNone/>
            </a:pPr>
            <a:r>
              <a:rPr lang="en-US" sz="1200" b="1">
                <a:solidFill>
                  <a:srgbClr val="FFFFFF"/>
                </a:solidFill>
              </a:rPr>
              <a:t>4</a:t>
            </a:r>
            <a:endParaRPr lang="en-US" sz="1200"/>
          </a:p>
        </p:txBody>
      </p:sp>
      <p:sp>
        <p:nvSpPr>
          <p:cNvPr id="19" name="Text 17"/>
          <p:cNvSpPr/>
          <p:nvPr/>
        </p:nvSpPr>
        <p:spPr>
          <a:xfrm>
            <a:off x="1389888" y="3758184"/>
            <a:ext cx="2514600" cy="292608"/>
          </a:xfrm>
          <a:prstGeom prst="rect">
            <a:avLst/>
          </a:prstGeom>
          <a:noFill/>
          <a:ln/>
        </p:spPr>
        <p:txBody>
          <a:bodyPr wrap="square" lIns="0" tIns="0" rIns="0" bIns="0" rtlCol="0" anchor="ctr"/>
          <a:lstStyle/>
          <a:p>
            <a:pPr marL="0" indent="0">
              <a:buNone/>
            </a:pPr>
            <a:r>
              <a:rPr lang="en-US" sz="1800" b="1">
                <a:solidFill>
                  <a:srgbClr val="102A43"/>
                </a:solidFill>
              </a:rPr>
              <a:t>Query demo</a:t>
            </a:r>
            <a:endParaRPr lang="en-US" sz="1800"/>
          </a:p>
        </p:txBody>
      </p:sp>
      <p:sp>
        <p:nvSpPr>
          <p:cNvPr id="20" name="Text 18"/>
          <p:cNvSpPr/>
          <p:nvPr/>
        </p:nvSpPr>
        <p:spPr>
          <a:xfrm>
            <a:off x="4005072" y="3813048"/>
            <a:ext cx="5166360" cy="219456"/>
          </a:xfrm>
          <a:prstGeom prst="rect">
            <a:avLst/>
          </a:prstGeom>
          <a:noFill/>
          <a:ln/>
        </p:spPr>
        <p:txBody>
          <a:bodyPr wrap="square" lIns="0" tIns="0" rIns="0" bIns="0" rtlCol="0" anchor="ctr">
            <a:normAutofit/>
          </a:bodyPr>
          <a:lstStyle/>
          <a:p>
            <a:pPr marL="0" indent="0">
              <a:buNone/>
            </a:pPr>
            <a:r>
              <a:rPr lang="en-US" sz="1400">
                <a:solidFill>
                  <a:srgbClr val="4A5568"/>
                </a:solidFill>
              </a:rPr>
              <a:t>Fourteen reports/actions that answer business questions</a:t>
            </a:r>
            <a:endParaRPr lang="en-US" sz="1400"/>
          </a:p>
        </p:txBody>
      </p:sp>
      <p:sp>
        <p:nvSpPr>
          <p:cNvPr id="21" name="Shape 19"/>
          <p:cNvSpPr/>
          <p:nvPr/>
        </p:nvSpPr>
        <p:spPr>
          <a:xfrm>
            <a:off x="713232" y="4645152"/>
            <a:ext cx="457200" cy="457200"/>
          </a:xfrm>
          <a:prstGeom prst="ellipse">
            <a:avLst/>
          </a:prstGeom>
          <a:solidFill>
            <a:srgbClr val="2F855A"/>
          </a:solidFill>
          <a:ln w="12700">
            <a:solidFill>
              <a:srgbClr val="2F855A"/>
            </a:solidFill>
            <a:prstDash val="solid"/>
          </a:ln>
        </p:spPr>
      </p:sp>
      <p:sp>
        <p:nvSpPr>
          <p:cNvPr id="22" name="Text 20"/>
          <p:cNvSpPr/>
          <p:nvPr/>
        </p:nvSpPr>
        <p:spPr>
          <a:xfrm>
            <a:off x="713232" y="4754880"/>
            <a:ext cx="457200" cy="146304"/>
          </a:xfrm>
          <a:prstGeom prst="rect">
            <a:avLst/>
          </a:prstGeom>
          <a:noFill/>
          <a:ln/>
        </p:spPr>
        <p:txBody>
          <a:bodyPr wrap="square" lIns="0" tIns="0" rIns="0" bIns="0" rtlCol="0" anchor="ctr"/>
          <a:lstStyle/>
          <a:p>
            <a:pPr marL="0" indent="0" algn="ctr">
              <a:buNone/>
            </a:pPr>
            <a:r>
              <a:rPr lang="en-US" sz="1200" b="1">
                <a:solidFill>
                  <a:srgbClr val="FFFFFF"/>
                </a:solidFill>
              </a:rPr>
              <a:t>5</a:t>
            </a:r>
            <a:endParaRPr lang="en-US" sz="1200"/>
          </a:p>
        </p:txBody>
      </p:sp>
      <p:sp>
        <p:nvSpPr>
          <p:cNvPr id="23" name="Text 21"/>
          <p:cNvSpPr/>
          <p:nvPr/>
        </p:nvSpPr>
        <p:spPr>
          <a:xfrm>
            <a:off x="1389888" y="4617720"/>
            <a:ext cx="2514600" cy="292608"/>
          </a:xfrm>
          <a:prstGeom prst="rect">
            <a:avLst/>
          </a:prstGeom>
          <a:noFill/>
          <a:ln/>
        </p:spPr>
        <p:txBody>
          <a:bodyPr wrap="square" lIns="0" tIns="0" rIns="0" bIns="0" rtlCol="0" anchor="ctr"/>
          <a:lstStyle/>
          <a:p>
            <a:pPr marL="0" indent="0">
              <a:buNone/>
            </a:pPr>
            <a:r>
              <a:rPr lang="en-US" sz="1800" b="1">
                <a:solidFill>
                  <a:srgbClr val="102A43"/>
                </a:solidFill>
              </a:rPr>
              <a:t>Reflection</a:t>
            </a:r>
            <a:endParaRPr lang="en-US" sz="1800"/>
          </a:p>
        </p:txBody>
      </p:sp>
      <p:sp>
        <p:nvSpPr>
          <p:cNvPr id="24" name="Text 22"/>
          <p:cNvSpPr/>
          <p:nvPr/>
        </p:nvSpPr>
        <p:spPr>
          <a:xfrm>
            <a:off x="4005072" y="4672584"/>
            <a:ext cx="5166360" cy="219456"/>
          </a:xfrm>
          <a:prstGeom prst="rect">
            <a:avLst/>
          </a:prstGeom>
          <a:noFill/>
          <a:ln/>
        </p:spPr>
        <p:txBody>
          <a:bodyPr wrap="square" lIns="0" tIns="0" rIns="0" bIns="0" rtlCol="0" anchor="ctr">
            <a:normAutofit/>
          </a:bodyPr>
          <a:lstStyle/>
          <a:p>
            <a:pPr marL="0" indent="0">
              <a:buNone/>
            </a:pPr>
            <a:r>
              <a:rPr lang="en-US" sz="1400">
                <a:solidFill>
                  <a:srgbClr val="4A5568"/>
                </a:solidFill>
              </a:rPr>
              <a:t>What we learned and how the system delivers value</a:t>
            </a:r>
            <a:endParaRPr lang="en-US" sz="1400"/>
          </a:p>
        </p:txBody>
      </p:sp>
      <p:sp>
        <p:nvSpPr>
          <p:cNvPr id="28" name="Text 26"/>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2</a:t>
            </a:r>
            <a:endParaRPr lang="en-US" sz="7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LOCAL SPORTS LEAGUE MANAGEMENT SYSTEM</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Business Summary: What the League Needs</a:t>
            </a:r>
            <a:endParaRPr lang="en-US" sz="2700"/>
          </a:p>
        </p:txBody>
      </p:sp>
      <p:sp>
        <p:nvSpPr>
          <p:cNvPr id="5" name="Shape 3"/>
          <p:cNvSpPr/>
          <p:nvPr/>
        </p:nvSpPr>
        <p:spPr>
          <a:xfrm>
            <a:off x="594360" y="1234440"/>
            <a:ext cx="5074920" cy="4480560"/>
          </a:xfrm>
          <a:prstGeom prst="roundRect">
            <a:avLst>
              <a:gd name="adj" fmla="val 2449"/>
            </a:avLst>
          </a:prstGeom>
          <a:solidFill>
            <a:srgbClr val="FFFFFF"/>
          </a:solidFill>
          <a:ln w="12700">
            <a:solidFill>
              <a:srgbClr val="D9E2EC"/>
            </a:solidFill>
            <a:prstDash val="solid"/>
          </a:ln>
        </p:spPr>
      </p:sp>
      <p:sp>
        <p:nvSpPr>
          <p:cNvPr id="6" name="Text 4"/>
          <p:cNvSpPr/>
          <p:nvPr/>
        </p:nvSpPr>
        <p:spPr>
          <a:xfrm>
            <a:off x="868680" y="1536192"/>
            <a:ext cx="1371600" cy="256032"/>
          </a:xfrm>
          <a:prstGeom prst="rect">
            <a:avLst/>
          </a:prstGeom>
          <a:noFill/>
          <a:ln/>
        </p:spPr>
        <p:txBody>
          <a:bodyPr wrap="square" lIns="0" tIns="0" rIns="0" bIns="0" rtlCol="0" anchor="ctr"/>
          <a:lstStyle/>
          <a:p>
            <a:pPr marL="0" indent="0">
              <a:buNone/>
            </a:pPr>
            <a:r>
              <a:rPr lang="en-US" sz="1500" b="1">
                <a:solidFill>
                  <a:srgbClr val="102A43"/>
                </a:solidFill>
              </a:rPr>
              <a:t>Client</a:t>
            </a:r>
            <a:endParaRPr lang="en-US" sz="1500"/>
          </a:p>
        </p:txBody>
      </p:sp>
      <p:sp>
        <p:nvSpPr>
          <p:cNvPr id="7" name="Text 5"/>
          <p:cNvSpPr/>
          <p:nvPr/>
        </p:nvSpPr>
        <p:spPr>
          <a:xfrm>
            <a:off x="868680" y="1901952"/>
            <a:ext cx="4526280" cy="1371600"/>
          </a:xfrm>
          <a:prstGeom prst="rect">
            <a:avLst/>
          </a:prstGeom>
          <a:noFill/>
          <a:ln/>
        </p:spPr>
        <p:txBody>
          <a:bodyPr wrap="square" lIns="254" tIns="254" rIns="254" bIns="254" rtlCol="0" anchor="t">
            <a:normAutofit/>
          </a:bodyPr>
          <a:lstStyle/>
          <a:p>
            <a:r>
              <a:rPr lang="en-US" sz="1400">
                <a:solidFill>
                  <a:srgbClr val="1A202C"/>
                </a:solidFill>
              </a:rPr>
              <a:t>Local community sports league organization</a:t>
            </a:r>
            <a:endParaRPr lang="en-US" sz="1400"/>
          </a:p>
          <a:p>
            <a:r>
              <a:rPr lang="en-US" sz="1400">
                <a:solidFill>
                  <a:srgbClr val="1A202C"/>
                </a:solidFill>
              </a:rPr>
              <a:t>Manages recreational sports across seasons</a:t>
            </a:r>
            <a:endParaRPr lang="en-US" sz="1400"/>
          </a:p>
          <a:p>
            <a:r>
              <a:rPr lang="en-US" sz="1400">
                <a:solidFill>
                  <a:srgbClr val="1A202C"/>
                </a:solidFill>
              </a:rPr>
              <a:t>Tracks teams, players, coaches, matches, locations, and statistics</a:t>
            </a:r>
            <a:endParaRPr lang="en-US" sz="1400"/>
          </a:p>
        </p:txBody>
      </p:sp>
      <p:sp>
        <p:nvSpPr>
          <p:cNvPr id="8" name="Text 6"/>
          <p:cNvSpPr/>
          <p:nvPr/>
        </p:nvSpPr>
        <p:spPr>
          <a:xfrm>
            <a:off x="868680" y="3493008"/>
            <a:ext cx="2194560" cy="256032"/>
          </a:xfrm>
          <a:prstGeom prst="rect">
            <a:avLst/>
          </a:prstGeom>
          <a:noFill/>
          <a:ln/>
        </p:spPr>
        <p:txBody>
          <a:bodyPr wrap="square" lIns="0" tIns="0" rIns="0" bIns="0" rtlCol="0" anchor="ctr"/>
          <a:lstStyle/>
          <a:p>
            <a:pPr marL="0" indent="0">
              <a:buNone/>
            </a:pPr>
            <a:r>
              <a:rPr lang="en-US" sz="1500" b="1">
                <a:solidFill>
                  <a:srgbClr val="102A43"/>
                </a:solidFill>
              </a:rPr>
              <a:t>Current problem</a:t>
            </a:r>
            <a:endParaRPr lang="en-US" sz="1500"/>
          </a:p>
        </p:txBody>
      </p:sp>
      <p:sp>
        <p:nvSpPr>
          <p:cNvPr id="9" name="Text 7"/>
          <p:cNvSpPr/>
          <p:nvPr/>
        </p:nvSpPr>
        <p:spPr>
          <a:xfrm>
            <a:off x="868680" y="3858768"/>
            <a:ext cx="4526280" cy="1371600"/>
          </a:xfrm>
          <a:prstGeom prst="rect">
            <a:avLst/>
          </a:prstGeom>
          <a:noFill/>
          <a:ln/>
        </p:spPr>
        <p:txBody>
          <a:bodyPr wrap="square" lIns="254" tIns="254" rIns="254" bIns="254" rtlCol="0" anchor="t">
            <a:normAutofit/>
          </a:bodyPr>
          <a:lstStyle/>
          <a:p>
            <a:r>
              <a:rPr lang="en-US" sz="1400">
                <a:solidFill>
                  <a:srgbClr val="1A202C"/>
                </a:solidFill>
              </a:rPr>
              <a:t>Information is spread across manual records and spreadsheets</a:t>
            </a:r>
            <a:endParaRPr lang="en-US" sz="1400"/>
          </a:p>
          <a:p>
            <a:r>
              <a:rPr lang="en-US" sz="1400">
                <a:solidFill>
                  <a:srgbClr val="1A202C"/>
                </a:solidFill>
              </a:rPr>
              <a:t>Schedules, rosters, results, and standings can become inconsistent</a:t>
            </a:r>
            <a:endParaRPr lang="en-US" sz="1400"/>
          </a:p>
          <a:p>
            <a:r>
              <a:rPr lang="en-US" sz="1400">
                <a:solidFill>
                  <a:srgbClr val="1A202C"/>
                </a:solidFill>
              </a:rPr>
              <a:t>Staff need faster access to accurate reports</a:t>
            </a:r>
            <a:endParaRPr lang="en-US" sz="1400"/>
          </a:p>
        </p:txBody>
      </p:sp>
      <p:sp>
        <p:nvSpPr>
          <p:cNvPr id="10" name="Shape 8"/>
          <p:cNvSpPr/>
          <p:nvPr/>
        </p:nvSpPr>
        <p:spPr>
          <a:xfrm>
            <a:off x="6126480" y="1234440"/>
            <a:ext cx="5440680" cy="4480560"/>
          </a:xfrm>
          <a:prstGeom prst="roundRect">
            <a:avLst>
              <a:gd name="adj" fmla="val 2449"/>
            </a:avLst>
          </a:prstGeom>
          <a:solidFill>
            <a:srgbClr val="E6F4EA"/>
          </a:solidFill>
          <a:ln w="12700">
            <a:solidFill>
              <a:srgbClr val="B7E4C7"/>
            </a:solidFill>
            <a:prstDash val="solid"/>
          </a:ln>
        </p:spPr>
      </p:sp>
      <p:sp>
        <p:nvSpPr>
          <p:cNvPr id="11" name="Text 9"/>
          <p:cNvSpPr/>
          <p:nvPr/>
        </p:nvSpPr>
        <p:spPr>
          <a:xfrm>
            <a:off x="6446520" y="1536192"/>
            <a:ext cx="2560320" cy="256032"/>
          </a:xfrm>
          <a:prstGeom prst="rect">
            <a:avLst/>
          </a:prstGeom>
          <a:noFill/>
          <a:ln/>
        </p:spPr>
        <p:txBody>
          <a:bodyPr wrap="square" lIns="0" tIns="0" rIns="0" bIns="0" rtlCol="0" anchor="ctr"/>
          <a:lstStyle/>
          <a:p>
            <a:pPr marL="0" indent="0">
              <a:buNone/>
            </a:pPr>
            <a:r>
              <a:rPr lang="en-US" sz="1500" b="1">
                <a:solidFill>
                  <a:srgbClr val="102A43"/>
                </a:solidFill>
              </a:rPr>
              <a:t>Database benefit</a:t>
            </a:r>
            <a:endParaRPr lang="en-US" sz="1500"/>
          </a:p>
        </p:txBody>
      </p:sp>
      <p:sp>
        <p:nvSpPr>
          <p:cNvPr id="12" name="Text 10"/>
          <p:cNvSpPr/>
          <p:nvPr/>
        </p:nvSpPr>
        <p:spPr>
          <a:xfrm>
            <a:off x="6446520" y="1965960"/>
            <a:ext cx="4800600" cy="987552"/>
          </a:xfrm>
          <a:prstGeom prst="rect">
            <a:avLst/>
          </a:prstGeom>
          <a:noFill/>
          <a:ln/>
        </p:spPr>
        <p:txBody>
          <a:bodyPr wrap="square" lIns="0" tIns="0" rIns="0" bIns="0" rtlCol="0" anchor="ctr">
            <a:normAutofit/>
          </a:bodyPr>
          <a:lstStyle/>
          <a:p>
            <a:pPr marL="0" indent="0">
              <a:buNone/>
            </a:pPr>
            <a:r>
              <a:rPr lang="en-US" sz="2200" b="1">
                <a:solidFill>
                  <a:srgbClr val="102A43"/>
                </a:solidFill>
              </a:rPr>
              <a:t>One reliable place to manage schedules, rosters, standings, and player statistics.</a:t>
            </a:r>
            <a:endParaRPr lang="en-US" sz="2200"/>
          </a:p>
        </p:txBody>
      </p:sp>
      <p:sp>
        <p:nvSpPr>
          <p:cNvPr id="13" name="Text 11"/>
          <p:cNvSpPr/>
          <p:nvPr/>
        </p:nvSpPr>
        <p:spPr>
          <a:xfrm>
            <a:off x="6473952" y="3429000"/>
            <a:ext cx="4663440" cy="1325880"/>
          </a:xfrm>
          <a:prstGeom prst="rect">
            <a:avLst/>
          </a:prstGeom>
          <a:noFill/>
          <a:ln/>
        </p:spPr>
        <p:txBody>
          <a:bodyPr wrap="square" lIns="254" tIns="254" rIns="254" bIns="254" rtlCol="0" anchor="t">
            <a:normAutofit/>
          </a:bodyPr>
          <a:lstStyle/>
          <a:p>
            <a:r>
              <a:rPr lang="en-US" sz="1400">
                <a:solidFill>
                  <a:srgbClr val="1A202C"/>
                </a:solidFill>
              </a:rPr>
              <a:t>Reduces duplicate work and data entry errors</a:t>
            </a:r>
            <a:endParaRPr lang="en-US" sz="1400"/>
          </a:p>
          <a:p>
            <a:r>
              <a:rPr lang="en-US" sz="1400">
                <a:solidFill>
                  <a:srgbClr val="1A202C"/>
                </a:solidFill>
              </a:rPr>
              <a:t>Improves communication with coaches, players, and families</a:t>
            </a:r>
            <a:endParaRPr lang="en-US" sz="1400"/>
          </a:p>
          <a:p>
            <a:r>
              <a:rPr lang="en-US" sz="1400">
                <a:solidFill>
                  <a:srgbClr val="1A202C"/>
                </a:solidFill>
              </a:rPr>
              <a:t>Supports planning for facilities, staffing, and future leagues</a:t>
            </a:r>
            <a:endParaRPr lang="en-US" sz="1400"/>
          </a:p>
        </p:txBody>
      </p:sp>
      <p:sp>
        <p:nvSpPr>
          <p:cNvPr id="14" name="Text 12"/>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3</a:t>
            </a:r>
            <a:endParaRPr lang="en-US" sz="7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LOCAL SPORTS LEAGUE MANAGEMENT SYSTEM</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Business Questions the Database Answers</a:t>
            </a:r>
            <a:endParaRPr lang="en-US" sz="2700"/>
          </a:p>
        </p:txBody>
      </p:sp>
      <p:sp>
        <p:nvSpPr>
          <p:cNvPr id="5" name="Shape 3"/>
          <p:cNvSpPr/>
          <p:nvPr/>
        </p:nvSpPr>
        <p:spPr>
          <a:xfrm>
            <a:off x="731520" y="1234440"/>
            <a:ext cx="5074920" cy="1024128"/>
          </a:xfrm>
          <a:prstGeom prst="roundRect">
            <a:avLst>
              <a:gd name="adj" fmla="val 8929"/>
            </a:avLst>
          </a:prstGeom>
          <a:solidFill>
            <a:srgbClr val="FFFFFF"/>
          </a:solidFill>
          <a:ln w="12700">
            <a:solidFill>
              <a:srgbClr val="D9E2EC"/>
            </a:solidFill>
            <a:prstDash val="solid"/>
          </a:ln>
        </p:spPr>
      </p:sp>
      <p:sp>
        <p:nvSpPr>
          <p:cNvPr id="6" name="Text 4"/>
          <p:cNvSpPr/>
          <p:nvPr/>
        </p:nvSpPr>
        <p:spPr>
          <a:xfrm>
            <a:off x="960120" y="1399032"/>
            <a:ext cx="1554480" cy="201168"/>
          </a:xfrm>
          <a:prstGeom prst="rect">
            <a:avLst/>
          </a:prstGeom>
          <a:noFill/>
          <a:ln/>
        </p:spPr>
        <p:txBody>
          <a:bodyPr wrap="square" lIns="0" tIns="0" rIns="0" bIns="0" rtlCol="0" anchor="ctr"/>
          <a:lstStyle/>
          <a:p>
            <a:pPr marL="0" indent="0">
              <a:buNone/>
            </a:pPr>
            <a:r>
              <a:rPr lang="en-US" sz="1300" b="1">
                <a:solidFill>
                  <a:srgbClr val="2F855A"/>
                </a:solidFill>
              </a:rPr>
              <a:t>Participation</a:t>
            </a:r>
            <a:endParaRPr lang="en-US" sz="1300"/>
          </a:p>
        </p:txBody>
      </p:sp>
      <p:sp>
        <p:nvSpPr>
          <p:cNvPr id="7" name="Text 5"/>
          <p:cNvSpPr/>
          <p:nvPr/>
        </p:nvSpPr>
        <p:spPr>
          <a:xfrm>
            <a:off x="960120" y="1691640"/>
            <a:ext cx="4480560" cy="310896"/>
          </a:xfrm>
          <a:prstGeom prst="rect">
            <a:avLst/>
          </a:prstGeom>
          <a:noFill/>
          <a:ln/>
        </p:spPr>
        <p:txBody>
          <a:bodyPr wrap="square" lIns="0" tIns="0" rIns="0" bIns="0" rtlCol="0" anchor="ctr">
            <a:normAutofit/>
          </a:bodyPr>
          <a:lstStyle/>
          <a:p>
            <a:pPr marL="0" indent="0">
              <a:buNone/>
            </a:pPr>
            <a:r>
              <a:rPr lang="en-US" sz="1400">
                <a:solidFill>
                  <a:srgbClr val="1A202C"/>
                </a:solidFill>
              </a:rPr>
              <a:t>How many teams and players are in each sport or season?</a:t>
            </a:r>
            <a:endParaRPr lang="en-US" sz="1400"/>
          </a:p>
        </p:txBody>
      </p:sp>
      <p:sp>
        <p:nvSpPr>
          <p:cNvPr id="8" name="Shape 6"/>
          <p:cNvSpPr/>
          <p:nvPr/>
        </p:nvSpPr>
        <p:spPr>
          <a:xfrm>
            <a:off x="6309360" y="1234440"/>
            <a:ext cx="5074920" cy="1024128"/>
          </a:xfrm>
          <a:prstGeom prst="roundRect">
            <a:avLst>
              <a:gd name="adj" fmla="val 8929"/>
            </a:avLst>
          </a:prstGeom>
          <a:solidFill>
            <a:srgbClr val="FFFFFF"/>
          </a:solidFill>
          <a:ln w="12700">
            <a:solidFill>
              <a:srgbClr val="D9E2EC"/>
            </a:solidFill>
            <a:prstDash val="solid"/>
          </a:ln>
        </p:spPr>
      </p:sp>
      <p:sp>
        <p:nvSpPr>
          <p:cNvPr id="9" name="Text 7"/>
          <p:cNvSpPr/>
          <p:nvPr/>
        </p:nvSpPr>
        <p:spPr>
          <a:xfrm>
            <a:off x="6537960" y="1399032"/>
            <a:ext cx="1554480" cy="201168"/>
          </a:xfrm>
          <a:prstGeom prst="rect">
            <a:avLst/>
          </a:prstGeom>
          <a:noFill/>
          <a:ln/>
        </p:spPr>
        <p:txBody>
          <a:bodyPr wrap="square" lIns="0" tIns="0" rIns="0" bIns="0" rtlCol="0" anchor="ctr"/>
          <a:lstStyle/>
          <a:p>
            <a:pPr marL="0" indent="0">
              <a:buNone/>
            </a:pPr>
            <a:r>
              <a:rPr lang="en-US" sz="1300" b="1">
                <a:solidFill>
                  <a:srgbClr val="2F855A"/>
                </a:solidFill>
              </a:rPr>
              <a:t>Rosters</a:t>
            </a:r>
            <a:endParaRPr lang="en-US" sz="1300"/>
          </a:p>
        </p:txBody>
      </p:sp>
      <p:sp>
        <p:nvSpPr>
          <p:cNvPr id="10" name="Text 8"/>
          <p:cNvSpPr/>
          <p:nvPr/>
        </p:nvSpPr>
        <p:spPr>
          <a:xfrm>
            <a:off x="6537960" y="1691640"/>
            <a:ext cx="4480560" cy="310896"/>
          </a:xfrm>
          <a:prstGeom prst="rect">
            <a:avLst/>
          </a:prstGeom>
          <a:noFill/>
          <a:ln/>
        </p:spPr>
        <p:txBody>
          <a:bodyPr wrap="square" lIns="0" tIns="0" rIns="0" bIns="0" rtlCol="0" anchor="ctr">
            <a:normAutofit/>
          </a:bodyPr>
          <a:lstStyle/>
          <a:p>
            <a:pPr marL="0" indent="0">
              <a:buNone/>
            </a:pPr>
            <a:r>
              <a:rPr lang="en-US" sz="1400">
                <a:solidFill>
                  <a:srgbClr val="1A202C"/>
                </a:solidFill>
              </a:rPr>
              <a:t>Which players and coaches are assigned to each team?</a:t>
            </a:r>
            <a:endParaRPr lang="en-US" sz="1400"/>
          </a:p>
        </p:txBody>
      </p:sp>
      <p:sp>
        <p:nvSpPr>
          <p:cNvPr id="11" name="Shape 9"/>
          <p:cNvSpPr/>
          <p:nvPr/>
        </p:nvSpPr>
        <p:spPr>
          <a:xfrm>
            <a:off x="731520" y="2651760"/>
            <a:ext cx="5074920" cy="1024128"/>
          </a:xfrm>
          <a:prstGeom prst="roundRect">
            <a:avLst>
              <a:gd name="adj" fmla="val 8929"/>
            </a:avLst>
          </a:prstGeom>
          <a:solidFill>
            <a:srgbClr val="FFFFFF"/>
          </a:solidFill>
          <a:ln w="12700">
            <a:solidFill>
              <a:srgbClr val="D9E2EC"/>
            </a:solidFill>
            <a:prstDash val="solid"/>
          </a:ln>
        </p:spPr>
      </p:sp>
      <p:sp>
        <p:nvSpPr>
          <p:cNvPr id="12" name="Text 10"/>
          <p:cNvSpPr/>
          <p:nvPr/>
        </p:nvSpPr>
        <p:spPr>
          <a:xfrm>
            <a:off x="960120" y="2816352"/>
            <a:ext cx="1554480" cy="201168"/>
          </a:xfrm>
          <a:prstGeom prst="rect">
            <a:avLst/>
          </a:prstGeom>
          <a:noFill/>
          <a:ln/>
        </p:spPr>
        <p:txBody>
          <a:bodyPr wrap="square" lIns="0" tIns="0" rIns="0" bIns="0" rtlCol="0" anchor="ctr"/>
          <a:lstStyle/>
          <a:p>
            <a:pPr marL="0" indent="0">
              <a:buNone/>
            </a:pPr>
            <a:r>
              <a:rPr lang="en-US" sz="1300" b="1">
                <a:solidFill>
                  <a:srgbClr val="2F855A"/>
                </a:solidFill>
              </a:rPr>
              <a:t>Scheduling</a:t>
            </a:r>
            <a:endParaRPr lang="en-US" sz="1300"/>
          </a:p>
        </p:txBody>
      </p:sp>
      <p:sp>
        <p:nvSpPr>
          <p:cNvPr id="13" name="Text 11"/>
          <p:cNvSpPr/>
          <p:nvPr/>
        </p:nvSpPr>
        <p:spPr>
          <a:xfrm>
            <a:off x="960120" y="3108960"/>
            <a:ext cx="4480560" cy="310896"/>
          </a:xfrm>
          <a:prstGeom prst="rect">
            <a:avLst/>
          </a:prstGeom>
          <a:noFill/>
          <a:ln/>
        </p:spPr>
        <p:txBody>
          <a:bodyPr wrap="square" lIns="0" tIns="0" rIns="0" bIns="0" rtlCol="0" anchor="ctr">
            <a:normAutofit/>
          </a:bodyPr>
          <a:lstStyle/>
          <a:p>
            <a:pPr marL="0" indent="0">
              <a:buNone/>
            </a:pPr>
            <a:r>
              <a:rPr lang="en-US" sz="1400">
                <a:solidFill>
                  <a:srgbClr val="1A202C"/>
                </a:solidFill>
              </a:rPr>
              <a:t>What matches are scheduled, and where will they be played?</a:t>
            </a:r>
            <a:endParaRPr lang="en-US" sz="1400"/>
          </a:p>
        </p:txBody>
      </p:sp>
      <p:sp>
        <p:nvSpPr>
          <p:cNvPr id="14" name="Shape 12"/>
          <p:cNvSpPr/>
          <p:nvPr/>
        </p:nvSpPr>
        <p:spPr>
          <a:xfrm>
            <a:off x="6309360" y="2651760"/>
            <a:ext cx="5074920" cy="1024128"/>
          </a:xfrm>
          <a:prstGeom prst="roundRect">
            <a:avLst>
              <a:gd name="adj" fmla="val 8929"/>
            </a:avLst>
          </a:prstGeom>
          <a:solidFill>
            <a:srgbClr val="FFFFFF"/>
          </a:solidFill>
          <a:ln w="12700">
            <a:solidFill>
              <a:srgbClr val="D9E2EC"/>
            </a:solidFill>
            <a:prstDash val="solid"/>
          </a:ln>
        </p:spPr>
      </p:sp>
      <p:sp>
        <p:nvSpPr>
          <p:cNvPr id="15" name="Text 13"/>
          <p:cNvSpPr/>
          <p:nvPr/>
        </p:nvSpPr>
        <p:spPr>
          <a:xfrm>
            <a:off x="6537960" y="2816352"/>
            <a:ext cx="1554480" cy="201168"/>
          </a:xfrm>
          <a:prstGeom prst="rect">
            <a:avLst/>
          </a:prstGeom>
          <a:noFill/>
          <a:ln/>
        </p:spPr>
        <p:txBody>
          <a:bodyPr wrap="square" lIns="0" tIns="0" rIns="0" bIns="0" rtlCol="0" anchor="ctr"/>
          <a:lstStyle/>
          <a:p>
            <a:pPr marL="0" indent="0">
              <a:buNone/>
            </a:pPr>
            <a:r>
              <a:rPr lang="en-US" sz="1300" b="1">
                <a:solidFill>
                  <a:srgbClr val="2F855A"/>
                </a:solidFill>
              </a:rPr>
              <a:t>Results</a:t>
            </a:r>
            <a:endParaRPr lang="en-US" sz="1300"/>
          </a:p>
        </p:txBody>
      </p:sp>
      <p:sp>
        <p:nvSpPr>
          <p:cNvPr id="16" name="Text 14"/>
          <p:cNvSpPr/>
          <p:nvPr/>
        </p:nvSpPr>
        <p:spPr>
          <a:xfrm>
            <a:off x="6537960" y="3108960"/>
            <a:ext cx="4480560" cy="310896"/>
          </a:xfrm>
          <a:prstGeom prst="rect">
            <a:avLst/>
          </a:prstGeom>
          <a:noFill/>
          <a:ln/>
        </p:spPr>
        <p:txBody>
          <a:bodyPr wrap="square" lIns="0" tIns="0" rIns="0" bIns="0" rtlCol="0" anchor="ctr">
            <a:normAutofit/>
          </a:bodyPr>
          <a:lstStyle/>
          <a:p>
            <a:pPr marL="0" indent="0">
              <a:buNone/>
            </a:pPr>
            <a:r>
              <a:rPr lang="en-US" sz="1400">
                <a:solidFill>
                  <a:srgbClr val="1A202C"/>
                </a:solidFill>
              </a:rPr>
              <a:t>Which matches are completed, and what were the final scores?</a:t>
            </a:r>
            <a:endParaRPr lang="en-US" sz="1400"/>
          </a:p>
        </p:txBody>
      </p:sp>
      <p:sp>
        <p:nvSpPr>
          <p:cNvPr id="17" name="Shape 15"/>
          <p:cNvSpPr/>
          <p:nvPr/>
        </p:nvSpPr>
        <p:spPr>
          <a:xfrm>
            <a:off x="731520" y="4069080"/>
            <a:ext cx="5074920" cy="1024128"/>
          </a:xfrm>
          <a:prstGeom prst="roundRect">
            <a:avLst>
              <a:gd name="adj" fmla="val 8929"/>
            </a:avLst>
          </a:prstGeom>
          <a:solidFill>
            <a:srgbClr val="FFFFFF"/>
          </a:solidFill>
          <a:ln w="12700">
            <a:solidFill>
              <a:srgbClr val="D9E2EC"/>
            </a:solidFill>
            <a:prstDash val="solid"/>
          </a:ln>
        </p:spPr>
      </p:sp>
      <p:sp>
        <p:nvSpPr>
          <p:cNvPr id="18" name="Text 16"/>
          <p:cNvSpPr/>
          <p:nvPr/>
        </p:nvSpPr>
        <p:spPr>
          <a:xfrm>
            <a:off x="960120" y="4233672"/>
            <a:ext cx="1554480" cy="201168"/>
          </a:xfrm>
          <a:prstGeom prst="rect">
            <a:avLst/>
          </a:prstGeom>
          <a:noFill/>
          <a:ln/>
        </p:spPr>
        <p:txBody>
          <a:bodyPr wrap="square" lIns="0" tIns="0" rIns="0" bIns="0" rtlCol="0" anchor="ctr"/>
          <a:lstStyle/>
          <a:p>
            <a:pPr marL="0" indent="0">
              <a:buNone/>
            </a:pPr>
            <a:r>
              <a:rPr lang="en-US" sz="1300" b="1">
                <a:solidFill>
                  <a:srgbClr val="2F855A"/>
                </a:solidFill>
              </a:rPr>
              <a:t>Standings</a:t>
            </a:r>
            <a:endParaRPr lang="en-US" sz="1300"/>
          </a:p>
        </p:txBody>
      </p:sp>
      <p:sp>
        <p:nvSpPr>
          <p:cNvPr id="19" name="Text 17"/>
          <p:cNvSpPr/>
          <p:nvPr/>
        </p:nvSpPr>
        <p:spPr>
          <a:xfrm>
            <a:off x="960120" y="4526280"/>
            <a:ext cx="4480560" cy="310896"/>
          </a:xfrm>
          <a:prstGeom prst="rect">
            <a:avLst/>
          </a:prstGeom>
          <a:noFill/>
          <a:ln/>
        </p:spPr>
        <p:txBody>
          <a:bodyPr wrap="square" lIns="0" tIns="0" rIns="0" bIns="0" rtlCol="0" anchor="ctr">
            <a:normAutofit/>
          </a:bodyPr>
          <a:lstStyle/>
          <a:p>
            <a:pPr marL="0" indent="0">
              <a:buNone/>
            </a:pPr>
            <a:r>
              <a:rPr lang="en-US" sz="1400">
                <a:solidFill>
                  <a:srgbClr val="1A202C"/>
                </a:solidFill>
              </a:rPr>
              <a:t>How do wins, losses, ties, and points compare by team?</a:t>
            </a:r>
            <a:endParaRPr lang="en-US" sz="1400"/>
          </a:p>
        </p:txBody>
      </p:sp>
      <p:sp>
        <p:nvSpPr>
          <p:cNvPr id="20" name="Shape 18"/>
          <p:cNvSpPr/>
          <p:nvPr/>
        </p:nvSpPr>
        <p:spPr>
          <a:xfrm>
            <a:off x="6309360" y="4069080"/>
            <a:ext cx="5074920" cy="1024128"/>
          </a:xfrm>
          <a:prstGeom prst="roundRect">
            <a:avLst>
              <a:gd name="adj" fmla="val 8929"/>
            </a:avLst>
          </a:prstGeom>
          <a:solidFill>
            <a:srgbClr val="FFFFFF"/>
          </a:solidFill>
          <a:ln w="12700">
            <a:solidFill>
              <a:srgbClr val="D9E2EC"/>
            </a:solidFill>
            <a:prstDash val="solid"/>
          </a:ln>
        </p:spPr>
      </p:sp>
      <p:sp>
        <p:nvSpPr>
          <p:cNvPr id="21" name="Text 19"/>
          <p:cNvSpPr/>
          <p:nvPr/>
        </p:nvSpPr>
        <p:spPr>
          <a:xfrm>
            <a:off x="6537960" y="4233672"/>
            <a:ext cx="1554480" cy="201168"/>
          </a:xfrm>
          <a:prstGeom prst="rect">
            <a:avLst/>
          </a:prstGeom>
          <a:noFill/>
          <a:ln/>
        </p:spPr>
        <p:txBody>
          <a:bodyPr wrap="square" lIns="0" tIns="0" rIns="0" bIns="0" rtlCol="0" anchor="ctr"/>
          <a:lstStyle/>
          <a:p>
            <a:pPr marL="0" indent="0">
              <a:buNone/>
            </a:pPr>
            <a:r>
              <a:rPr lang="en-US" sz="1300" b="1">
                <a:solidFill>
                  <a:srgbClr val="2F855A"/>
                </a:solidFill>
              </a:rPr>
              <a:t>Player stats</a:t>
            </a:r>
            <a:endParaRPr lang="en-US" sz="1300"/>
          </a:p>
        </p:txBody>
      </p:sp>
      <p:sp>
        <p:nvSpPr>
          <p:cNvPr id="22" name="Text 20"/>
          <p:cNvSpPr/>
          <p:nvPr/>
        </p:nvSpPr>
        <p:spPr>
          <a:xfrm>
            <a:off x="6537960" y="4526280"/>
            <a:ext cx="4480560" cy="310896"/>
          </a:xfrm>
          <a:prstGeom prst="rect">
            <a:avLst/>
          </a:prstGeom>
          <a:noFill/>
          <a:ln/>
        </p:spPr>
        <p:txBody>
          <a:bodyPr wrap="square" lIns="0" tIns="0" rIns="0" bIns="0" rtlCol="0" anchor="ctr">
            <a:normAutofit/>
          </a:bodyPr>
          <a:lstStyle/>
          <a:p>
            <a:pPr marL="0" indent="0">
              <a:buNone/>
            </a:pPr>
            <a:r>
              <a:rPr lang="en-US" sz="1400">
                <a:solidFill>
                  <a:srgbClr val="1A202C"/>
                </a:solidFill>
              </a:rPr>
              <a:t>Which players lead in goals, assists, fouls, or minutes?</a:t>
            </a:r>
            <a:endParaRPr lang="en-US" sz="1400"/>
          </a:p>
        </p:txBody>
      </p:sp>
      <p:sp>
        <p:nvSpPr>
          <p:cNvPr id="23" name="Text 21"/>
          <p:cNvSpPr/>
          <p:nvPr/>
        </p:nvSpPr>
        <p:spPr>
          <a:xfrm>
            <a:off x="1005840" y="5760720"/>
            <a:ext cx="10058400" cy="329184"/>
          </a:xfrm>
          <a:prstGeom prst="rect">
            <a:avLst/>
          </a:prstGeom>
          <a:noFill/>
          <a:ln/>
        </p:spPr>
        <p:txBody>
          <a:bodyPr wrap="square" lIns="0" tIns="0" rIns="0" bIns="0" rtlCol="0" anchor="ctr"/>
          <a:lstStyle/>
          <a:p>
            <a:pPr marL="0" indent="0" algn="ctr">
              <a:buNone/>
            </a:pPr>
            <a:r>
              <a:rPr lang="en-US" sz="1900" b="1">
                <a:solidFill>
                  <a:srgbClr val="102A43"/>
                </a:solidFill>
              </a:rPr>
              <a:t>These questions guide the ERD, sample data, and query demonstrations.</a:t>
            </a:r>
            <a:endParaRPr lang="en-US" sz="1900"/>
          </a:p>
        </p:txBody>
      </p:sp>
      <p:sp>
        <p:nvSpPr>
          <p:cNvPr id="24" name="Text 22"/>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4</a:t>
            </a:r>
            <a:endParaRPr lang="en-US" sz="7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LOCAL SPORTS LEAGUE MANAGEMENT SYSTEM</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Business Rules: League Structure</a:t>
            </a:r>
            <a:endParaRPr lang="en-US" sz="2700"/>
          </a:p>
        </p:txBody>
      </p:sp>
      <p:sp>
        <p:nvSpPr>
          <p:cNvPr id="5" name="Text 3"/>
          <p:cNvSpPr/>
          <p:nvPr/>
        </p:nvSpPr>
        <p:spPr>
          <a:xfrm>
            <a:off x="685800" y="1207008"/>
            <a:ext cx="2148840" cy="228600"/>
          </a:xfrm>
          <a:prstGeom prst="rect">
            <a:avLst/>
          </a:prstGeom>
          <a:noFill/>
          <a:ln/>
        </p:spPr>
        <p:txBody>
          <a:bodyPr wrap="square" lIns="0" tIns="0" rIns="0" bIns="0" rtlCol="0" anchor="ctr">
            <a:normAutofit/>
          </a:bodyPr>
          <a:lstStyle/>
          <a:p>
            <a:pPr marL="0" indent="0">
              <a:buNone/>
            </a:pPr>
            <a:r>
              <a:rPr lang="en-US" sz="1500" b="1">
                <a:solidFill>
                  <a:srgbClr val="2F855A"/>
                </a:solidFill>
              </a:rPr>
              <a:t>Sport → Season</a:t>
            </a:r>
            <a:endParaRPr lang="en-US" sz="1500"/>
          </a:p>
        </p:txBody>
      </p:sp>
      <p:sp>
        <p:nvSpPr>
          <p:cNvPr id="6" name="Text 4"/>
          <p:cNvSpPr/>
          <p:nvPr/>
        </p:nvSpPr>
        <p:spPr>
          <a:xfrm>
            <a:off x="2926080" y="1179576"/>
            <a:ext cx="3154680" cy="384048"/>
          </a:xfrm>
          <a:prstGeom prst="rect">
            <a:avLst/>
          </a:prstGeom>
          <a:noFill/>
          <a:ln/>
        </p:spPr>
        <p:txBody>
          <a:bodyPr wrap="square" lIns="0" tIns="0" rIns="0" bIns="0" rtlCol="0" anchor="ctr">
            <a:normAutofit/>
          </a:bodyPr>
          <a:lstStyle/>
          <a:p>
            <a:pPr marL="0" indent="0">
              <a:buNone/>
            </a:pPr>
            <a:r>
              <a:rPr lang="en-US" sz="1330">
                <a:solidFill>
                  <a:srgbClr val="1A202C"/>
                </a:solidFill>
              </a:rPr>
              <a:t>A sport can have many seasons; each season belongs to one sport.</a:t>
            </a:r>
            <a:endParaRPr lang="en-US" sz="1330"/>
          </a:p>
        </p:txBody>
      </p:sp>
      <p:sp>
        <p:nvSpPr>
          <p:cNvPr id="7" name="Shape 5"/>
          <p:cNvSpPr/>
          <p:nvPr/>
        </p:nvSpPr>
        <p:spPr>
          <a:xfrm>
            <a:off x="685800" y="1874520"/>
            <a:ext cx="5212080" cy="0"/>
          </a:xfrm>
          <a:prstGeom prst="line">
            <a:avLst/>
          </a:prstGeom>
          <a:noFill/>
          <a:ln w="12700">
            <a:solidFill>
              <a:srgbClr val="D9E2EC"/>
            </a:solidFill>
            <a:prstDash val="solid"/>
          </a:ln>
        </p:spPr>
      </p:sp>
      <p:sp>
        <p:nvSpPr>
          <p:cNvPr id="8" name="Text 6"/>
          <p:cNvSpPr/>
          <p:nvPr/>
        </p:nvSpPr>
        <p:spPr>
          <a:xfrm>
            <a:off x="685800" y="2606040"/>
            <a:ext cx="2148840" cy="228600"/>
          </a:xfrm>
          <a:prstGeom prst="rect">
            <a:avLst/>
          </a:prstGeom>
          <a:noFill/>
          <a:ln/>
        </p:spPr>
        <p:txBody>
          <a:bodyPr wrap="square" lIns="0" tIns="0" rIns="0" bIns="0" rtlCol="0" anchor="ctr">
            <a:normAutofit/>
          </a:bodyPr>
          <a:lstStyle/>
          <a:p>
            <a:pPr marL="0" indent="0">
              <a:buNone/>
            </a:pPr>
            <a:r>
              <a:rPr lang="en-US" sz="1500" b="1">
                <a:solidFill>
                  <a:srgbClr val="2F855A"/>
                </a:solidFill>
              </a:rPr>
              <a:t>Season ↔ Team</a:t>
            </a:r>
            <a:endParaRPr lang="en-US" sz="1500"/>
          </a:p>
        </p:txBody>
      </p:sp>
      <p:sp>
        <p:nvSpPr>
          <p:cNvPr id="9" name="Text 7"/>
          <p:cNvSpPr/>
          <p:nvPr/>
        </p:nvSpPr>
        <p:spPr>
          <a:xfrm>
            <a:off x="2926080" y="2578608"/>
            <a:ext cx="3154680" cy="384048"/>
          </a:xfrm>
          <a:prstGeom prst="rect">
            <a:avLst/>
          </a:prstGeom>
          <a:noFill/>
          <a:ln/>
        </p:spPr>
        <p:txBody>
          <a:bodyPr wrap="square" lIns="0" tIns="0" rIns="0" bIns="0" rtlCol="0" anchor="ctr">
            <a:normAutofit/>
          </a:bodyPr>
          <a:lstStyle/>
          <a:p>
            <a:pPr marL="0" indent="0">
              <a:buNone/>
            </a:pPr>
            <a:r>
              <a:rPr lang="en-US" sz="1330">
                <a:solidFill>
                  <a:srgbClr val="1A202C"/>
                </a:solidFill>
              </a:rPr>
              <a:t>A season can include many teams, and teams can return across seasons.</a:t>
            </a:r>
            <a:endParaRPr lang="en-US" sz="1330"/>
          </a:p>
        </p:txBody>
      </p:sp>
      <p:sp>
        <p:nvSpPr>
          <p:cNvPr id="10" name="Shape 8"/>
          <p:cNvSpPr/>
          <p:nvPr/>
        </p:nvSpPr>
        <p:spPr>
          <a:xfrm>
            <a:off x="685800" y="3273552"/>
            <a:ext cx="5212080" cy="0"/>
          </a:xfrm>
          <a:prstGeom prst="line">
            <a:avLst/>
          </a:prstGeom>
          <a:noFill/>
          <a:ln w="12700">
            <a:solidFill>
              <a:srgbClr val="D9E2EC"/>
            </a:solidFill>
            <a:prstDash val="solid"/>
          </a:ln>
        </p:spPr>
      </p:sp>
      <p:sp>
        <p:nvSpPr>
          <p:cNvPr id="11" name="Text 9"/>
          <p:cNvSpPr/>
          <p:nvPr/>
        </p:nvSpPr>
        <p:spPr>
          <a:xfrm>
            <a:off x="685800" y="4005072"/>
            <a:ext cx="2148840" cy="228600"/>
          </a:xfrm>
          <a:prstGeom prst="rect">
            <a:avLst/>
          </a:prstGeom>
          <a:noFill/>
          <a:ln/>
        </p:spPr>
        <p:txBody>
          <a:bodyPr wrap="square" lIns="0" tIns="0" rIns="0" bIns="0" rtlCol="0" anchor="ctr">
            <a:normAutofit/>
          </a:bodyPr>
          <a:lstStyle/>
          <a:p>
            <a:pPr marL="0" indent="0">
              <a:buNone/>
            </a:pPr>
            <a:r>
              <a:rPr lang="en-US" sz="1500" b="1">
                <a:solidFill>
                  <a:srgbClr val="2F855A"/>
                </a:solidFill>
              </a:rPr>
              <a:t>Team-season record</a:t>
            </a:r>
            <a:endParaRPr lang="en-US" sz="1500"/>
          </a:p>
        </p:txBody>
      </p:sp>
      <p:sp>
        <p:nvSpPr>
          <p:cNvPr id="12" name="Text 10"/>
          <p:cNvSpPr/>
          <p:nvPr/>
        </p:nvSpPr>
        <p:spPr>
          <a:xfrm>
            <a:off x="2926080" y="3977640"/>
            <a:ext cx="3154680" cy="384048"/>
          </a:xfrm>
          <a:prstGeom prst="rect">
            <a:avLst/>
          </a:prstGeom>
          <a:noFill/>
          <a:ln/>
        </p:spPr>
        <p:txBody>
          <a:bodyPr wrap="square" lIns="0" tIns="0" rIns="0" bIns="0" rtlCol="0" anchor="ctr">
            <a:normAutofit/>
          </a:bodyPr>
          <a:lstStyle/>
          <a:p>
            <a:pPr marL="0" indent="0">
              <a:buNone/>
            </a:pPr>
            <a:r>
              <a:rPr lang="en-US" sz="1330">
                <a:solidFill>
                  <a:srgbClr val="1A202C"/>
                </a:solidFill>
              </a:rPr>
              <a:t>A team participates at most once per season and includes division/age group.</a:t>
            </a:r>
            <a:endParaRPr lang="en-US" sz="1330"/>
          </a:p>
        </p:txBody>
      </p:sp>
      <p:sp>
        <p:nvSpPr>
          <p:cNvPr id="13" name="Text 11"/>
          <p:cNvSpPr/>
          <p:nvPr/>
        </p:nvSpPr>
        <p:spPr>
          <a:xfrm>
            <a:off x="6217920" y="1207008"/>
            <a:ext cx="2148840" cy="228600"/>
          </a:xfrm>
          <a:prstGeom prst="rect">
            <a:avLst/>
          </a:prstGeom>
          <a:noFill/>
          <a:ln/>
        </p:spPr>
        <p:txBody>
          <a:bodyPr wrap="square" lIns="0" tIns="0" rIns="0" bIns="0" rtlCol="0" anchor="ctr">
            <a:normAutofit/>
          </a:bodyPr>
          <a:lstStyle/>
          <a:p>
            <a:pPr marL="0" indent="0">
              <a:buNone/>
            </a:pPr>
            <a:r>
              <a:rPr lang="en-US" sz="1500" b="1">
                <a:solidFill>
                  <a:srgbClr val="2F855A"/>
                </a:solidFill>
              </a:rPr>
              <a:t>Player assignment</a:t>
            </a:r>
            <a:endParaRPr lang="en-US" sz="1500"/>
          </a:p>
        </p:txBody>
      </p:sp>
      <p:sp>
        <p:nvSpPr>
          <p:cNvPr id="14" name="Text 12"/>
          <p:cNvSpPr/>
          <p:nvPr/>
        </p:nvSpPr>
        <p:spPr>
          <a:xfrm>
            <a:off x="8458200" y="1179576"/>
            <a:ext cx="3154680" cy="384048"/>
          </a:xfrm>
          <a:prstGeom prst="rect">
            <a:avLst/>
          </a:prstGeom>
          <a:noFill/>
          <a:ln/>
        </p:spPr>
        <p:txBody>
          <a:bodyPr wrap="square" lIns="0" tIns="0" rIns="0" bIns="0" rtlCol="0" anchor="ctr">
            <a:normAutofit/>
          </a:bodyPr>
          <a:lstStyle/>
          <a:p>
            <a:pPr marL="0" indent="0">
              <a:buNone/>
            </a:pPr>
            <a:r>
              <a:rPr lang="en-US" sz="1330">
                <a:solidFill>
                  <a:srgbClr val="1A202C"/>
                </a:solidFill>
              </a:rPr>
              <a:t>A player may participate in many seasons but only one team per season.</a:t>
            </a:r>
            <a:endParaRPr lang="en-US" sz="1330"/>
          </a:p>
        </p:txBody>
      </p:sp>
      <p:sp>
        <p:nvSpPr>
          <p:cNvPr id="15" name="Shape 13"/>
          <p:cNvSpPr/>
          <p:nvPr/>
        </p:nvSpPr>
        <p:spPr>
          <a:xfrm>
            <a:off x="6217920" y="1874520"/>
            <a:ext cx="5212080" cy="0"/>
          </a:xfrm>
          <a:prstGeom prst="line">
            <a:avLst/>
          </a:prstGeom>
          <a:noFill/>
          <a:ln w="12700">
            <a:solidFill>
              <a:srgbClr val="D9E2EC"/>
            </a:solidFill>
            <a:prstDash val="solid"/>
          </a:ln>
        </p:spPr>
      </p:sp>
      <p:sp>
        <p:nvSpPr>
          <p:cNvPr id="16" name="Text 14"/>
          <p:cNvSpPr/>
          <p:nvPr/>
        </p:nvSpPr>
        <p:spPr>
          <a:xfrm>
            <a:off x="6217920" y="2606040"/>
            <a:ext cx="2148840" cy="228600"/>
          </a:xfrm>
          <a:prstGeom prst="rect">
            <a:avLst/>
          </a:prstGeom>
          <a:noFill/>
          <a:ln/>
        </p:spPr>
        <p:txBody>
          <a:bodyPr wrap="square" lIns="0" tIns="0" rIns="0" bIns="0" rtlCol="0" anchor="ctr">
            <a:normAutofit/>
          </a:bodyPr>
          <a:lstStyle/>
          <a:p>
            <a:pPr marL="0" indent="0">
              <a:buNone/>
            </a:pPr>
            <a:r>
              <a:rPr lang="en-US" sz="1500" b="1">
                <a:solidFill>
                  <a:srgbClr val="2F855A"/>
                </a:solidFill>
              </a:rPr>
              <a:t>Roster record</a:t>
            </a:r>
            <a:endParaRPr lang="en-US" sz="1500"/>
          </a:p>
        </p:txBody>
      </p:sp>
      <p:sp>
        <p:nvSpPr>
          <p:cNvPr id="17" name="Text 15"/>
          <p:cNvSpPr/>
          <p:nvPr/>
        </p:nvSpPr>
        <p:spPr>
          <a:xfrm>
            <a:off x="8458200" y="2578608"/>
            <a:ext cx="3154680" cy="384048"/>
          </a:xfrm>
          <a:prstGeom prst="rect">
            <a:avLst/>
          </a:prstGeom>
          <a:noFill/>
          <a:ln/>
        </p:spPr>
        <p:txBody>
          <a:bodyPr wrap="square" lIns="0" tIns="0" rIns="0" bIns="0" rtlCol="0" anchor="ctr">
            <a:normAutofit/>
          </a:bodyPr>
          <a:lstStyle/>
          <a:p>
            <a:pPr marL="0" indent="0">
              <a:buNone/>
            </a:pPr>
            <a:r>
              <a:rPr lang="en-US" sz="1330">
                <a:solidFill>
                  <a:srgbClr val="1A202C"/>
                </a:solidFill>
              </a:rPr>
              <a:t>Each player-season assignment references exactly one team-season record.</a:t>
            </a:r>
            <a:endParaRPr lang="en-US" sz="1330"/>
          </a:p>
        </p:txBody>
      </p:sp>
      <p:sp>
        <p:nvSpPr>
          <p:cNvPr id="18" name="Shape 16"/>
          <p:cNvSpPr/>
          <p:nvPr/>
        </p:nvSpPr>
        <p:spPr>
          <a:xfrm>
            <a:off x="6217920" y="3273552"/>
            <a:ext cx="5212080" cy="0"/>
          </a:xfrm>
          <a:prstGeom prst="line">
            <a:avLst/>
          </a:prstGeom>
          <a:noFill/>
          <a:ln w="12700">
            <a:solidFill>
              <a:srgbClr val="D9E2EC"/>
            </a:solidFill>
            <a:prstDash val="solid"/>
          </a:ln>
        </p:spPr>
      </p:sp>
      <p:sp>
        <p:nvSpPr>
          <p:cNvPr id="19" name="Text 17"/>
          <p:cNvSpPr/>
          <p:nvPr/>
        </p:nvSpPr>
        <p:spPr>
          <a:xfrm>
            <a:off x="6217920" y="4005072"/>
            <a:ext cx="2148840" cy="228600"/>
          </a:xfrm>
          <a:prstGeom prst="rect">
            <a:avLst/>
          </a:prstGeom>
          <a:noFill/>
          <a:ln/>
        </p:spPr>
        <p:txBody>
          <a:bodyPr wrap="square" lIns="0" tIns="0" rIns="0" bIns="0" rtlCol="0" anchor="ctr">
            <a:normAutofit/>
          </a:bodyPr>
          <a:lstStyle/>
          <a:p>
            <a:pPr marL="0" indent="0">
              <a:buNone/>
            </a:pPr>
            <a:r>
              <a:rPr lang="en-US" sz="1500" b="1">
                <a:solidFill>
                  <a:srgbClr val="2F855A"/>
                </a:solidFill>
              </a:rPr>
              <a:t>Coach assignment</a:t>
            </a:r>
            <a:endParaRPr lang="en-US" sz="1500"/>
          </a:p>
        </p:txBody>
      </p:sp>
      <p:sp>
        <p:nvSpPr>
          <p:cNvPr id="20" name="Text 18"/>
          <p:cNvSpPr/>
          <p:nvPr/>
        </p:nvSpPr>
        <p:spPr>
          <a:xfrm>
            <a:off x="8458200" y="3977640"/>
            <a:ext cx="3154680" cy="384048"/>
          </a:xfrm>
          <a:prstGeom prst="rect">
            <a:avLst/>
          </a:prstGeom>
          <a:noFill/>
          <a:ln/>
        </p:spPr>
        <p:txBody>
          <a:bodyPr wrap="square" lIns="0" tIns="0" rIns="0" bIns="0" rtlCol="0" anchor="ctr">
            <a:normAutofit/>
          </a:bodyPr>
          <a:lstStyle/>
          <a:p>
            <a:pPr marL="0" indent="0">
              <a:buNone/>
            </a:pPr>
            <a:r>
              <a:rPr lang="en-US" sz="1330">
                <a:solidFill>
                  <a:srgbClr val="1A202C"/>
                </a:solidFill>
              </a:rPr>
              <a:t>A coach may work across seasons; each team-season has one assigned coach.</a:t>
            </a:r>
            <a:endParaRPr lang="en-US" sz="1330"/>
          </a:p>
        </p:txBody>
      </p:sp>
      <p:sp>
        <p:nvSpPr>
          <p:cNvPr id="21" name="Text 19"/>
          <p:cNvSpPr/>
          <p:nvPr/>
        </p:nvSpPr>
        <p:spPr>
          <a:xfrm>
            <a:off x="868680" y="5715000"/>
            <a:ext cx="10515600" cy="365760"/>
          </a:xfrm>
          <a:prstGeom prst="rect">
            <a:avLst/>
          </a:prstGeom>
          <a:noFill/>
          <a:ln/>
        </p:spPr>
        <p:txBody>
          <a:bodyPr wrap="square" lIns="0" tIns="0" rIns="0" bIns="0" rtlCol="0" anchor="ctr">
            <a:normAutofit/>
          </a:bodyPr>
          <a:lstStyle/>
          <a:p>
            <a:pPr marL="0" indent="0" algn="ctr">
              <a:buNone/>
            </a:pPr>
            <a:r>
              <a:rPr lang="en-US" sz="1600" b="1">
                <a:solidFill>
                  <a:srgbClr val="102A43"/>
                </a:solidFill>
              </a:rPr>
              <a:t>Bridge tables let the same teams, players, and coaches appear across seasons without duplicating core records.</a:t>
            </a:r>
            <a:endParaRPr lang="en-US" sz="1600"/>
          </a:p>
        </p:txBody>
      </p:sp>
      <p:sp>
        <p:nvSpPr>
          <p:cNvPr id="22" name="Text 20"/>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5</a:t>
            </a:r>
            <a:endParaRPr lang="en-US" sz="7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LOCAL SPORTS LEAGUE MANAGEMENT SYSTEM</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Business Rules: Matches, Results, and Controls</a:t>
            </a:r>
            <a:endParaRPr lang="en-US" sz="2700"/>
          </a:p>
        </p:txBody>
      </p:sp>
      <p:sp>
        <p:nvSpPr>
          <p:cNvPr id="5" name="Text 3"/>
          <p:cNvSpPr/>
          <p:nvPr/>
        </p:nvSpPr>
        <p:spPr>
          <a:xfrm>
            <a:off x="685800" y="1207008"/>
            <a:ext cx="2148840" cy="228600"/>
          </a:xfrm>
          <a:prstGeom prst="rect">
            <a:avLst/>
          </a:prstGeom>
          <a:noFill/>
          <a:ln/>
        </p:spPr>
        <p:txBody>
          <a:bodyPr wrap="square" lIns="0" tIns="0" rIns="0" bIns="0" rtlCol="0" anchor="ctr"/>
          <a:lstStyle/>
          <a:p>
            <a:pPr marL="0" indent="0">
              <a:buNone/>
            </a:pPr>
            <a:r>
              <a:rPr lang="en-US" sz="1500" b="1">
                <a:solidFill>
                  <a:srgbClr val="2F855A"/>
                </a:solidFill>
              </a:rPr>
              <a:t>Match scheduling</a:t>
            </a:r>
            <a:endParaRPr lang="en-US" sz="1500"/>
          </a:p>
        </p:txBody>
      </p:sp>
      <p:sp>
        <p:nvSpPr>
          <p:cNvPr id="6" name="Text 4"/>
          <p:cNvSpPr/>
          <p:nvPr/>
        </p:nvSpPr>
        <p:spPr>
          <a:xfrm>
            <a:off x="2926080" y="1179576"/>
            <a:ext cx="3154680" cy="384048"/>
          </a:xfrm>
          <a:prstGeom prst="rect">
            <a:avLst/>
          </a:prstGeom>
          <a:noFill/>
          <a:ln/>
        </p:spPr>
        <p:txBody>
          <a:bodyPr wrap="square" lIns="0" tIns="0" rIns="0" bIns="0" rtlCol="0" anchor="ctr">
            <a:normAutofit/>
          </a:bodyPr>
          <a:lstStyle/>
          <a:p>
            <a:pPr marL="0" indent="0">
              <a:buNone/>
            </a:pPr>
            <a:r>
              <a:rPr lang="en-US" sz="1330">
                <a:solidFill>
                  <a:srgbClr val="1A202C"/>
                </a:solidFill>
              </a:rPr>
              <a:t>Each match belongs to one season and has a valid date, time, and location.</a:t>
            </a:r>
            <a:endParaRPr lang="en-US" sz="1330"/>
          </a:p>
        </p:txBody>
      </p:sp>
      <p:sp>
        <p:nvSpPr>
          <p:cNvPr id="7" name="Shape 5"/>
          <p:cNvSpPr/>
          <p:nvPr/>
        </p:nvSpPr>
        <p:spPr>
          <a:xfrm>
            <a:off x="685800" y="1874520"/>
            <a:ext cx="5212080" cy="0"/>
          </a:xfrm>
          <a:prstGeom prst="line">
            <a:avLst/>
          </a:prstGeom>
          <a:noFill/>
          <a:ln w="12700">
            <a:solidFill>
              <a:srgbClr val="D9E2EC"/>
            </a:solidFill>
            <a:prstDash val="solid"/>
          </a:ln>
        </p:spPr>
      </p:sp>
      <p:sp>
        <p:nvSpPr>
          <p:cNvPr id="8" name="Text 6"/>
          <p:cNvSpPr/>
          <p:nvPr/>
        </p:nvSpPr>
        <p:spPr>
          <a:xfrm>
            <a:off x="685800" y="2606040"/>
            <a:ext cx="2148840" cy="228600"/>
          </a:xfrm>
          <a:prstGeom prst="rect">
            <a:avLst/>
          </a:prstGeom>
          <a:noFill/>
          <a:ln/>
        </p:spPr>
        <p:txBody>
          <a:bodyPr wrap="square" lIns="0" tIns="0" rIns="0" bIns="0" rtlCol="0" anchor="ctr"/>
          <a:lstStyle/>
          <a:p>
            <a:pPr marL="0" indent="0">
              <a:buNone/>
            </a:pPr>
            <a:r>
              <a:rPr lang="en-US" sz="1500" b="1">
                <a:solidFill>
                  <a:srgbClr val="2F855A"/>
                </a:solidFill>
              </a:rPr>
              <a:t>Home + away teams</a:t>
            </a:r>
            <a:endParaRPr lang="en-US" sz="1500"/>
          </a:p>
        </p:txBody>
      </p:sp>
      <p:sp>
        <p:nvSpPr>
          <p:cNvPr id="9" name="Text 7"/>
          <p:cNvSpPr/>
          <p:nvPr/>
        </p:nvSpPr>
        <p:spPr>
          <a:xfrm>
            <a:off x="2926080" y="2578608"/>
            <a:ext cx="3154680" cy="384048"/>
          </a:xfrm>
          <a:prstGeom prst="rect">
            <a:avLst/>
          </a:prstGeom>
          <a:noFill/>
          <a:ln/>
        </p:spPr>
        <p:txBody>
          <a:bodyPr wrap="square" lIns="0" tIns="0" rIns="0" bIns="0" rtlCol="0" anchor="ctr">
            <a:normAutofit/>
          </a:bodyPr>
          <a:lstStyle/>
          <a:p>
            <a:pPr marL="0" indent="0">
              <a:buNone/>
            </a:pPr>
            <a:r>
              <a:rPr lang="en-US" sz="1330">
                <a:solidFill>
                  <a:srgbClr val="1A202C"/>
                </a:solidFill>
              </a:rPr>
              <a:t>Each match has exactly two different teams from the season.</a:t>
            </a:r>
            <a:endParaRPr lang="en-US" sz="1330"/>
          </a:p>
        </p:txBody>
      </p:sp>
      <p:sp>
        <p:nvSpPr>
          <p:cNvPr id="10" name="Shape 8"/>
          <p:cNvSpPr/>
          <p:nvPr/>
        </p:nvSpPr>
        <p:spPr>
          <a:xfrm>
            <a:off x="685800" y="3273552"/>
            <a:ext cx="5212080" cy="0"/>
          </a:xfrm>
          <a:prstGeom prst="line">
            <a:avLst/>
          </a:prstGeom>
          <a:noFill/>
          <a:ln w="12700">
            <a:solidFill>
              <a:srgbClr val="D9E2EC"/>
            </a:solidFill>
            <a:prstDash val="solid"/>
          </a:ln>
        </p:spPr>
      </p:sp>
      <p:sp>
        <p:nvSpPr>
          <p:cNvPr id="11" name="Text 9"/>
          <p:cNvSpPr/>
          <p:nvPr/>
        </p:nvSpPr>
        <p:spPr>
          <a:xfrm>
            <a:off x="685800" y="4005072"/>
            <a:ext cx="2148840" cy="228600"/>
          </a:xfrm>
          <a:prstGeom prst="rect">
            <a:avLst/>
          </a:prstGeom>
          <a:noFill/>
          <a:ln/>
        </p:spPr>
        <p:txBody>
          <a:bodyPr wrap="square" lIns="0" tIns="0" rIns="0" bIns="0" rtlCol="0" anchor="ctr"/>
          <a:lstStyle/>
          <a:p>
            <a:pPr marL="0" indent="0">
              <a:buNone/>
            </a:pPr>
            <a:r>
              <a:rPr lang="en-US" sz="1500" b="1">
                <a:solidFill>
                  <a:srgbClr val="2F855A"/>
                </a:solidFill>
              </a:rPr>
              <a:t>Status and scores</a:t>
            </a:r>
            <a:endParaRPr lang="en-US" sz="1500"/>
          </a:p>
        </p:txBody>
      </p:sp>
      <p:sp>
        <p:nvSpPr>
          <p:cNvPr id="12" name="Text 10"/>
          <p:cNvSpPr/>
          <p:nvPr/>
        </p:nvSpPr>
        <p:spPr>
          <a:xfrm>
            <a:off x="2926080" y="3977640"/>
            <a:ext cx="3154680" cy="384048"/>
          </a:xfrm>
          <a:prstGeom prst="rect">
            <a:avLst/>
          </a:prstGeom>
          <a:noFill/>
          <a:ln/>
        </p:spPr>
        <p:txBody>
          <a:bodyPr wrap="square" lIns="0" tIns="0" rIns="0" bIns="0" rtlCol="0" anchor="ctr">
            <a:normAutofit/>
          </a:bodyPr>
          <a:lstStyle/>
          <a:p>
            <a:pPr marL="0" indent="0">
              <a:buNone/>
            </a:pPr>
            <a:r>
              <a:rPr lang="en-US" sz="1330">
                <a:solidFill>
                  <a:srgbClr val="1A202C"/>
                </a:solidFill>
              </a:rPr>
              <a:t>Scheduled matches may exist before scores are recorded.</a:t>
            </a:r>
            <a:endParaRPr lang="en-US" sz="1330"/>
          </a:p>
        </p:txBody>
      </p:sp>
      <p:sp>
        <p:nvSpPr>
          <p:cNvPr id="13" name="Text 11"/>
          <p:cNvSpPr/>
          <p:nvPr/>
        </p:nvSpPr>
        <p:spPr>
          <a:xfrm>
            <a:off x="6217920" y="1207008"/>
            <a:ext cx="2148840" cy="228600"/>
          </a:xfrm>
          <a:prstGeom prst="rect">
            <a:avLst/>
          </a:prstGeom>
          <a:noFill/>
          <a:ln/>
        </p:spPr>
        <p:txBody>
          <a:bodyPr wrap="square" lIns="0" tIns="0" rIns="0" bIns="0" rtlCol="0" anchor="ctr"/>
          <a:lstStyle/>
          <a:p>
            <a:pPr marL="0" indent="0">
              <a:buNone/>
            </a:pPr>
            <a:r>
              <a:rPr lang="en-US" sz="1500" b="1">
                <a:solidFill>
                  <a:srgbClr val="2F855A"/>
                </a:solidFill>
              </a:rPr>
              <a:t>Standings</a:t>
            </a:r>
            <a:endParaRPr lang="en-US" sz="1500"/>
          </a:p>
        </p:txBody>
      </p:sp>
      <p:sp>
        <p:nvSpPr>
          <p:cNvPr id="14" name="Text 12"/>
          <p:cNvSpPr/>
          <p:nvPr/>
        </p:nvSpPr>
        <p:spPr>
          <a:xfrm>
            <a:off x="8458200" y="1179576"/>
            <a:ext cx="3154680" cy="384048"/>
          </a:xfrm>
          <a:prstGeom prst="rect">
            <a:avLst/>
          </a:prstGeom>
          <a:noFill/>
          <a:ln/>
        </p:spPr>
        <p:txBody>
          <a:bodyPr wrap="square" lIns="0" tIns="0" rIns="0" bIns="0" rtlCol="0" anchor="ctr">
            <a:normAutofit/>
          </a:bodyPr>
          <a:lstStyle/>
          <a:p>
            <a:pPr marL="0" indent="0">
              <a:buNone/>
            </a:pPr>
            <a:r>
              <a:rPr lang="en-US" sz="1330">
                <a:solidFill>
                  <a:srgbClr val="1A202C"/>
                </a:solidFill>
              </a:rPr>
              <a:t>Wins, losses, ties, and points are tracked by team-season.</a:t>
            </a:r>
            <a:endParaRPr lang="en-US" sz="1330"/>
          </a:p>
        </p:txBody>
      </p:sp>
      <p:sp>
        <p:nvSpPr>
          <p:cNvPr id="15" name="Shape 13"/>
          <p:cNvSpPr/>
          <p:nvPr/>
        </p:nvSpPr>
        <p:spPr>
          <a:xfrm>
            <a:off x="6217920" y="1874520"/>
            <a:ext cx="5212080" cy="0"/>
          </a:xfrm>
          <a:prstGeom prst="line">
            <a:avLst/>
          </a:prstGeom>
          <a:noFill/>
          <a:ln w="12700">
            <a:solidFill>
              <a:srgbClr val="D9E2EC"/>
            </a:solidFill>
            <a:prstDash val="solid"/>
          </a:ln>
        </p:spPr>
      </p:sp>
      <p:sp>
        <p:nvSpPr>
          <p:cNvPr id="16" name="Text 14"/>
          <p:cNvSpPr/>
          <p:nvPr/>
        </p:nvSpPr>
        <p:spPr>
          <a:xfrm>
            <a:off x="6217920" y="2606040"/>
            <a:ext cx="2148840" cy="228600"/>
          </a:xfrm>
          <a:prstGeom prst="rect">
            <a:avLst/>
          </a:prstGeom>
          <a:noFill/>
          <a:ln/>
        </p:spPr>
        <p:txBody>
          <a:bodyPr wrap="square" lIns="0" tIns="0" rIns="0" bIns="0" rtlCol="0" anchor="ctr"/>
          <a:lstStyle/>
          <a:p>
            <a:pPr marL="0" indent="0">
              <a:buNone/>
            </a:pPr>
            <a:r>
              <a:rPr lang="en-US" sz="1500" b="1">
                <a:solidFill>
                  <a:srgbClr val="2F855A"/>
                </a:solidFill>
              </a:rPr>
              <a:t>Player stats</a:t>
            </a:r>
            <a:endParaRPr lang="en-US" sz="1500"/>
          </a:p>
        </p:txBody>
      </p:sp>
      <p:sp>
        <p:nvSpPr>
          <p:cNvPr id="17" name="Text 15"/>
          <p:cNvSpPr/>
          <p:nvPr/>
        </p:nvSpPr>
        <p:spPr>
          <a:xfrm>
            <a:off x="8458200" y="2578608"/>
            <a:ext cx="3154680" cy="384048"/>
          </a:xfrm>
          <a:prstGeom prst="rect">
            <a:avLst/>
          </a:prstGeom>
          <a:noFill/>
          <a:ln/>
        </p:spPr>
        <p:txBody>
          <a:bodyPr wrap="square" lIns="0" tIns="0" rIns="0" bIns="0" rtlCol="0" anchor="ctr">
            <a:normAutofit/>
          </a:bodyPr>
          <a:lstStyle/>
          <a:p>
            <a:pPr marL="0" indent="0">
              <a:buNone/>
            </a:pPr>
            <a:r>
              <a:rPr lang="en-US" sz="1330">
                <a:solidFill>
                  <a:srgbClr val="1A202C"/>
                </a:solidFill>
              </a:rPr>
              <a:t>A player can have at most one stat record per match.</a:t>
            </a:r>
            <a:endParaRPr lang="en-US" sz="1330"/>
          </a:p>
        </p:txBody>
      </p:sp>
      <p:sp>
        <p:nvSpPr>
          <p:cNvPr id="18" name="Shape 16"/>
          <p:cNvSpPr/>
          <p:nvPr/>
        </p:nvSpPr>
        <p:spPr>
          <a:xfrm>
            <a:off x="6217920" y="3273552"/>
            <a:ext cx="5212080" cy="0"/>
          </a:xfrm>
          <a:prstGeom prst="line">
            <a:avLst/>
          </a:prstGeom>
          <a:noFill/>
          <a:ln w="12700">
            <a:solidFill>
              <a:srgbClr val="D9E2EC"/>
            </a:solidFill>
            <a:prstDash val="solid"/>
          </a:ln>
        </p:spPr>
      </p:sp>
      <p:sp>
        <p:nvSpPr>
          <p:cNvPr id="19" name="Text 17"/>
          <p:cNvSpPr/>
          <p:nvPr/>
        </p:nvSpPr>
        <p:spPr>
          <a:xfrm>
            <a:off x="6217920" y="4005072"/>
            <a:ext cx="2148840" cy="228600"/>
          </a:xfrm>
          <a:prstGeom prst="rect">
            <a:avLst/>
          </a:prstGeom>
          <a:noFill/>
          <a:ln/>
        </p:spPr>
        <p:txBody>
          <a:bodyPr wrap="square" lIns="0" tIns="0" rIns="0" bIns="0" rtlCol="0" anchor="ctr"/>
          <a:lstStyle/>
          <a:p>
            <a:pPr marL="0" indent="0">
              <a:buNone/>
            </a:pPr>
            <a:r>
              <a:rPr lang="en-US" sz="1500" b="1">
                <a:solidFill>
                  <a:srgbClr val="2F855A"/>
                </a:solidFill>
              </a:rPr>
              <a:t>No double-booking</a:t>
            </a:r>
            <a:endParaRPr lang="en-US" sz="1500"/>
          </a:p>
        </p:txBody>
      </p:sp>
      <p:sp>
        <p:nvSpPr>
          <p:cNvPr id="20" name="Text 18"/>
          <p:cNvSpPr/>
          <p:nvPr/>
        </p:nvSpPr>
        <p:spPr>
          <a:xfrm>
            <a:off x="8458200" y="3977640"/>
            <a:ext cx="3154680" cy="384048"/>
          </a:xfrm>
          <a:prstGeom prst="rect">
            <a:avLst/>
          </a:prstGeom>
          <a:noFill/>
          <a:ln/>
        </p:spPr>
        <p:txBody>
          <a:bodyPr wrap="square" lIns="0" tIns="0" rIns="0" bIns="0" rtlCol="0" anchor="ctr">
            <a:normAutofit/>
          </a:bodyPr>
          <a:lstStyle/>
          <a:p>
            <a:pPr marL="0" indent="0">
              <a:buNone/>
            </a:pPr>
            <a:r>
              <a:rPr lang="en-US" sz="1330">
                <a:solidFill>
                  <a:srgbClr val="1A202C"/>
                </a:solidFill>
              </a:rPr>
              <a:t>A location cannot host more than one match at the same date/time.</a:t>
            </a:r>
            <a:endParaRPr lang="en-US" sz="1330"/>
          </a:p>
        </p:txBody>
      </p:sp>
      <p:sp>
        <p:nvSpPr>
          <p:cNvPr id="21" name="Text 19"/>
          <p:cNvSpPr/>
          <p:nvPr/>
        </p:nvSpPr>
        <p:spPr>
          <a:xfrm>
            <a:off x="914400" y="5715000"/>
            <a:ext cx="10378440" cy="365760"/>
          </a:xfrm>
          <a:prstGeom prst="rect">
            <a:avLst/>
          </a:prstGeom>
          <a:noFill/>
          <a:ln/>
        </p:spPr>
        <p:txBody>
          <a:bodyPr wrap="square" lIns="0" tIns="0" rIns="0" bIns="0" rtlCol="0" anchor="ctr">
            <a:normAutofit/>
          </a:bodyPr>
          <a:lstStyle/>
          <a:p>
            <a:pPr marL="0" indent="0" algn="ctr">
              <a:buNone/>
            </a:pPr>
            <a:r>
              <a:rPr lang="en-US" sz="1700" b="1">
                <a:solidFill>
                  <a:srgbClr val="102A43"/>
                </a:solidFill>
              </a:rPr>
              <a:t>These rules become database safeguards: keys, foreign keys, unique constraints, and checks.</a:t>
            </a:r>
            <a:endParaRPr lang="en-US" sz="1700"/>
          </a:p>
        </p:txBody>
      </p:sp>
      <p:sp>
        <p:nvSpPr>
          <p:cNvPr id="22" name="Text 20"/>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6</a:t>
            </a:r>
            <a:endParaRPr lang="en-US" sz="7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6" name="Shape 3"/>
          <p:cNvSpPr/>
          <p:nvPr/>
        </p:nvSpPr>
        <p:spPr>
          <a:xfrm>
            <a:off x="788963" y="1285788"/>
            <a:ext cx="10744200" cy="4857573"/>
          </a:xfrm>
          <a:prstGeom prst="roundRect">
            <a:avLst>
              <a:gd name="adj" fmla="val 12903"/>
            </a:avLst>
          </a:prstGeom>
          <a:solidFill>
            <a:srgbClr val="E6F4EA"/>
          </a:solidFill>
          <a:ln w="12700">
            <a:solidFill>
              <a:srgbClr val="B7E4C7"/>
            </a:solidFill>
            <a:prstDash val="solid"/>
          </a:ln>
        </p:spPr>
      </p:sp>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LOCAL SPORTS LEAGUE MANAGEMENT SYSTEM</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a:ea typeface="Aptos Display" pitchFamily="34" charset="-122"/>
                <a:cs typeface="Aptos Display" pitchFamily="34" charset="-120"/>
              </a:rPr>
              <a:t>Final ERD</a:t>
            </a:r>
            <a:endParaRPr lang="en-US" sz="2700">
              <a:latin typeface="Aptos Display"/>
            </a:endParaRPr>
          </a:p>
        </p:txBody>
      </p:sp>
      <p:pic>
        <p:nvPicPr>
          <p:cNvPr id="5" name="Image 0" descr="/mnt/data/erd_crop_full.png"/>
          <p:cNvPicPr>
            <a:picLocks noChangeAspect="1"/>
          </p:cNvPicPr>
          <p:nvPr/>
        </p:nvPicPr>
        <p:blipFill>
          <a:blip r:embed="rId3"/>
          <a:srcRect l="1744" t="7964" r="-872" b="1622"/>
          <a:stretch>
            <a:fillRect/>
          </a:stretch>
        </p:blipFill>
        <p:spPr>
          <a:xfrm>
            <a:off x="2211677" y="1714500"/>
            <a:ext cx="8003951" cy="3924566"/>
          </a:xfrm>
          <a:prstGeom prst="rect">
            <a:avLst/>
          </a:prstGeom>
        </p:spPr>
      </p:pic>
      <p:sp>
        <p:nvSpPr>
          <p:cNvPr id="8" name="Text 5"/>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7</a:t>
            </a:r>
            <a:endParaRPr lang="en-US" sz="7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a:extLst>
            <a:ext uri="{FF2B5EF4-FFF2-40B4-BE49-F238E27FC236}">
              <a16:creationId xmlns:a16="http://schemas.microsoft.com/office/drawing/2014/main" id="{E7406BD9-4BAB-3C2E-33D2-42161FF64AB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6446E36-1337-C40C-396B-593B26867334}"/>
              </a:ext>
            </a:extLst>
          </p:cNvPr>
          <p:cNvSpPr/>
          <p:nvPr/>
        </p:nvSpPr>
        <p:spPr>
          <a:xfrm>
            <a:off x="0" y="0"/>
            <a:ext cx="12191695" cy="164592"/>
          </a:xfrm>
          <a:prstGeom prst="rect">
            <a:avLst/>
          </a:prstGeom>
          <a:solidFill>
            <a:srgbClr val="2F855A"/>
          </a:solidFill>
          <a:ln w="12700">
            <a:solidFill>
              <a:srgbClr val="2F855A"/>
            </a:solidFill>
            <a:prstDash val="solid"/>
          </a:ln>
        </p:spPr>
      </p:sp>
      <p:sp>
        <p:nvSpPr>
          <p:cNvPr id="3" name="Text 1">
            <a:extLst>
              <a:ext uri="{FF2B5EF4-FFF2-40B4-BE49-F238E27FC236}">
                <a16:creationId xmlns:a16="http://schemas.microsoft.com/office/drawing/2014/main" id="{C1844085-CD4C-14D7-5EDA-10549A83ADEF}"/>
              </a:ext>
            </a:extLst>
          </p:cNvPr>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LOCAL SPORTS LEAGUE MANAGEMENT SYSTEM</a:t>
            </a:r>
            <a:endParaRPr lang="en-US" sz="850"/>
          </a:p>
        </p:txBody>
      </p:sp>
      <p:sp>
        <p:nvSpPr>
          <p:cNvPr id="4" name="Text 2">
            <a:extLst>
              <a:ext uri="{FF2B5EF4-FFF2-40B4-BE49-F238E27FC236}">
                <a16:creationId xmlns:a16="http://schemas.microsoft.com/office/drawing/2014/main" id="{42EF17C9-64D2-BE42-2A73-E4A6BB767337}"/>
              </a:ext>
            </a:extLst>
          </p:cNvPr>
          <p:cNvSpPr/>
          <p:nvPr/>
        </p:nvSpPr>
        <p:spPr>
          <a:xfrm>
            <a:off x="502920" y="530352"/>
            <a:ext cx="11201400" cy="420624"/>
          </a:xfrm>
          <a:prstGeom prst="rect">
            <a:avLst/>
          </a:prstGeom>
          <a:noFill/>
          <a:ln/>
        </p:spPr>
        <p:txBody>
          <a:bodyPr wrap="square" lIns="0" tIns="0" rIns="0" bIns="0" rtlCol="0" anchor="ctr">
            <a:normAutofit/>
          </a:bodyPr>
          <a:lstStyle/>
          <a:p>
            <a:r>
              <a:rPr lang="en-US" sz="2700" b="1">
                <a:solidFill>
                  <a:srgbClr val="102A43"/>
                </a:solidFill>
                <a:latin typeface="Aptos Display"/>
                <a:ea typeface="Aptos Display" pitchFamily="34" charset="-122"/>
                <a:cs typeface="Aptos Display" pitchFamily="34" charset="-120"/>
              </a:rPr>
              <a:t>Final DDD and Normalization</a:t>
            </a:r>
            <a:endParaRPr lang="en-US" sz="2700">
              <a:latin typeface="Aptos Display"/>
            </a:endParaRPr>
          </a:p>
        </p:txBody>
      </p:sp>
      <p:pic>
        <p:nvPicPr>
          <p:cNvPr id="5" name="Image 0" descr="A diagram of a team&#10;&#10;AI-generated content may be incorrect.">
            <a:extLst>
              <a:ext uri="{FF2B5EF4-FFF2-40B4-BE49-F238E27FC236}">
                <a16:creationId xmlns:a16="http://schemas.microsoft.com/office/drawing/2014/main" id="{6829ED81-FF14-66A0-2C63-D75B90925800}"/>
              </a:ext>
            </a:extLst>
          </p:cNvPr>
          <p:cNvPicPr>
            <a:picLocks noChangeAspect="1"/>
          </p:cNvPicPr>
          <p:nvPr/>
        </p:nvPicPr>
        <p:blipFill>
          <a:blip r:embed="rId3"/>
          <a:stretch>
            <a:fillRect/>
          </a:stretch>
        </p:blipFill>
        <p:spPr>
          <a:xfrm>
            <a:off x="502357" y="1883076"/>
            <a:ext cx="11192366" cy="3090831"/>
          </a:xfrm>
          <a:prstGeom prst="rect">
            <a:avLst/>
          </a:prstGeom>
        </p:spPr>
      </p:pic>
      <p:sp>
        <p:nvSpPr>
          <p:cNvPr id="6" name="Shape 3">
            <a:extLst>
              <a:ext uri="{FF2B5EF4-FFF2-40B4-BE49-F238E27FC236}">
                <a16:creationId xmlns:a16="http://schemas.microsoft.com/office/drawing/2014/main" id="{7286016A-7E56-00BC-0F95-E70BE84036B3}"/>
              </a:ext>
            </a:extLst>
          </p:cNvPr>
          <p:cNvSpPr/>
          <p:nvPr/>
        </p:nvSpPr>
        <p:spPr>
          <a:xfrm>
            <a:off x="777240" y="5541264"/>
            <a:ext cx="10744200" cy="566928"/>
          </a:xfrm>
          <a:prstGeom prst="roundRect">
            <a:avLst>
              <a:gd name="adj" fmla="val 12903"/>
            </a:avLst>
          </a:prstGeom>
          <a:solidFill>
            <a:srgbClr val="E6F4EA"/>
          </a:solidFill>
          <a:ln w="12700">
            <a:solidFill>
              <a:srgbClr val="B7E4C7"/>
            </a:solidFill>
            <a:prstDash val="solid"/>
          </a:ln>
        </p:spPr>
      </p:sp>
      <p:sp>
        <p:nvSpPr>
          <p:cNvPr id="7" name="Text 4">
            <a:extLst>
              <a:ext uri="{FF2B5EF4-FFF2-40B4-BE49-F238E27FC236}">
                <a16:creationId xmlns:a16="http://schemas.microsoft.com/office/drawing/2014/main" id="{29A7DD3A-FB03-0031-50FD-826FC9138E07}"/>
              </a:ext>
            </a:extLst>
          </p:cNvPr>
          <p:cNvSpPr/>
          <p:nvPr/>
        </p:nvSpPr>
        <p:spPr>
          <a:xfrm>
            <a:off x="1005840" y="5696712"/>
            <a:ext cx="10287000" cy="219456"/>
          </a:xfrm>
          <a:prstGeom prst="rect">
            <a:avLst/>
          </a:prstGeom>
          <a:noFill/>
          <a:ln/>
        </p:spPr>
        <p:txBody>
          <a:bodyPr wrap="square" lIns="0" tIns="0" rIns="0" bIns="0" rtlCol="0" anchor="ctr">
            <a:normAutofit/>
          </a:bodyPr>
          <a:lstStyle/>
          <a:p>
            <a:pPr marL="0" indent="0" algn="ctr">
              <a:buNone/>
            </a:pPr>
            <a:r>
              <a:rPr lang="en-US" sz="1550" b="1">
                <a:solidFill>
                  <a:srgbClr val="102A43"/>
                </a:solidFill>
              </a:rPr>
              <a:t>3rd Normal Form achieved: Yes — tables separate core entities from season assignments, rosters, coach assignments, matches, locations, and player stats.</a:t>
            </a:r>
            <a:endParaRPr lang="en-US" sz="1550"/>
          </a:p>
        </p:txBody>
      </p:sp>
      <p:sp>
        <p:nvSpPr>
          <p:cNvPr id="8" name="Text 5">
            <a:extLst>
              <a:ext uri="{FF2B5EF4-FFF2-40B4-BE49-F238E27FC236}">
                <a16:creationId xmlns:a16="http://schemas.microsoft.com/office/drawing/2014/main" id="{B4BF8738-0A2D-140E-BAE4-1DA3AB81508D}"/>
              </a:ext>
            </a:extLst>
          </p:cNvPr>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7</a:t>
            </a:r>
            <a:endParaRPr lang="en-US" sz="750"/>
          </a:p>
        </p:txBody>
      </p:sp>
    </p:spTree>
    <p:extLst>
      <p:ext uri="{BB962C8B-B14F-4D97-AF65-F5344CB8AC3E}">
        <p14:creationId xmlns:p14="http://schemas.microsoft.com/office/powerpoint/2010/main" val="3560795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LOCAL SPORTS LEAGUE MANAGEMENT SYSTEM</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Sample Data Coverage</a:t>
            </a:r>
            <a:endParaRPr lang="en-US" sz="2700"/>
          </a:p>
        </p:txBody>
      </p:sp>
      <p:sp>
        <p:nvSpPr>
          <p:cNvPr id="5" name="Shape 3"/>
          <p:cNvSpPr/>
          <p:nvPr/>
        </p:nvSpPr>
        <p:spPr>
          <a:xfrm>
            <a:off x="685800" y="1417320"/>
            <a:ext cx="1847088" cy="1143000"/>
          </a:xfrm>
          <a:prstGeom prst="roundRect">
            <a:avLst>
              <a:gd name="adj" fmla="val 8000"/>
            </a:avLst>
          </a:prstGeom>
          <a:solidFill>
            <a:srgbClr val="FFFFFF"/>
          </a:solidFill>
          <a:ln w="12700">
            <a:solidFill>
              <a:srgbClr val="D9E2EC"/>
            </a:solidFill>
            <a:prstDash val="solid"/>
          </a:ln>
        </p:spPr>
      </p:sp>
      <p:sp>
        <p:nvSpPr>
          <p:cNvPr id="6" name="Text 4"/>
          <p:cNvSpPr/>
          <p:nvPr/>
        </p:nvSpPr>
        <p:spPr>
          <a:xfrm>
            <a:off x="795528" y="1627632"/>
            <a:ext cx="1627632" cy="292608"/>
          </a:xfrm>
          <a:prstGeom prst="rect">
            <a:avLst/>
          </a:prstGeom>
          <a:noFill/>
          <a:ln/>
        </p:spPr>
        <p:txBody>
          <a:bodyPr wrap="square" lIns="0" tIns="0" rIns="0" bIns="0" rtlCol="0" anchor="ctr"/>
          <a:lstStyle/>
          <a:p>
            <a:pPr marL="0" indent="0" algn="ctr">
              <a:buNone/>
            </a:pPr>
            <a:r>
              <a:rPr lang="en-US" sz="2500" b="1">
                <a:solidFill>
                  <a:srgbClr val="2F855A"/>
                </a:solidFill>
              </a:rPr>
              <a:t>10</a:t>
            </a:r>
            <a:endParaRPr lang="en-US" sz="2500"/>
          </a:p>
        </p:txBody>
      </p:sp>
      <p:sp>
        <p:nvSpPr>
          <p:cNvPr id="7" name="Text 5"/>
          <p:cNvSpPr/>
          <p:nvPr/>
        </p:nvSpPr>
        <p:spPr>
          <a:xfrm>
            <a:off x="795528" y="2130552"/>
            <a:ext cx="1627632" cy="237744"/>
          </a:xfrm>
          <a:prstGeom prst="rect">
            <a:avLst/>
          </a:prstGeom>
          <a:noFill/>
          <a:ln/>
        </p:spPr>
        <p:txBody>
          <a:bodyPr wrap="square" lIns="0" tIns="0" rIns="0" bIns="0" rtlCol="0" anchor="ctr">
            <a:normAutofit/>
          </a:bodyPr>
          <a:lstStyle/>
          <a:p>
            <a:pPr marL="0" indent="0" algn="ctr">
              <a:buNone/>
            </a:pPr>
            <a:r>
              <a:rPr lang="en-US" sz="1150" b="1">
                <a:solidFill>
                  <a:srgbClr val="102A43"/>
                </a:solidFill>
              </a:rPr>
              <a:t>Sports</a:t>
            </a:r>
            <a:endParaRPr lang="en-US" sz="1150"/>
          </a:p>
        </p:txBody>
      </p:sp>
      <p:sp>
        <p:nvSpPr>
          <p:cNvPr id="8" name="Shape 6"/>
          <p:cNvSpPr/>
          <p:nvPr/>
        </p:nvSpPr>
        <p:spPr>
          <a:xfrm>
            <a:off x="2953512" y="1417320"/>
            <a:ext cx="1847088" cy="1143000"/>
          </a:xfrm>
          <a:prstGeom prst="roundRect">
            <a:avLst>
              <a:gd name="adj" fmla="val 8000"/>
            </a:avLst>
          </a:prstGeom>
          <a:solidFill>
            <a:srgbClr val="FFFFFF"/>
          </a:solidFill>
          <a:ln w="12700">
            <a:solidFill>
              <a:srgbClr val="D9E2EC"/>
            </a:solidFill>
            <a:prstDash val="solid"/>
          </a:ln>
        </p:spPr>
      </p:sp>
      <p:sp>
        <p:nvSpPr>
          <p:cNvPr id="9" name="Text 7"/>
          <p:cNvSpPr/>
          <p:nvPr/>
        </p:nvSpPr>
        <p:spPr>
          <a:xfrm>
            <a:off x="3063240" y="1627632"/>
            <a:ext cx="1627632" cy="292608"/>
          </a:xfrm>
          <a:prstGeom prst="rect">
            <a:avLst/>
          </a:prstGeom>
          <a:noFill/>
          <a:ln/>
        </p:spPr>
        <p:txBody>
          <a:bodyPr wrap="square" lIns="0" tIns="0" rIns="0" bIns="0" rtlCol="0" anchor="ctr"/>
          <a:lstStyle/>
          <a:p>
            <a:pPr marL="0" indent="0" algn="ctr">
              <a:buNone/>
            </a:pPr>
            <a:r>
              <a:rPr lang="en-US" sz="2500" b="1">
                <a:solidFill>
                  <a:srgbClr val="2F855A"/>
                </a:solidFill>
              </a:rPr>
              <a:t>16</a:t>
            </a:r>
            <a:endParaRPr lang="en-US" sz="2500"/>
          </a:p>
        </p:txBody>
      </p:sp>
      <p:sp>
        <p:nvSpPr>
          <p:cNvPr id="10" name="Text 8"/>
          <p:cNvSpPr/>
          <p:nvPr/>
        </p:nvSpPr>
        <p:spPr>
          <a:xfrm>
            <a:off x="3063240" y="2130552"/>
            <a:ext cx="1627632" cy="237744"/>
          </a:xfrm>
          <a:prstGeom prst="rect">
            <a:avLst/>
          </a:prstGeom>
          <a:noFill/>
          <a:ln/>
        </p:spPr>
        <p:txBody>
          <a:bodyPr wrap="square" lIns="0" tIns="0" rIns="0" bIns="0" rtlCol="0" anchor="ctr">
            <a:normAutofit/>
          </a:bodyPr>
          <a:lstStyle/>
          <a:p>
            <a:pPr marL="0" indent="0" algn="ctr">
              <a:buNone/>
            </a:pPr>
            <a:r>
              <a:rPr lang="en-US" sz="1150" b="1">
                <a:solidFill>
                  <a:srgbClr val="102A43"/>
                </a:solidFill>
              </a:rPr>
              <a:t>Seasons</a:t>
            </a:r>
            <a:endParaRPr lang="en-US" sz="1150"/>
          </a:p>
        </p:txBody>
      </p:sp>
      <p:sp>
        <p:nvSpPr>
          <p:cNvPr id="11" name="Shape 9"/>
          <p:cNvSpPr/>
          <p:nvPr/>
        </p:nvSpPr>
        <p:spPr>
          <a:xfrm>
            <a:off x="5221224" y="1417320"/>
            <a:ext cx="1847088" cy="1143000"/>
          </a:xfrm>
          <a:prstGeom prst="roundRect">
            <a:avLst>
              <a:gd name="adj" fmla="val 8000"/>
            </a:avLst>
          </a:prstGeom>
          <a:solidFill>
            <a:srgbClr val="FFFFFF"/>
          </a:solidFill>
          <a:ln w="12700">
            <a:solidFill>
              <a:srgbClr val="D9E2EC"/>
            </a:solidFill>
            <a:prstDash val="solid"/>
          </a:ln>
        </p:spPr>
      </p:sp>
      <p:sp>
        <p:nvSpPr>
          <p:cNvPr id="12" name="Text 10"/>
          <p:cNvSpPr/>
          <p:nvPr/>
        </p:nvSpPr>
        <p:spPr>
          <a:xfrm>
            <a:off x="5330952" y="1627632"/>
            <a:ext cx="1627632" cy="292608"/>
          </a:xfrm>
          <a:prstGeom prst="rect">
            <a:avLst/>
          </a:prstGeom>
          <a:noFill/>
          <a:ln/>
        </p:spPr>
        <p:txBody>
          <a:bodyPr wrap="square" lIns="0" tIns="0" rIns="0" bIns="0" rtlCol="0" anchor="ctr"/>
          <a:lstStyle/>
          <a:p>
            <a:pPr marL="0" indent="0" algn="ctr">
              <a:buNone/>
            </a:pPr>
            <a:r>
              <a:rPr lang="en-US" sz="2500" b="1">
                <a:solidFill>
                  <a:srgbClr val="2F855A"/>
                </a:solidFill>
              </a:rPr>
              <a:t>24</a:t>
            </a:r>
            <a:endParaRPr lang="en-US" sz="2500"/>
          </a:p>
        </p:txBody>
      </p:sp>
      <p:sp>
        <p:nvSpPr>
          <p:cNvPr id="13" name="Text 11"/>
          <p:cNvSpPr/>
          <p:nvPr/>
        </p:nvSpPr>
        <p:spPr>
          <a:xfrm>
            <a:off x="5330952" y="2130552"/>
            <a:ext cx="1627632" cy="237744"/>
          </a:xfrm>
          <a:prstGeom prst="rect">
            <a:avLst/>
          </a:prstGeom>
          <a:noFill/>
          <a:ln/>
        </p:spPr>
        <p:txBody>
          <a:bodyPr wrap="square" lIns="0" tIns="0" rIns="0" bIns="0" rtlCol="0" anchor="ctr">
            <a:normAutofit/>
          </a:bodyPr>
          <a:lstStyle/>
          <a:p>
            <a:pPr marL="0" indent="0" algn="ctr">
              <a:buNone/>
            </a:pPr>
            <a:r>
              <a:rPr lang="en-US" sz="1150" b="1">
                <a:solidFill>
                  <a:srgbClr val="102A43"/>
                </a:solidFill>
              </a:rPr>
              <a:t>Teams</a:t>
            </a:r>
            <a:endParaRPr lang="en-US" sz="1150"/>
          </a:p>
        </p:txBody>
      </p:sp>
      <p:sp>
        <p:nvSpPr>
          <p:cNvPr id="14" name="Shape 12"/>
          <p:cNvSpPr/>
          <p:nvPr/>
        </p:nvSpPr>
        <p:spPr>
          <a:xfrm>
            <a:off x="7488936" y="1417320"/>
            <a:ext cx="1847088" cy="1143000"/>
          </a:xfrm>
          <a:prstGeom prst="roundRect">
            <a:avLst>
              <a:gd name="adj" fmla="val 8000"/>
            </a:avLst>
          </a:prstGeom>
          <a:solidFill>
            <a:srgbClr val="FFFFFF"/>
          </a:solidFill>
          <a:ln w="12700">
            <a:solidFill>
              <a:srgbClr val="D9E2EC"/>
            </a:solidFill>
            <a:prstDash val="solid"/>
          </a:ln>
        </p:spPr>
      </p:sp>
      <p:sp>
        <p:nvSpPr>
          <p:cNvPr id="15" name="Text 13"/>
          <p:cNvSpPr/>
          <p:nvPr/>
        </p:nvSpPr>
        <p:spPr>
          <a:xfrm>
            <a:off x="7598664" y="1627632"/>
            <a:ext cx="1627632" cy="292608"/>
          </a:xfrm>
          <a:prstGeom prst="rect">
            <a:avLst/>
          </a:prstGeom>
          <a:noFill/>
          <a:ln/>
        </p:spPr>
        <p:txBody>
          <a:bodyPr wrap="square" lIns="0" tIns="0" rIns="0" bIns="0" rtlCol="0" anchor="ctr"/>
          <a:lstStyle/>
          <a:p>
            <a:pPr marL="0" indent="0" algn="ctr">
              <a:buNone/>
            </a:pPr>
            <a:r>
              <a:rPr lang="en-US" sz="2500" b="1">
                <a:solidFill>
                  <a:srgbClr val="2F855A"/>
                </a:solidFill>
              </a:rPr>
              <a:t>48</a:t>
            </a:r>
            <a:endParaRPr lang="en-US" sz="2500"/>
          </a:p>
        </p:txBody>
      </p:sp>
      <p:sp>
        <p:nvSpPr>
          <p:cNvPr id="16" name="Text 14"/>
          <p:cNvSpPr/>
          <p:nvPr/>
        </p:nvSpPr>
        <p:spPr>
          <a:xfrm>
            <a:off x="7598664" y="2130552"/>
            <a:ext cx="1627632" cy="237744"/>
          </a:xfrm>
          <a:prstGeom prst="rect">
            <a:avLst/>
          </a:prstGeom>
          <a:noFill/>
          <a:ln/>
        </p:spPr>
        <p:txBody>
          <a:bodyPr wrap="square" lIns="0" tIns="0" rIns="0" bIns="0" rtlCol="0" anchor="ctr">
            <a:normAutofit/>
          </a:bodyPr>
          <a:lstStyle/>
          <a:p>
            <a:pPr marL="0" indent="0" algn="ctr">
              <a:buNone/>
            </a:pPr>
            <a:r>
              <a:rPr lang="en-US" sz="1150" b="1">
                <a:solidFill>
                  <a:srgbClr val="102A43"/>
                </a:solidFill>
              </a:rPr>
              <a:t>Players</a:t>
            </a:r>
            <a:endParaRPr lang="en-US" sz="1150"/>
          </a:p>
        </p:txBody>
      </p:sp>
      <p:sp>
        <p:nvSpPr>
          <p:cNvPr id="17" name="Shape 15"/>
          <p:cNvSpPr/>
          <p:nvPr/>
        </p:nvSpPr>
        <p:spPr>
          <a:xfrm>
            <a:off x="9756648" y="1417320"/>
            <a:ext cx="1847088" cy="1143000"/>
          </a:xfrm>
          <a:prstGeom prst="roundRect">
            <a:avLst>
              <a:gd name="adj" fmla="val 8000"/>
            </a:avLst>
          </a:prstGeom>
          <a:solidFill>
            <a:srgbClr val="FFFFFF"/>
          </a:solidFill>
          <a:ln w="12700">
            <a:solidFill>
              <a:srgbClr val="D9E2EC"/>
            </a:solidFill>
            <a:prstDash val="solid"/>
          </a:ln>
        </p:spPr>
      </p:sp>
      <p:sp>
        <p:nvSpPr>
          <p:cNvPr id="18" name="Text 16"/>
          <p:cNvSpPr/>
          <p:nvPr/>
        </p:nvSpPr>
        <p:spPr>
          <a:xfrm>
            <a:off x="9866376" y="1627632"/>
            <a:ext cx="1627632" cy="292608"/>
          </a:xfrm>
          <a:prstGeom prst="rect">
            <a:avLst/>
          </a:prstGeom>
          <a:noFill/>
          <a:ln/>
        </p:spPr>
        <p:txBody>
          <a:bodyPr wrap="square" lIns="0" tIns="0" rIns="0" bIns="0" rtlCol="0" anchor="ctr"/>
          <a:lstStyle/>
          <a:p>
            <a:pPr marL="0" indent="0" algn="ctr">
              <a:buNone/>
            </a:pPr>
            <a:r>
              <a:rPr lang="en-US" sz="2500" b="1">
                <a:solidFill>
                  <a:srgbClr val="2F855A"/>
                </a:solidFill>
              </a:rPr>
              <a:t>24</a:t>
            </a:r>
            <a:endParaRPr lang="en-US" sz="2500"/>
          </a:p>
        </p:txBody>
      </p:sp>
      <p:sp>
        <p:nvSpPr>
          <p:cNvPr id="19" name="Text 17"/>
          <p:cNvSpPr/>
          <p:nvPr/>
        </p:nvSpPr>
        <p:spPr>
          <a:xfrm>
            <a:off x="9866376" y="2130552"/>
            <a:ext cx="1627632" cy="237744"/>
          </a:xfrm>
          <a:prstGeom prst="rect">
            <a:avLst/>
          </a:prstGeom>
          <a:noFill/>
          <a:ln/>
        </p:spPr>
        <p:txBody>
          <a:bodyPr wrap="square" lIns="0" tIns="0" rIns="0" bIns="0" rtlCol="0" anchor="ctr">
            <a:normAutofit/>
          </a:bodyPr>
          <a:lstStyle/>
          <a:p>
            <a:pPr marL="0" indent="0" algn="ctr">
              <a:buNone/>
            </a:pPr>
            <a:r>
              <a:rPr lang="en-US" sz="1150" b="1">
                <a:solidFill>
                  <a:srgbClr val="102A43"/>
                </a:solidFill>
              </a:rPr>
              <a:t>Coaches</a:t>
            </a:r>
            <a:endParaRPr lang="en-US" sz="1150"/>
          </a:p>
        </p:txBody>
      </p:sp>
      <p:sp>
        <p:nvSpPr>
          <p:cNvPr id="20" name="Shape 18"/>
          <p:cNvSpPr/>
          <p:nvPr/>
        </p:nvSpPr>
        <p:spPr>
          <a:xfrm>
            <a:off x="685800" y="3291840"/>
            <a:ext cx="1847088" cy="1143000"/>
          </a:xfrm>
          <a:prstGeom prst="roundRect">
            <a:avLst>
              <a:gd name="adj" fmla="val 8000"/>
            </a:avLst>
          </a:prstGeom>
          <a:solidFill>
            <a:srgbClr val="FFFFFF"/>
          </a:solidFill>
          <a:ln w="12700">
            <a:solidFill>
              <a:srgbClr val="D9E2EC"/>
            </a:solidFill>
            <a:prstDash val="solid"/>
          </a:ln>
        </p:spPr>
      </p:sp>
      <p:sp>
        <p:nvSpPr>
          <p:cNvPr id="21" name="Text 19"/>
          <p:cNvSpPr/>
          <p:nvPr/>
        </p:nvSpPr>
        <p:spPr>
          <a:xfrm>
            <a:off x="795528" y="3502152"/>
            <a:ext cx="1627632" cy="292608"/>
          </a:xfrm>
          <a:prstGeom prst="rect">
            <a:avLst/>
          </a:prstGeom>
          <a:noFill/>
          <a:ln/>
        </p:spPr>
        <p:txBody>
          <a:bodyPr wrap="square" lIns="0" tIns="0" rIns="0" bIns="0" rtlCol="0" anchor="ctr"/>
          <a:lstStyle/>
          <a:p>
            <a:pPr marL="0" indent="0" algn="ctr">
              <a:buNone/>
            </a:pPr>
            <a:r>
              <a:rPr lang="en-US" sz="2500" b="1">
                <a:solidFill>
                  <a:srgbClr val="2F855A"/>
                </a:solidFill>
              </a:rPr>
              <a:t>15</a:t>
            </a:r>
            <a:endParaRPr lang="en-US" sz="2500"/>
          </a:p>
        </p:txBody>
      </p:sp>
      <p:sp>
        <p:nvSpPr>
          <p:cNvPr id="22" name="Text 20"/>
          <p:cNvSpPr/>
          <p:nvPr/>
        </p:nvSpPr>
        <p:spPr>
          <a:xfrm>
            <a:off x="795528" y="4005072"/>
            <a:ext cx="1627632" cy="237744"/>
          </a:xfrm>
          <a:prstGeom prst="rect">
            <a:avLst/>
          </a:prstGeom>
          <a:noFill/>
          <a:ln/>
        </p:spPr>
        <p:txBody>
          <a:bodyPr wrap="square" lIns="0" tIns="0" rIns="0" bIns="0" rtlCol="0" anchor="ctr">
            <a:normAutofit/>
          </a:bodyPr>
          <a:lstStyle/>
          <a:p>
            <a:pPr marL="0" indent="0" algn="ctr">
              <a:buNone/>
            </a:pPr>
            <a:r>
              <a:rPr lang="en-US" sz="1150" b="1">
                <a:solidFill>
                  <a:srgbClr val="102A43"/>
                </a:solidFill>
              </a:rPr>
              <a:t>Locations</a:t>
            </a:r>
            <a:endParaRPr lang="en-US" sz="1150"/>
          </a:p>
        </p:txBody>
      </p:sp>
      <p:sp>
        <p:nvSpPr>
          <p:cNvPr id="23" name="Shape 21"/>
          <p:cNvSpPr/>
          <p:nvPr/>
        </p:nvSpPr>
        <p:spPr>
          <a:xfrm>
            <a:off x="2953512" y="3291840"/>
            <a:ext cx="1847088" cy="1143000"/>
          </a:xfrm>
          <a:prstGeom prst="roundRect">
            <a:avLst>
              <a:gd name="adj" fmla="val 8000"/>
            </a:avLst>
          </a:prstGeom>
          <a:solidFill>
            <a:srgbClr val="FFFFFF"/>
          </a:solidFill>
          <a:ln w="12700">
            <a:solidFill>
              <a:srgbClr val="D9E2EC"/>
            </a:solidFill>
            <a:prstDash val="solid"/>
          </a:ln>
        </p:spPr>
      </p:sp>
      <p:sp>
        <p:nvSpPr>
          <p:cNvPr id="24" name="Text 22"/>
          <p:cNvSpPr/>
          <p:nvPr/>
        </p:nvSpPr>
        <p:spPr>
          <a:xfrm>
            <a:off x="3063240" y="3502152"/>
            <a:ext cx="1627632" cy="292608"/>
          </a:xfrm>
          <a:prstGeom prst="rect">
            <a:avLst/>
          </a:prstGeom>
          <a:noFill/>
          <a:ln/>
        </p:spPr>
        <p:txBody>
          <a:bodyPr wrap="square" lIns="0" tIns="0" rIns="0" bIns="0" rtlCol="0" anchor="ctr"/>
          <a:lstStyle/>
          <a:p>
            <a:pPr marL="0" indent="0" algn="ctr">
              <a:buNone/>
            </a:pPr>
            <a:r>
              <a:rPr lang="en-US" sz="2500" b="1">
                <a:solidFill>
                  <a:srgbClr val="2F855A"/>
                </a:solidFill>
              </a:rPr>
              <a:t>24</a:t>
            </a:r>
            <a:endParaRPr lang="en-US" sz="2500"/>
          </a:p>
        </p:txBody>
      </p:sp>
      <p:sp>
        <p:nvSpPr>
          <p:cNvPr id="25" name="Text 23"/>
          <p:cNvSpPr/>
          <p:nvPr/>
        </p:nvSpPr>
        <p:spPr>
          <a:xfrm>
            <a:off x="3063240" y="4005072"/>
            <a:ext cx="1627632" cy="237744"/>
          </a:xfrm>
          <a:prstGeom prst="rect">
            <a:avLst/>
          </a:prstGeom>
          <a:noFill/>
          <a:ln/>
        </p:spPr>
        <p:txBody>
          <a:bodyPr wrap="square" lIns="0" tIns="0" rIns="0" bIns="0" rtlCol="0" anchor="ctr">
            <a:normAutofit/>
          </a:bodyPr>
          <a:lstStyle/>
          <a:p>
            <a:pPr marL="0" indent="0" algn="ctr">
              <a:buNone/>
            </a:pPr>
            <a:r>
              <a:rPr lang="en-US" sz="1150" b="1">
                <a:solidFill>
                  <a:srgbClr val="102A43"/>
                </a:solidFill>
              </a:rPr>
              <a:t>Team-season records</a:t>
            </a:r>
            <a:endParaRPr lang="en-US" sz="1150"/>
          </a:p>
        </p:txBody>
      </p:sp>
      <p:sp>
        <p:nvSpPr>
          <p:cNvPr id="26" name="Shape 24"/>
          <p:cNvSpPr/>
          <p:nvPr/>
        </p:nvSpPr>
        <p:spPr>
          <a:xfrm>
            <a:off x="5221224" y="3291840"/>
            <a:ext cx="1847088" cy="1143000"/>
          </a:xfrm>
          <a:prstGeom prst="roundRect">
            <a:avLst>
              <a:gd name="adj" fmla="val 8000"/>
            </a:avLst>
          </a:prstGeom>
          <a:solidFill>
            <a:srgbClr val="FFFFFF"/>
          </a:solidFill>
          <a:ln w="12700">
            <a:solidFill>
              <a:srgbClr val="D9E2EC"/>
            </a:solidFill>
            <a:prstDash val="solid"/>
          </a:ln>
        </p:spPr>
      </p:sp>
      <p:sp>
        <p:nvSpPr>
          <p:cNvPr id="27" name="Text 25"/>
          <p:cNvSpPr/>
          <p:nvPr/>
        </p:nvSpPr>
        <p:spPr>
          <a:xfrm>
            <a:off x="5330952" y="3502152"/>
            <a:ext cx="1627632" cy="292608"/>
          </a:xfrm>
          <a:prstGeom prst="rect">
            <a:avLst/>
          </a:prstGeom>
          <a:noFill/>
          <a:ln/>
        </p:spPr>
        <p:txBody>
          <a:bodyPr wrap="square" lIns="0" tIns="0" rIns="0" bIns="0" rtlCol="0" anchor="ctr"/>
          <a:lstStyle/>
          <a:p>
            <a:pPr marL="0" indent="0" algn="ctr">
              <a:buNone/>
            </a:pPr>
            <a:r>
              <a:rPr lang="en-US" sz="2500" b="1">
                <a:solidFill>
                  <a:srgbClr val="2F855A"/>
                </a:solidFill>
              </a:rPr>
              <a:t>48</a:t>
            </a:r>
            <a:endParaRPr lang="en-US" sz="2500"/>
          </a:p>
        </p:txBody>
      </p:sp>
      <p:sp>
        <p:nvSpPr>
          <p:cNvPr id="28" name="Text 26"/>
          <p:cNvSpPr/>
          <p:nvPr/>
        </p:nvSpPr>
        <p:spPr>
          <a:xfrm>
            <a:off x="5330952" y="4005072"/>
            <a:ext cx="1627632" cy="237744"/>
          </a:xfrm>
          <a:prstGeom prst="rect">
            <a:avLst/>
          </a:prstGeom>
          <a:noFill/>
          <a:ln/>
        </p:spPr>
        <p:txBody>
          <a:bodyPr wrap="square" lIns="0" tIns="0" rIns="0" bIns="0" rtlCol="0" anchor="ctr">
            <a:normAutofit/>
          </a:bodyPr>
          <a:lstStyle/>
          <a:p>
            <a:pPr marL="0" indent="0" algn="ctr">
              <a:buNone/>
            </a:pPr>
            <a:r>
              <a:rPr lang="en-US" sz="1150" b="1">
                <a:solidFill>
                  <a:srgbClr val="102A43"/>
                </a:solidFill>
              </a:rPr>
              <a:t>Roster assignments</a:t>
            </a:r>
            <a:endParaRPr lang="en-US" sz="1150"/>
          </a:p>
        </p:txBody>
      </p:sp>
      <p:sp>
        <p:nvSpPr>
          <p:cNvPr id="29" name="Shape 27"/>
          <p:cNvSpPr/>
          <p:nvPr/>
        </p:nvSpPr>
        <p:spPr>
          <a:xfrm>
            <a:off x="7488936" y="3291840"/>
            <a:ext cx="1847088" cy="1143000"/>
          </a:xfrm>
          <a:prstGeom prst="roundRect">
            <a:avLst>
              <a:gd name="adj" fmla="val 8000"/>
            </a:avLst>
          </a:prstGeom>
          <a:solidFill>
            <a:srgbClr val="FFFFFF"/>
          </a:solidFill>
          <a:ln w="12700">
            <a:solidFill>
              <a:srgbClr val="D9E2EC"/>
            </a:solidFill>
            <a:prstDash val="solid"/>
          </a:ln>
        </p:spPr>
      </p:sp>
      <p:sp>
        <p:nvSpPr>
          <p:cNvPr id="30" name="Text 28"/>
          <p:cNvSpPr/>
          <p:nvPr/>
        </p:nvSpPr>
        <p:spPr>
          <a:xfrm>
            <a:off x="7598664" y="3502152"/>
            <a:ext cx="1627632" cy="292608"/>
          </a:xfrm>
          <a:prstGeom prst="rect">
            <a:avLst/>
          </a:prstGeom>
          <a:noFill/>
          <a:ln/>
        </p:spPr>
        <p:txBody>
          <a:bodyPr wrap="square" lIns="0" tIns="0" rIns="0" bIns="0" rtlCol="0" anchor="ctr"/>
          <a:lstStyle/>
          <a:p>
            <a:pPr marL="0" indent="0" algn="ctr">
              <a:buNone/>
            </a:pPr>
            <a:r>
              <a:rPr lang="en-US" sz="2500" b="1">
                <a:solidFill>
                  <a:srgbClr val="2F855A"/>
                </a:solidFill>
              </a:rPr>
              <a:t>30</a:t>
            </a:r>
            <a:endParaRPr lang="en-US" sz="2500"/>
          </a:p>
        </p:txBody>
      </p:sp>
      <p:sp>
        <p:nvSpPr>
          <p:cNvPr id="31" name="Text 29"/>
          <p:cNvSpPr/>
          <p:nvPr/>
        </p:nvSpPr>
        <p:spPr>
          <a:xfrm>
            <a:off x="7598664" y="4005072"/>
            <a:ext cx="1627632" cy="237744"/>
          </a:xfrm>
          <a:prstGeom prst="rect">
            <a:avLst/>
          </a:prstGeom>
          <a:noFill/>
          <a:ln/>
        </p:spPr>
        <p:txBody>
          <a:bodyPr wrap="square" lIns="0" tIns="0" rIns="0" bIns="0" rtlCol="0" anchor="ctr">
            <a:normAutofit/>
          </a:bodyPr>
          <a:lstStyle/>
          <a:p>
            <a:pPr marL="0" indent="0" algn="ctr">
              <a:buNone/>
            </a:pPr>
            <a:r>
              <a:rPr lang="en-US" sz="1150" b="1">
                <a:solidFill>
                  <a:srgbClr val="102A43"/>
                </a:solidFill>
              </a:rPr>
              <a:t>Matches</a:t>
            </a:r>
            <a:endParaRPr lang="en-US" sz="1150"/>
          </a:p>
        </p:txBody>
      </p:sp>
      <p:sp>
        <p:nvSpPr>
          <p:cNvPr id="32" name="Shape 30"/>
          <p:cNvSpPr/>
          <p:nvPr/>
        </p:nvSpPr>
        <p:spPr>
          <a:xfrm>
            <a:off x="9756648" y="3291840"/>
            <a:ext cx="1847088" cy="1143000"/>
          </a:xfrm>
          <a:prstGeom prst="roundRect">
            <a:avLst>
              <a:gd name="adj" fmla="val 8000"/>
            </a:avLst>
          </a:prstGeom>
          <a:solidFill>
            <a:srgbClr val="FFFFFF"/>
          </a:solidFill>
          <a:ln w="12700">
            <a:solidFill>
              <a:srgbClr val="D9E2EC"/>
            </a:solidFill>
            <a:prstDash val="solid"/>
          </a:ln>
        </p:spPr>
      </p:sp>
      <p:sp>
        <p:nvSpPr>
          <p:cNvPr id="33" name="Text 31"/>
          <p:cNvSpPr/>
          <p:nvPr/>
        </p:nvSpPr>
        <p:spPr>
          <a:xfrm>
            <a:off x="9866376" y="3502152"/>
            <a:ext cx="1627632" cy="292608"/>
          </a:xfrm>
          <a:prstGeom prst="rect">
            <a:avLst/>
          </a:prstGeom>
          <a:noFill/>
          <a:ln/>
        </p:spPr>
        <p:txBody>
          <a:bodyPr wrap="square" lIns="0" tIns="0" rIns="0" bIns="0" rtlCol="0" anchor="ctr"/>
          <a:lstStyle/>
          <a:p>
            <a:pPr marL="0" indent="0" algn="ctr">
              <a:buNone/>
            </a:pPr>
            <a:r>
              <a:rPr lang="en-US" sz="2500" b="1">
                <a:solidFill>
                  <a:srgbClr val="2F855A"/>
                </a:solidFill>
              </a:rPr>
              <a:t>96</a:t>
            </a:r>
            <a:endParaRPr lang="en-US" sz="2500"/>
          </a:p>
        </p:txBody>
      </p:sp>
      <p:sp>
        <p:nvSpPr>
          <p:cNvPr id="34" name="Text 32"/>
          <p:cNvSpPr/>
          <p:nvPr/>
        </p:nvSpPr>
        <p:spPr>
          <a:xfrm>
            <a:off x="9866376" y="4005072"/>
            <a:ext cx="1627632" cy="237744"/>
          </a:xfrm>
          <a:prstGeom prst="rect">
            <a:avLst/>
          </a:prstGeom>
          <a:noFill/>
          <a:ln/>
        </p:spPr>
        <p:txBody>
          <a:bodyPr wrap="square" lIns="0" tIns="0" rIns="0" bIns="0" rtlCol="0" anchor="ctr">
            <a:normAutofit/>
          </a:bodyPr>
          <a:lstStyle/>
          <a:p>
            <a:pPr marL="0" indent="0" algn="ctr">
              <a:buNone/>
            </a:pPr>
            <a:r>
              <a:rPr lang="en-US" sz="1150" b="1">
                <a:solidFill>
                  <a:srgbClr val="102A43"/>
                </a:solidFill>
              </a:rPr>
              <a:t>Player stat rows</a:t>
            </a:r>
            <a:endParaRPr lang="en-US" sz="1150"/>
          </a:p>
        </p:txBody>
      </p:sp>
      <p:sp>
        <p:nvSpPr>
          <p:cNvPr id="35" name="Text 33"/>
          <p:cNvSpPr/>
          <p:nvPr/>
        </p:nvSpPr>
        <p:spPr>
          <a:xfrm>
            <a:off x="960120" y="5614416"/>
            <a:ext cx="10241280" cy="402336"/>
          </a:xfrm>
          <a:prstGeom prst="rect">
            <a:avLst/>
          </a:prstGeom>
          <a:noFill/>
          <a:ln/>
        </p:spPr>
        <p:txBody>
          <a:bodyPr wrap="square" lIns="0" tIns="0" rIns="0" bIns="0" rtlCol="0" anchor="ctr">
            <a:normAutofit/>
          </a:bodyPr>
          <a:lstStyle/>
          <a:p>
            <a:pPr marL="0" indent="0" algn="ctr">
              <a:buNone/>
            </a:pPr>
            <a:r>
              <a:rPr lang="en-US" sz="1800" b="1">
                <a:solidFill>
                  <a:srgbClr val="102A43"/>
                </a:solidFill>
              </a:rPr>
              <a:t>The data set is large enough to test schedules, rosters, standings, statistics, and reporting across multiple sports.</a:t>
            </a:r>
            <a:endParaRPr lang="en-US" sz="1800"/>
          </a:p>
        </p:txBody>
      </p:sp>
      <p:sp>
        <p:nvSpPr>
          <p:cNvPr id="36" name="Text 34"/>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8</a:t>
            </a:r>
            <a:endParaRPr lang="en-US" sz="7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LOCAL SPORTS LEAGUE MANAGEMENT SYSTEM</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Handling Repetition Without Duplicating Records</a:t>
            </a:r>
            <a:endParaRPr lang="en-US" sz="2700"/>
          </a:p>
        </p:txBody>
      </p:sp>
      <p:sp>
        <p:nvSpPr>
          <p:cNvPr id="5" name="Text 3"/>
          <p:cNvSpPr/>
          <p:nvPr/>
        </p:nvSpPr>
        <p:spPr>
          <a:xfrm>
            <a:off x="658368" y="1143000"/>
            <a:ext cx="5303520" cy="256032"/>
          </a:xfrm>
          <a:prstGeom prst="rect">
            <a:avLst/>
          </a:prstGeom>
          <a:noFill/>
          <a:ln/>
        </p:spPr>
        <p:txBody>
          <a:bodyPr wrap="square" lIns="0" tIns="0" rIns="0" bIns="0" rtlCol="0" anchor="ctr"/>
          <a:lstStyle/>
          <a:p>
            <a:pPr marL="0" indent="0">
              <a:buNone/>
            </a:pPr>
            <a:r>
              <a:rPr lang="en-US" sz="1600" b="1">
                <a:solidFill>
                  <a:srgbClr val="2F855A"/>
                </a:solidFill>
              </a:rPr>
              <a:t>Example 1: The same team appears in multiple matches</a:t>
            </a:r>
            <a:endParaRPr lang="en-US" sz="1600"/>
          </a:p>
        </p:txBody>
      </p:sp>
      <p:sp>
        <p:nvSpPr>
          <p:cNvPr id="6" name="Shape 4"/>
          <p:cNvSpPr/>
          <p:nvPr/>
        </p:nvSpPr>
        <p:spPr>
          <a:xfrm>
            <a:off x="212892" y="1554480"/>
            <a:ext cx="5876777" cy="2280137"/>
          </a:xfrm>
          <a:prstGeom prst="roundRect">
            <a:avLst>
              <a:gd name="adj" fmla="val 2222"/>
            </a:avLst>
          </a:prstGeom>
          <a:solidFill>
            <a:srgbClr val="FFFFFF"/>
          </a:solidFill>
          <a:ln w="10160">
            <a:solidFill>
              <a:srgbClr val="D1D5DB"/>
            </a:solidFill>
            <a:prstDash val="solid"/>
          </a:ln>
        </p:spPr>
      </p:sp>
      <p:sp>
        <p:nvSpPr>
          <p:cNvPr id="8" name="Text 6"/>
          <p:cNvSpPr/>
          <p:nvPr/>
        </p:nvSpPr>
        <p:spPr>
          <a:xfrm>
            <a:off x="6309360" y="1143000"/>
            <a:ext cx="5303520" cy="256032"/>
          </a:xfrm>
          <a:prstGeom prst="rect">
            <a:avLst/>
          </a:prstGeom>
          <a:noFill/>
          <a:ln/>
        </p:spPr>
        <p:txBody>
          <a:bodyPr wrap="square" lIns="0" tIns="0" rIns="0" bIns="0" rtlCol="0" anchor="ctr"/>
          <a:lstStyle/>
          <a:p>
            <a:r>
              <a:rPr lang="en-US" sz="1600" b="1">
                <a:solidFill>
                  <a:srgbClr val="2F855A"/>
                </a:solidFill>
              </a:rPr>
              <a:t>Example 2: The same team has multiple top scorers </a:t>
            </a:r>
          </a:p>
        </p:txBody>
      </p:sp>
      <p:sp>
        <p:nvSpPr>
          <p:cNvPr id="9" name="Shape 7"/>
          <p:cNvSpPr/>
          <p:nvPr/>
        </p:nvSpPr>
        <p:spPr>
          <a:xfrm>
            <a:off x="6297637" y="1554480"/>
            <a:ext cx="5212080" cy="1060704"/>
          </a:xfrm>
          <a:prstGeom prst="roundRect">
            <a:avLst>
              <a:gd name="adj" fmla="val 4310"/>
            </a:avLst>
          </a:prstGeom>
          <a:solidFill>
            <a:srgbClr val="FFFFFF"/>
          </a:solidFill>
          <a:ln w="10160">
            <a:solidFill>
              <a:srgbClr val="D1D5DB"/>
            </a:solidFill>
            <a:prstDash val="solid"/>
          </a:ln>
        </p:spPr>
      </p:sp>
      <p:sp>
        <p:nvSpPr>
          <p:cNvPr id="10" name="Text 8"/>
          <p:cNvSpPr/>
          <p:nvPr/>
        </p:nvSpPr>
        <p:spPr>
          <a:xfrm>
            <a:off x="6419088" y="1664208"/>
            <a:ext cx="4992624" cy="841248"/>
          </a:xfrm>
          <a:prstGeom prst="rect">
            <a:avLst/>
          </a:prstGeom>
          <a:noFill/>
          <a:ln/>
        </p:spPr>
        <p:txBody>
          <a:bodyPr wrap="square" lIns="0" tIns="0" rIns="0" bIns="0" rtlCol="0" anchor="t">
            <a:normAutofit/>
          </a:bodyPr>
          <a:lstStyle/>
          <a:p>
            <a:pPr marL="0" indent="0">
              <a:buNone/>
            </a:pPr>
            <a:r>
              <a:rPr lang="en-US" sz="850">
                <a:solidFill>
                  <a:srgbClr val="1A202C"/>
                </a:solidFill>
                <a:latin typeface="Courier New"/>
                <a:ea typeface="Courier New" pitchFamily="34" charset="-122"/>
                <a:cs typeface="Courier New"/>
              </a:rPr>
              <a:t>    </a:t>
            </a:r>
            <a:endParaRPr lang="en-US" sz="850">
              <a:latin typeface="Courier New"/>
              <a:cs typeface="Courier New"/>
            </a:endParaRPr>
          </a:p>
        </p:txBody>
      </p:sp>
      <p:sp>
        <p:nvSpPr>
          <p:cNvPr id="11" name="Shape 9"/>
          <p:cNvSpPr/>
          <p:nvPr/>
        </p:nvSpPr>
        <p:spPr>
          <a:xfrm>
            <a:off x="1005840" y="4343400"/>
            <a:ext cx="10149840" cy="932688"/>
          </a:xfrm>
          <a:prstGeom prst="roundRect">
            <a:avLst>
              <a:gd name="adj" fmla="val 9804"/>
            </a:avLst>
          </a:prstGeom>
          <a:solidFill>
            <a:srgbClr val="E6F4EA"/>
          </a:solidFill>
          <a:ln w="12700">
            <a:solidFill>
              <a:srgbClr val="B7E4C7"/>
            </a:solidFill>
            <a:prstDash val="solid"/>
          </a:ln>
        </p:spPr>
      </p:sp>
      <p:sp>
        <p:nvSpPr>
          <p:cNvPr id="12" name="Text 10"/>
          <p:cNvSpPr/>
          <p:nvPr/>
        </p:nvSpPr>
        <p:spPr>
          <a:xfrm>
            <a:off x="1234440" y="4636008"/>
            <a:ext cx="9692640" cy="237744"/>
          </a:xfrm>
          <a:prstGeom prst="rect">
            <a:avLst/>
          </a:prstGeom>
          <a:noFill/>
          <a:ln/>
        </p:spPr>
        <p:txBody>
          <a:bodyPr wrap="square" lIns="0" tIns="0" rIns="0" bIns="0" rtlCol="0" anchor="ctr">
            <a:normAutofit/>
          </a:bodyPr>
          <a:lstStyle/>
          <a:p>
            <a:pPr marL="0" indent="0" algn="ctr">
              <a:buNone/>
            </a:pPr>
            <a:r>
              <a:rPr lang="en-US" sz="1700" b="1">
                <a:solidFill>
                  <a:srgbClr val="102A43"/>
                </a:solidFill>
              </a:rPr>
              <a:t>Normalized design stores the team and player once, then connects repeated activity through MATCH_GAME and PLAYER_MATCH_STAT.</a:t>
            </a:r>
            <a:endParaRPr lang="en-US" sz="1700"/>
          </a:p>
        </p:txBody>
      </p:sp>
      <p:sp>
        <p:nvSpPr>
          <p:cNvPr id="13" name="Text 11"/>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9</a:t>
            </a:r>
            <a:endParaRPr lang="en-US" sz="750"/>
          </a:p>
        </p:txBody>
      </p:sp>
      <p:pic>
        <p:nvPicPr>
          <p:cNvPr id="15" name="Picture 14">
            <a:extLst>
              <a:ext uri="{FF2B5EF4-FFF2-40B4-BE49-F238E27FC236}">
                <a16:creationId xmlns:a16="http://schemas.microsoft.com/office/drawing/2014/main" id="{5819C5A9-4633-9492-5736-44566186605A}"/>
              </a:ext>
            </a:extLst>
          </p:cNvPr>
          <p:cNvPicPr>
            <a:picLocks noChangeAspect="1"/>
          </p:cNvPicPr>
          <p:nvPr/>
        </p:nvPicPr>
        <p:blipFill>
          <a:blip r:embed="rId3"/>
          <a:stretch>
            <a:fillRect/>
          </a:stretch>
        </p:blipFill>
        <p:spPr>
          <a:xfrm>
            <a:off x="268533" y="2285632"/>
            <a:ext cx="5758229" cy="809626"/>
          </a:xfrm>
          <a:prstGeom prst="rect">
            <a:avLst/>
          </a:prstGeom>
        </p:spPr>
      </p:pic>
      <p:pic>
        <p:nvPicPr>
          <p:cNvPr id="16" name="Picture 15" descr="A screenshot of a computer&#10;&#10;AI-generated content may be incorrect.">
            <a:extLst>
              <a:ext uri="{FF2B5EF4-FFF2-40B4-BE49-F238E27FC236}">
                <a16:creationId xmlns:a16="http://schemas.microsoft.com/office/drawing/2014/main" id="{A355FF56-DB55-522D-3AAE-46E1B7AC58B3}"/>
              </a:ext>
            </a:extLst>
          </p:cNvPr>
          <p:cNvPicPr>
            <a:picLocks noChangeAspect="1"/>
          </p:cNvPicPr>
          <p:nvPr/>
        </p:nvPicPr>
        <p:blipFill>
          <a:blip r:embed="rId4"/>
          <a:stretch>
            <a:fillRect/>
          </a:stretch>
        </p:blipFill>
        <p:spPr>
          <a:xfrm>
            <a:off x="7114809" y="1693985"/>
            <a:ext cx="3589459" cy="79716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QUERY DEMONSTRATION — CAMERON BERGERON</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Query 1: Season Scoring Summary</a:t>
            </a:r>
            <a:endParaRPr lang="en-US" sz="2700"/>
          </a:p>
        </p:txBody>
      </p:sp>
      <p:sp>
        <p:nvSpPr>
          <p:cNvPr id="5" name="Shape 3"/>
          <p:cNvSpPr/>
          <p:nvPr/>
        </p:nvSpPr>
        <p:spPr>
          <a:xfrm>
            <a:off x="658368" y="1097280"/>
            <a:ext cx="1828800" cy="310896"/>
          </a:xfrm>
          <a:prstGeom prst="roundRect">
            <a:avLst>
              <a:gd name="adj" fmla="val 23529"/>
            </a:avLst>
          </a:prstGeom>
          <a:solidFill>
            <a:srgbClr val="2F855A"/>
          </a:solidFill>
          <a:ln w="12700">
            <a:solidFill>
              <a:srgbClr val="2F855A"/>
            </a:solidFill>
            <a:prstDash val="solid"/>
          </a:ln>
        </p:spPr>
      </p:sp>
      <p:sp>
        <p:nvSpPr>
          <p:cNvPr id="6" name="Text 4"/>
          <p:cNvSpPr/>
          <p:nvPr/>
        </p:nvSpPr>
        <p:spPr>
          <a:xfrm>
            <a:off x="749808" y="1170432"/>
            <a:ext cx="1645920" cy="146304"/>
          </a:xfrm>
          <a:prstGeom prst="rect">
            <a:avLst/>
          </a:prstGeom>
          <a:noFill/>
          <a:ln/>
        </p:spPr>
        <p:txBody>
          <a:bodyPr wrap="square" lIns="0" tIns="0" rIns="0" bIns="0" rtlCol="0" anchor="ctr">
            <a:normAutofit/>
          </a:bodyPr>
          <a:lstStyle/>
          <a:p>
            <a:pPr marL="0" indent="0" algn="ctr">
              <a:buNone/>
            </a:pPr>
            <a:r>
              <a:rPr lang="en-US" sz="850" b="1">
                <a:solidFill>
                  <a:srgbClr val="FFFFFF"/>
                </a:solidFill>
              </a:rPr>
              <a:t>COUNT + SUM + AVG</a:t>
            </a:r>
            <a:endParaRPr lang="en-US" sz="850"/>
          </a:p>
        </p:txBody>
      </p:sp>
      <p:sp>
        <p:nvSpPr>
          <p:cNvPr id="7" name="Text 5"/>
          <p:cNvSpPr/>
          <p:nvPr/>
        </p:nvSpPr>
        <p:spPr>
          <a:xfrm>
            <a:off x="685800" y="1664208"/>
            <a:ext cx="2468880" cy="256032"/>
          </a:xfrm>
          <a:prstGeom prst="rect">
            <a:avLst/>
          </a:prstGeom>
          <a:noFill/>
          <a:ln/>
        </p:spPr>
        <p:txBody>
          <a:bodyPr wrap="square" lIns="0" tIns="0" rIns="0" bIns="0" rtlCol="0" anchor="ctr"/>
          <a:lstStyle/>
          <a:p>
            <a:pPr marL="0" indent="0">
              <a:buNone/>
            </a:pPr>
            <a:r>
              <a:rPr lang="en-US" sz="1500" b="1">
                <a:solidFill>
                  <a:srgbClr val="102A43"/>
                </a:solidFill>
              </a:rPr>
              <a:t>Business rationale</a:t>
            </a:r>
            <a:endParaRPr lang="en-US" sz="1500"/>
          </a:p>
        </p:txBody>
      </p:sp>
      <p:sp>
        <p:nvSpPr>
          <p:cNvPr id="8" name="Text 6"/>
          <p:cNvSpPr/>
          <p:nvPr/>
        </p:nvSpPr>
        <p:spPr>
          <a:xfrm>
            <a:off x="685800" y="1993392"/>
            <a:ext cx="3703320" cy="1170432"/>
          </a:xfrm>
          <a:prstGeom prst="rect">
            <a:avLst/>
          </a:prstGeom>
          <a:noFill/>
          <a:ln/>
        </p:spPr>
        <p:txBody>
          <a:bodyPr wrap="square" lIns="254" tIns="254" rIns="254" bIns="254" rtlCol="0" anchor="t">
            <a:normAutofit/>
          </a:bodyPr>
          <a:lstStyle/>
          <a:p>
            <a:r>
              <a:rPr lang="en-US" sz="1350">
                <a:solidFill>
                  <a:srgbClr val="1A202C"/>
                </a:solidFill>
              </a:rPr>
              <a:t>Shows how active each season is</a:t>
            </a:r>
            <a:endParaRPr lang="en-US" sz="1350"/>
          </a:p>
          <a:p>
            <a:r>
              <a:rPr lang="en-US" sz="1350">
                <a:solidFill>
                  <a:srgbClr val="1A202C"/>
                </a:solidFill>
              </a:rPr>
              <a:t>Compares total scoring across sports</a:t>
            </a:r>
            <a:endParaRPr lang="en-US" sz="1350"/>
          </a:p>
          <a:p>
            <a:r>
              <a:rPr lang="en-US" sz="1350">
                <a:solidFill>
                  <a:srgbClr val="1A202C"/>
                </a:solidFill>
              </a:rPr>
              <a:t>Supports resource planning by sport or season</a:t>
            </a:r>
            <a:endParaRPr lang="en-US" sz="1350"/>
          </a:p>
        </p:txBody>
      </p:sp>
      <p:sp>
        <p:nvSpPr>
          <p:cNvPr id="9" name="Text 7"/>
          <p:cNvSpPr/>
          <p:nvPr/>
        </p:nvSpPr>
        <p:spPr>
          <a:xfrm>
            <a:off x="685800" y="3611880"/>
            <a:ext cx="2468880" cy="256032"/>
          </a:xfrm>
          <a:prstGeom prst="rect">
            <a:avLst/>
          </a:prstGeom>
          <a:noFill/>
          <a:ln/>
        </p:spPr>
        <p:txBody>
          <a:bodyPr wrap="square" lIns="0" tIns="0" rIns="0" bIns="0" rtlCol="0" anchor="ctr"/>
          <a:lstStyle/>
          <a:p>
            <a:pPr marL="0" indent="0">
              <a:buNone/>
            </a:pPr>
            <a:r>
              <a:rPr lang="en-US" sz="1500" b="1">
                <a:solidFill>
                  <a:srgbClr val="102A43"/>
                </a:solidFill>
              </a:rPr>
              <a:t>Real-world use</a:t>
            </a:r>
            <a:endParaRPr lang="en-US" sz="1500"/>
          </a:p>
        </p:txBody>
      </p:sp>
      <p:sp>
        <p:nvSpPr>
          <p:cNvPr id="10" name="Text 8"/>
          <p:cNvSpPr/>
          <p:nvPr/>
        </p:nvSpPr>
        <p:spPr>
          <a:xfrm>
            <a:off x="685800" y="3977640"/>
            <a:ext cx="3794760" cy="804672"/>
          </a:xfrm>
          <a:prstGeom prst="rect">
            <a:avLst/>
          </a:prstGeom>
          <a:noFill/>
          <a:ln/>
        </p:spPr>
        <p:txBody>
          <a:bodyPr wrap="square" lIns="0" tIns="0" rIns="0" bIns="0" rtlCol="0" anchor="ctr">
            <a:normAutofit/>
          </a:bodyPr>
          <a:lstStyle/>
          <a:p>
            <a:pPr marL="0" indent="0">
              <a:buNone/>
            </a:pPr>
            <a:r>
              <a:rPr lang="en-US" sz="1360">
                <a:solidFill>
                  <a:srgbClr val="4A5568"/>
                </a:solidFill>
              </a:rPr>
              <a:t>League managers can identify high-activity seasons and plan staffing, scorekeeping, and facility needs.</a:t>
            </a:r>
            <a:endParaRPr lang="en-US" sz="1360"/>
          </a:p>
        </p:txBody>
      </p:sp>
      <p:sp>
        <p:nvSpPr>
          <p:cNvPr id="11" name="Shape 9"/>
          <p:cNvSpPr/>
          <p:nvPr/>
        </p:nvSpPr>
        <p:spPr>
          <a:xfrm>
            <a:off x="4736592" y="1207008"/>
            <a:ext cx="6995160" cy="3429000"/>
          </a:xfrm>
          <a:prstGeom prst="roundRect">
            <a:avLst>
              <a:gd name="adj" fmla="val 1333"/>
            </a:avLst>
          </a:prstGeom>
          <a:solidFill>
            <a:srgbClr val="FFFFFF"/>
          </a:solidFill>
          <a:ln w="10160">
            <a:solidFill>
              <a:srgbClr val="D1D5DB"/>
            </a:solidFill>
            <a:prstDash val="solid"/>
          </a:ln>
        </p:spPr>
      </p:sp>
      <p:sp>
        <p:nvSpPr>
          <p:cNvPr id="12" name="Text 10"/>
          <p:cNvSpPr/>
          <p:nvPr/>
        </p:nvSpPr>
        <p:spPr>
          <a:xfrm>
            <a:off x="4846320" y="1316736"/>
            <a:ext cx="6775704" cy="3209544"/>
          </a:xfrm>
          <a:prstGeom prst="rect">
            <a:avLst/>
          </a:prstGeom>
          <a:noFill/>
          <a:ln/>
        </p:spPr>
        <p:txBody>
          <a:bodyPr wrap="square" lIns="0" tIns="0" rIns="0" bIns="0" rtlCol="0" anchor="t">
            <a:normAutofit/>
          </a:bodyPr>
          <a:lstStyle/>
          <a:p>
            <a:pPr marL="0" indent="0">
              <a:buNone/>
            </a:pPr>
            <a:endParaRPr lang="en-US" sz="750">
              <a:solidFill>
                <a:srgbClr val="1A202C"/>
              </a:solidFill>
              <a:latin typeface="Courier New"/>
              <a:cs typeface="Courier New"/>
            </a:endParaRPr>
          </a:p>
        </p:txBody>
      </p:sp>
      <p:sp>
        <p:nvSpPr>
          <p:cNvPr id="13" name="Shape 11"/>
          <p:cNvSpPr/>
          <p:nvPr/>
        </p:nvSpPr>
        <p:spPr>
          <a:xfrm>
            <a:off x="5074920" y="4892040"/>
            <a:ext cx="6309360" cy="530352"/>
          </a:xfrm>
          <a:prstGeom prst="roundRect">
            <a:avLst>
              <a:gd name="adj" fmla="val 13793"/>
            </a:avLst>
          </a:prstGeom>
          <a:solidFill>
            <a:srgbClr val="E6F4EA"/>
          </a:solidFill>
          <a:ln w="12700">
            <a:solidFill>
              <a:srgbClr val="B7E4C7"/>
            </a:solidFill>
            <a:prstDash val="solid"/>
          </a:ln>
        </p:spPr>
      </p:sp>
      <p:sp>
        <p:nvSpPr>
          <p:cNvPr id="14" name="Text 12"/>
          <p:cNvSpPr/>
          <p:nvPr/>
        </p:nvSpPr>
        <p:spPr>
          <a:xfrm>
            <a:off x="5285232" y="5047488"/>
            <a:ext cx="5897880" cy="182880"/>
          </a:xfrm>
          <a:prstGeom prst="rect">
            <a:avLst/>
          </a:prstGeom>
          <a:noFill/>
          <a:ln/>
        </p:spPr>
        <p:txBody>
          <a:bodyPr wrap="square" lIns="0" tIns="0" rIns="0" bIns="0" rtlCol="0" anchor="ctr">
            <a:normAutofit/>
          </a:bodyPr>
          <a:lstStyle/>
          <a:p>
            <a:pPr marL="0" indent="0" algn="ctr">
              <a:buNone/>
            </a:pPr>
            <a:r>
              <a:rPr lang="en-US" sz="1350" b="1">
                <a:solidFill>
                  <a:srgbClr val="102A43"/>
                </a:solidFill>
              </a:rPr>
              <a:t>Key output: Winter Basketball has the highest total scoring activity.</a:t>
            </a:r>
            <a:endParaRPr lang="en-US" sz="1350"/>
          </a:p>
        </p:txBody>
      </p:sp>
      <p:sp>
        <p:nvSpPr>
          <p:cNvPr id="15" name="Text 13"/>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10</a:t>
            </a:r>
            <a:endParaRPr lang="en-US" sz="750"/>
          </a:p>
        </p:txBody>
      </p:sp>
      <p:pic>
        <p:nvPicPr>
          <p:cNvPr id="16" name="Picture 15" descr="A screenshot of a sports report&#10;&#10;AI-generated content may be incorrect.">
            <a:extLst>
              <a:ext uri="{FF2B5EF4-FFF2-40B4-BE49-F238E27FC236}">
                <a16:creationId xmlns:a16="http://schemas.microsoft.com/office/drawing/2014/main" id="{E14B79AA-EB8B-9293-D041-EF40EB884CE0}"/>
              </a:ext>
            </a:extLst>
          </p:cNvPr>
          <p:cNvPicPr>
            <a:picLocks noChangeAspect="1"/>
          </p:cNvPicPr>
          <p:nvPr/>
        </p:nvPicPr>
        <p:blipFill>
          <a:blip r:embed="rId3"/>
          <a:stretch>
            <a:fillRect/>
          </a:stretch>
        </p:blipFill>
        <p:spPr>
          <a:xfrm>
            <a:off x="4730995" y="1203448"/>
            <a:ext cx="7008933" cy="3595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QUERY DEMONSTRATION — DALTON J OPUDO</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Query 2: Unique Coach Assignments</a:t>
            </a:r>
            <a:endParaRPr lang="en-US" sz="2700"/>
          </a:p>
        </p:txBody>
      </p:sp>
      <p:sp>
        <p:nvSpPr>
          <p:cNvPr id="5" name="Shape 3"/>
          <p:cNvSpPr/>
          <p:nvPr/>
        </p:nvSpPr>
        <p:spPr>
          <a:xfrm>
            <a:off x="658368" y="1097280"/>
            <a:ext cx="2304288" cy="310896"/>
          </a:xfrm>
          <a:prstGeom prst="roundRect">
            <a:avLst>
              <a:gd name="adj" fmla="val 23529"/>
            </a:avLst>
          </a:prstGeom>
          <a:solidFill>
            <a:srgbClr val="2F855A"/>
          </a:solidFill>
          <a:ln w="12700">
            <a:solidFill>
              <a:srgbClr val="2F855A"/>
            </a:solidFill>
            <a:prstDash val="solid"/>
          </a:ln>
        </p:spPr>
      </p:sp>
      <p:sp>
        <p:nvSpPr>
          <p:cNvPr id="6" name="Text 4"/>
          <p:cNvSpPr/>
          <p:nvPr/>
        </p:nvSpPr>
        <p:spPr>
          <a:xfrm>
            <a:off x="749808" y="1170432"/>
            <a:ext cx="2121408" cy="146304"/>
          </a:xfrm>
          <a:prstGeom prst="rect">
            <a:avLst/>
          </a:prstGeom>
          <a:noFill/>
          <a:ln/>
        </p:spPr>
        <p:txBody>
          <a:bodyPr wrap="square" lIns="0" tIns="0" rIns="0" bIns="0" rtlCol="0" anchor="ctr">
            <a:normAutofit/>
          </a:bodyPr>
          <a:lstStyle/>
          <a:p>
            <a:pPr marL="0" indent="0" algn="ctr">
              <a:buNone/>
            </a:pPr>
            <a:r>
              <a:rPr lang="en-US" sz="850" b="1">
                <a:solidFill>
                  <a:srgbClr val="FFFFFF"/>
                </a:solidFill>
              </a:rPr>
              <a:t>JOIN + CONCAT + DISTINCT</a:t>
            </a:r>
            <a:endParaRPr lang="en-US" sz="850"/>
          </a:p>
        </p:txBody>
      </p:sp>
      <p:sp>
        <p:nvSpPr>
          <p:cNvPr id="7" name="Text 5"/>
          <p:cNvSpPr/>
          <p:nvPr/>
        </p:nvSpPr>
        <p:spPr>
          <a:xfrm>
            <a:off x="685800" y="1664208"/>
            <a:ext cx="2468880" cy="256032"/>
          </a:xfrm>
          <a:prstGeom prst="rect">
            <a:avLst/>
          </a:prstGeom>
          <a:noFill/>
          <a:ln/>
        </p:spPr>
        <p:txBody>
          <a:bodyPr wrap="square" lIns="0" tIns="0" rIns="0" bIns="0" rtlCol="0" anchor="ctr"/>
          <a:lstStyle/>
          <a:p>
            <a:pPr marL="0" indent="0">
              <a:buNone/>
            </a:pPr>
            <a:r>
              <a:rPr lang="en-US" sz="1500" b="1">
                <a:solidFill>
                  <a:srgbClr val="102A43"/>
                </a:solidFill>
              </a:rPr>
              <a:t>Business rationale</a:t>
            </a:r>
            <a:endParaRPr lang="en-US" sz="1500"/>
          </a:p>
        </p:txBody>
      </p:sp>
      <p:sp>
        <p:nvSpPr>
          <p:cNvPr id="8" name="Text 6"/>
          <p:cNvSpPr/>
          <p:nvPr/>
        </p:nvSpPr>
        <p:spPr>
          <a:xfrm>
            <a:off x="685800" y="1993392"/>
            <a:ext cx="3703320" cy="1170432"/>
          </a:xfrm>
          <a:prstGeom prst="rect">
            <a:avLst/>
          </a:prstGeom>
          <a:noFill/>
          <a:ln/>
        </p:spPr>
        <p:txBody>
          <a:bodyPr wrap="square" lIns="254" tIns="254" rIns="254" bIns="254" rtlCol="0" anchor="t">
            <a:normAutofit/>
          </a:bodyPr>
          <a:lstStyle/>
          <a:p>
            <a:r>
              <a:rPr lang="en-US" sz="1350">
                <a:solidFill>
                  <a:srgbClr val="1A202C"/>
                </a:solidFill>
              </a:rPr>
              <a:t>Lists unique coaches, teams, and seasons</a:t>
            </a:r>
            <a:endParaRPr lang="en-US" sz="1350"/>
          </a:p>
          <a:p>
            <a:r>
              <a:rPr lang="en-US" sz="1350">
                <a:solidFill>
                  <a:srgbClr val="1A202C"/>
                </a:solidFill>
              </a:rPr>
              <a:t>Converts IDs into readable names</a:t>
            </a:r>
            <a:endParaRPr lang="en-US" sz="1350"/>
          </a:p>
          <a:p>
            <a:r>
              <a:rPr lang="en-US" sz="1350">
                <a:solidFill>
                  <a:srgbClr val="1A202C"/>
                </a:solidFill>
              </a:rPr>
              <a:t>Prevents confusion over assignments</a:t>
            </a:r>
            <a:endParaRPr lang="en-US" sz="1350"/>
          </a:p>
        </p:txBody>
      </p:sp>
      <p:sp>
        <p:nvSpPr>
          <p:cNvPr id="9" name="Text 7"/>
          <p:cNvSpPr/>
          <p:nvPr/>
        </p:nvSpPr>
        <p:spPr>
          <a:xfrm>
            <a:off x="685800" y="3611880"/>
            <a:ext cx="2468880" cy="256032"/>
          </a:xfrm>
          <a:prstGeom prst="rect">
            <a:avLst/>
          </a:prstGeom>
          <a:noFill/>
          <a:ln/>
        </p:spPr>
        <p:txBody>
          <a:bodyPr wrap="square" lIns="0" tIns="0" rIns="0" bIns="0" rtlCol="0" anchor="ctr"/>
          <a:lstStyle/>
          <a:p>
            <a:pPr marL="0" indent="0">
              <a:buNone/>
            </a:pPr>
            <a:r>
              <a:rPr lang="en-US" sz="1500" b="1">
                <a:solidFill>
                  <a:srgbClr val="102A43"/>
                </a:solidFill>
              </a:rPr>
              <a:t>Real-world use</a:t>
            </a:r>
            <a:endParaRPr lang="en-US" sz="1500"/>
          </a:p>
        </p:txBody>
      </p:sp>
      <p:sp>
        <p:nvSpPr>
          <p:cNvPr id="10" name="Text 8"/>
          <p:cNvSpPr/>
          <p:nvPr/>
        </p:nvSpPr>
        <p:spPr>
          <a:xfrm>
            <a:off x="685800" y="3977640"/>
            <a:ext cx="3794760" cy="804672"/>
          </a:xfrm>
          <a:prstGeom prst="rect">
            <a:avLst/>
          </a:prstGeom>
          <a:noFill/>
          <a:ln/>
        </p:spPr>
        <p:txBody>
          <a:bodyPr wrap="square" lIns="0" tIns="0" rIns="0" bIns="0" rtlCol="0" anchor="ctr">
            <a:normAutofit/>
          </a:bodyPr>
          <a:lstStyle/>
          <a:p>
            <a:pPr marL="0" indent="0">
              <a:buNone/>
            </a:pPr>
            <a:r>
              <a:rPr lang="en-US" sz="1360">
                <a:solidFill>
                  <a:srgbClr val="4A5568"/>
                </a:solidFill>
              </a:rPr>
              <a:t>Administrative staff can confirm coach coverage before seasons begin and quickly find who is responsible for each team.</a:t>
            </a:r>
            <a:endParaRPr lang="en-US" sz="1360"/>
          </a:p>
        </p:txBody>
      </p:sp>
      <p:sp>
        <p:nvSpPr>
          <p:cNvPr id="12" name="Text 10"/>
          <p:cNvSpPr/>
          <p:nvPr/>
        </p:nvSpPr>
        <p:spPr>
          <a:xfrm>
            <a:off x="4846320" y="1316736"/>
            <a:ext cx="6775704" cy="3209544"/>
          </a:xfrm>
          <a:prstGeom prst="rect">
            <a:avLst/>
          </a:prstGeom>
          <a:noFill/>
          <a:ln/>
        </p:spPr>
        <p:txBody>
          <a:bodyPr wrap="square" lIns="0" tIns="0" rIns="0" bIns="0" rtlCol="0" anchor="t">
            <a:normAutofit/>
          </a:bodyPr>
          <a:lstStyle/>
          <a:p>
            <a:pPr marL="0" indent="0">
              <a:buNone/>
            </a:pPr>
            <a:endParaRPr lang="en-US" sz="800">
              <a:solidFill>
                <a:srgbClr val="1A202C"/>
              </a:solidFill>
              <a:latin typeface="Courier New"/>
              <a:cs typeface="Courier New"/>
            </a:endParaRPr>
          </a:p>
        </p:txBody>
      </p:sp>
      <p:sp>
        <p:nvSpPr>
          <p:cNvPr id="13" name="Shape 11"/>
          <p:cNvSpPr/>
          <p:nvPr/>
        </p:nvSpPr>
        <p:spPr>
          <a:xfrm>
            <a:off x="5074920" y="5654040"/>
            <a:ext cx="6309360" cy="530352"/>
          </a:xfrm>
          <a:prstGeom prst="roundRect">
            <a:avLst>
              <a:gd name="adj" fmla="val 13793"/>
            </a:avLst>
          </a:prstGeom>
          <a:solidFill>
            <a:srgbClr val="E6F4EA"/>
          </a:solidFill>
          <a:ln w="12700">
            <a:solidFill>
              <a:srgbClr val="B7E4C7"/>
            </a:solidFill>
            <a:prstDash val="solid"/>
          </a:ln>
        </p:spPr>
      </p:sp>
      <p:sp>
        <p:nvSpPr>
          <p:cNvPr id="14" name="Text 12"/>
          <p:cNvSpPr/>
          <p:nvPr/>
        </p:nvSpPr>
        <p:spPr>
          <a:xfrm>
            <a:off x="5285232" y="5809488"/>
            <a:ext cx="5897880" cy="182880"/>
          </a:xfrm>
          <a:prstGeom prst="rect">
            <a:avLst/>
          </a:prstGeom>
          <a:noFill/>
          <a:ln/>
        </p:spPr>
        <p:txBody>
          <a:bodyPr wrap="square" lIns="0" tIns="0" rIns="0" bIns="0" rtlCol="0" anchor="ctr">
            <a:normAutofit/>
          </a:bodyPr>
          <a:lstStyle/>
          <a:p>
            <a:pPr marL="0" indent="0" algn="ctr">
              <a:buNone/>
            </a:pPr>
            <a:r>
              <a:rPr lang="en-US" sz="1350" b="1">
                <a:solidFill>
                  <a:srgbClr val="102A43"/>
                </a:solidFill>
              </a:rPr>
              <a:t>Key output: each coach is tied to a readable team and season.</a:t>
            </a:r>
            <a:endParaRPr lang="en-US" sz="1350"/>
          </a:p>
        </p:txBody>
      </p:sp>
      <p:sp>
        <p:nvSpPr>
          <p:cNvPr id="15" name="Text 13"/>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11</a:t>
            </a:r>
            <a:endParaRPr lang="en-US" sz="750"/>
          </a:p>
        </p:txBody>
      </p:sp>
      <p:pic>
        <p:nvPicPr>
          <p:cNvPr id="17" name="Picture 16">
            <a:extLst>
              <a:ext uri="{FF2B5EF4-FFF2-40B4-BE49-F238E27FC236}">
                <a16:creationId xmlns:a16="http://schemas.microsoft.com/office/drawing/2014/main" id="{E1E8A50C-4DFA-4CF3-B26B-09AADC7932E1}"/>
              </a:ext>
            </a:extLst>
          </p:cNvPr>
          <p:cNvPicPr>
            <a:picLocks noChangeAspect="1"/>
          </p:cNvPicPr>
          <p:nvPr/>
        </p:nvPicPr>
        <p:blipFill>
          <a:blip r:embed="rId3"/>
          <a:stretch>
            <a:fillRect/>
          </a:stretch>
        </p:blipFill>
        <p:spPr>
          <a:xfrm>
            <a:off x="6090193" y="1101970"/>
            <a:ext cx="4044352" cy="43023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QUERY DEMONSTRATION — BRYAN VERA</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Query 3: Teams With No Losses</a:t>
            </a:r>
            <a:endParaRPr lang="en-US" sz="2700"/>
          </a:p>
        </p:txBody>
      </p:sp>
      <p:sp>
        <p:nvSpPr>
          <p:cNvPr id="5" name="Shape 3"/>
          <p:cNvSpPr/>
          <p:nvPr/>
        </p:nvSpPr>
        <p:spPr>
          <a:xfrm>
            <a:off x="658368" y="1097280"/>
            <a:ext cx="1828800" cy="310896"/>
          </a:xfrm>
          <a:prstGeom prst="roundRect">
            <a:avLst>
              <a:gd name="adj" fmla="val 23529"/>
            </a:avLst>
          </a:prstGeom>
          <a:solidFill>
            <a:srgbClr val="2F855A"/>
          </a:solidFill>
          <a:ln w="12700">
            <a:solidFill>
              <a:srgbClr val="2F855A"/>
            </a:solidFill>
            <a:prstDash val="solid"/>
          </a:ln>
        </p:spPr>
      </p:sp>
      <p:sp>
        <p:nvSpPr>
          <p:cNvPr id="6" name="Text 4"/>
          <p:cNvSpPr/>
          <p:nvPr/>
        </p:nvSpPr>
        <p:spPr>
          <a:xfrm>
            <a:off x="749808" y="1170432"/>
            <a:ext cx="1645920" cy="146304"/>
          </a:xfrm>
          <a:prstGeom prst="rect">
            <a:avLst/>
          </a:prstGeom>
          <a:noFill/>
          <a:ln/>
        </p:spPr>
        <p:txBody>
          <a:bodyPr wrap="square" lIns="0" tIns="0" rIns="0" bIns="0" rtlCol="0" anchor="ctr">
            <a:normAutofit/>
          </a:bodyPr>
          <a:lstStyle/>
          <a:p>
            <a:pPr marL="0" indent="0" algn="ctr">
              <a:buNone/>
            </a:pPr>
            <a:r>
              <a:rPr lang="en-US" sz="850" b="1">
                <a:solidFill>
                  <a:srgbClr val="FFFFFF"/>
                </a:solidFill>
              </a:rPr>
              <a:t>Subquery + UNION</a:t>
            </a:r>
            <a:endParaRPr lang="en-US" sz="850"/>
          </a:p>
        </p:txBody>
      </p:sp>
      <p:sp>
        <p:nvSpPr>
          <p:cNvPr id="7" name="Text 5"/>
          <p:cNvSpPr/>
          <p:nvPr/>
        </p:nvSpPr>
        <p:spPr>
          <a:xfrm>
            <a:off x="685800" y="1664208"/>
            <a:ext cx="2468880" cy="256032"/>
          </a:xfrm>
          <a:prstGeom prst="rect">
            <a:avLst/>
          </a:prstGeom>
          <a:noFill/>
          <a:ln/>
        </p:spPr>
        <p:txBody>
          <a:bodyPr wrap="square" lIns="0" tIns="0" rIns="0" bIns="0" rtlCol="0" anchor="ctr"/>
          <a:lstStyle/>
          <a:p>
            <a:pPr marL="0" indent="0">
              <a:buNone/>
            </a:pPr>
            <a:r>
              <a:rPr lang="en-US" sz="1500" b="1">
                <a:solidFill>
                  <a:srgbClr val="102A43"/>
                </a:solidFill>
              </a:rPr>
              <a:t>Business rationale</a:t>
            </a:r>
            <a:endParaRPr lang="en-US" sz="1500"/>
          </a:p>
        </p:txBody>
      </p:sp>
      <p:sp>
        <p:nvSpPr>
          <p:cNvPr id="8" name="Text 6"/>
          <p:cNvSpPr/>
          <p:nvPr/>
        </p:nvSpPr>
        <p:spPr>
          <a:xfrm>
            <a:off x="685800" y="1993392"/>
            <a:ext cx="3703320" cy="1170432"/>
          </a:xfrm>
          <a:prstGeom prst="rect">
            <a:avLst/>
          </a:prstGeom>
          <a:noFill/>
          <a:ln/>
        </p:spPr>
        <p:txBody>
          <a:bodyPr wrap="square" lIns="254" tIns="254" rIns="254" bIns="254" rtlCol="0" anchor="t">
            <a:normAutofit/>
          </a:bodyPr>
          <a:lstStyle/>
          <a:p>
            <a:r>
              <a:rPr lang="en-US" sz="1350">
                <a:solidFill>
                  <a:srgbClr val="1A202C"/>
                </a:solidFill>
              </a:rPr>
              <a:t>Identifies undefeated teams</a:t>
            </a:r>
            <a:endParaRPr lang="en-US" sz="1350"/>
          </a:p>
          <a:p>
            <a:r>
              <a:rPr lang="en-US" sz="1350">
                <a:solidFill>
                  <a:srgbClr val="1A202C"/>
                </a:solidFill>
              </a:rPr>
              <a:t>Supports standings and awards</a:t>
            </a:r>
            <a:endParaRPr lang="en-US" sz="1350"/>
          </a:p>
          <a:p>
            <a:r>
              <a:rPr lang="en-US" sz="1350">
                <a:solidFill>
                  <a:srgbClr val="1A202C"/>
                </a:solidFill>
              </a:rPr>
              <a:t>Checks both home and away losses</a:t>
            </a:r>
            <a:endParaRPr lang="en-US" sz="1350"/>
          </a:p>
        </p:txBody>
      </p:sp>
      <p:sp>
        <p:nvSpPr>
          <p:cNvPr id="9" name="Text 7"/>
          <p:cNvSpPr/>
          <p:nvPr/>
        </p:nvSpPr>
        <p:spPr>
          <a:xfrm>
            <a:off x="685800" y="3611880"/>
            <a:ext cx="2468880" cy="256032"/>
          </a:xfrm>
          <a:prstGeom prst="rect">
            <a:avLst/>
          </a:prstGeom>
          <a:noFill/>
          <a:ln/>
        </p:spPr>
        <p:txBody>
          <a:bodyPr wrap="square" lIns="0" tIns="0" rIns="0" bIns="0" rtlCol="0" anchor="ctr"/>
          <a:lstStyle/>
          <a:p>
            <a:pPr marL="0" indent="0">
              <a:buNone/>
            </a:pPr>
            <a:r>
              <a:rPr lang="en-US" sz="1500" b="1">
                <a:solidFill>
                  <a:srgbClr val="102A43"/>
                </a:solidFill>
              </a:rPr>
              <a:t>Real-world use</a:t>
            </a:r>
            <a:endParaRPr lang="en-US" sz="1500"/>
          </a:p>
        </p:txBody>
      </p:sp>
      <p:sp>
        <p:nvSpPr>
          <p:cNvPr id="10" name="Text 8"/>
          <p:cNvSpPr/>
          <p:nvPr/>
        </p:nvSpPr>
        <p:spPr>
          <a:xfrm>
            <a:off x="685800" y="3977640"/>
            <a:ext cx="3794760" cy="804672"/>
          </a:xfrm>
          <a:prstGeom prst="rect">
            <a:avLst/>
          </a:prstGeom>
          <a:noFill/>
          <a:ln/>
        </p:spPr>
        <p:txBody>
          <a:bodyPr wrap="square" lIns="0" tIns="0" rIns="0" bIns="0" rtlCol="0" anchor="ctr">
            <a:normAutofit/>
          </a:bodyPr>
          <a:lstStyle/>
          <a:p>
            <a:pPr marL="0" indent="0">
              <a:buNone/>
            </a:pPr>
            <a:r>
              <a:rPr lang="en-US" sz="1360">
                <a:solidFill>
                  <a:srgbClr val="4A5568"/>
                </a:solidFill>
              </a:rPr>
              <a:t>League leadership can quickly find standout teams, support playoff decisions, and publish standings updates.</a:t>
            </a:r>
            <a:endParaRPr lang="en-US" sz="1360"/>
          </a:p>
        </p:txBody>
      </p:sp>
      <p:sp>
        <p:nvSpPr>
          <p:cNvPr id="11" name="Shape 9"/>
          <p:cNvSpPr/>
          <p:nvPr/>
        </p:nvSpPr>
        <p:spPr>
          <a:xfrm>
            <a:off x="4736592" y="1207008"/>
            <a:ext cx="6995160" cy="3429000"/>
          </a:xfrm>
          <a:prstGeom prst="roundRect">
            <a:avLst>
              <a:gd name="adj" fmla="val 1333"/>
            </a:avLst>
          </a:prstGeom>
          <a:solidFill>
            <a:srgbClr val="FFFFFF"/>
          </a:solidFill>
          <a:ln w="10160">
            <a:solidFill>
              <a:srgbClr val="D1D5DB"/>
            </a:solidFill>
            <a:prstDash val="solid"/>
          </a:ln>
        </p:spPr>
      </p:sp>
      <p:sp>
        <p:nvSpPr>
          <p:cNvPr id="12" name="Text 10"/>
          <p:cNvSpPr/>
          <p:nvPr/>
        </p:nvSpPr>
        <p:spPr>
          <a:xfrm>
            <a:off x="4846320" y="1316736"/>
            <a:ext cx="6775704" cy="3209544"/>
          </a:xfrm>
          <a:prstGeom prst="rect">
            <a:avLst/>
          </a:prstGeom>
          <a:noFill/>
          <a:ln/>
        </p:spPr>
        <p:txBody>
          <a:bodyPr wrap="square" lIns="0" tIns="0" rIns="0" bIns="0" rtlCol="0" anchor="t">
            <a:normAutofit/>
          </a:bodyPr>
          <a:lstStyle/>
          <a:p>
            <a:pPr marL="0" indent="0">
              <a:buNone/>
            </a:pPr>
            <a:endParaRPr lang="en-US" sz="950">
              <a:solidFill>
                <a:srgbClr val="1A202C"/>
              </a:solidFill>
              <a:latin typeface="Courier New"/>
              <a:cs typeface="Courier New"/>
            </a:endParaRPr>
          </a:p>
        </p:txBody>
      </p:sp>
      <p:sp>
        <p:nvSpPr>
          <p:cNvPr id="13" name="Shape 11"/>
          <p:cNvSpPr/>
          <p:nvPr/>
        </p:nvSpPr>
        <p:spPr>
          <a:xfrm>
            <a:off x="5074920" y="4892040"/>
            <a:ext cx="6309360" cy="530352"/>
          </a:xfrm>
          <a:prstGeom prst="roundRect">
            <a:avLst>
              <a:gd name="adj" fmla="val 13793"/>
            </a:avLst>
          </a:prstGeom>
          <a:solidFill>
            <a:srgbClr val="E6F4EA"/>
          </a:solidFill>
          <a:ln w="12700">
            <a:solidFill>
              <a:srgbClr val="B7E4C7"/>
            </a:solidFill>
            <a:prstDash val="solid"/>
          </a:ln>
        </p:spPr>
      </p:sp>
      <p:sp>
        <p:nvSpPr>
          <p:cNvPr id="14" name="Text 12"/>
          <p:cNvSpPr/>
          <p:nvPr/>
        </p:nvSpPr>
        <p:spPr>
          <a:xfrm>
            <a:off x="5285232" y="5047488"/>
            <a:ext cx="5897880" cy="182880"/>
          </a:xfrm>
          <a:prstGeom prst="rect">
            <a:avLst/>
          </a:prstGeom>
          <a:noFill/>
          <a:ln/>
        </p:spPr>
        <p:txBody>
          <a:bodyPr wrap="square" lIns="0" tIns="0" rIns="0" bIns="0" rtlCol="0" anchor="ctr">
            <a:normAutofit/>
          </a:bodyPr>
          <a:lstStyle/>
          <a:p>
            <a:pPr marL="0" indent="0" algn="ctr">
              <a:buNone/>
            </a:pPr>
            <a:r>
              <a:rPr lang="en-US" sz="1350" b="1">
                <a:solidFill>
                  <a:srgbClr val="102A43"/>
                </a:solidFill>
              </a:rPr>
              <a:t>Key output: teams returned never appear on the losing side of a completed match.</a:t>
            </a:r>
            <a:endParaRPr lang="en-US" sz="1350"/>
          </a:p>
        </p:txBody>
      </p:sp>
      <p:sp>
        <p:nvSpPr>
          <p:cNvPr id="15" name="Text 13"/>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12</a:t>
            </a:r>
            <a:endParaRPr lang="en-US" sz="750"/>
          </a:p>
        </p:txBody>
      </p:sp>
      <p:pic>
        <p:nvPicPr>
          <p:cNvPr id="18" name="Picture 17" descr="A screenshot of a computer&#10;&#10;AI-generated content may be incorrect.">
            <a:extLst>
              <a:ext uri="{FF2B5EF4-FFF2-40B4-BE49-F238E27FC236}">
                <a16:creationId xmlns:a16="http://schemas.microsoft.com/office/drawing/2014/main" id="{216A1364-6377-C88D-BBC7-411271288E0B}"/>
              </a:ext>
            </a:extLst>
          </p:cNvPr>
          <p:cNvPicPr>
            <a:picLocks noChangeAspect="1"/>
          </p:cNvPicPr>
          <p:nvPr/>
        </p:nvPicPr>
        <p:blipFill>
          <a:blip r:embed="rId3"/>
          <a:stretch>
            <a:fillRect/>
          </a:stretch>
        </p:blipFill>
        <p:spPr>
          <a:xfrm>
            <a:off x="7281498" y="1202349"/>
            <a:ext cx="1907931" cy="34333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QUERY DEMONSTRATION — LANCE LAMON MARTIN</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Query 4: Match Results by Most Recent Date</a:t>
            </a:r>
            <a:endParaRPr lang="en-US" sz="2700"/>
          </a:p>
        </p:txBody>
      </p:sp>
      <p:sp>
        <p:nvSpPr>
          <p:cNvPr id="5" name="Shape 3"/>
          <p:cNvSpPr/>
          <p:nvPr/>
        </p:nvSpPr>
        <p:spPr>
          <a:xfrm>
            <a:off x="658368" y="1097280"/>
            <a:ext cx="1828800" cy="310896"/>
          </a:xfrm>
          <a:prstGeom prst="roundRect">
            <a:avLst>
              <a:gd name="adj" fmla="val 23529"/>
            </a:avLst>
          </a:prstGeom>
          <a:solidFill>
            <a:srgbClr val="2F855A"/>
          </a:solidFill>
          <a:ln w="12700">
            <a:solidFill>
              <a:srgbClr val="2F855A"/>
            </a:solidFill>
            <a:prstDash val="solid"/>
          </a:ln>
        </p:spPr>
      </p:sp>
      <p:sp>
        <p:nvSpPr>
          <p:cNvPr id="6" name="Text 4"/>
          <p:cNvSpPr/>
          <p:nvPr/>
        </p:nvSpPr>
        <p:spPr>
          <a:xfrm>
            <a:off x="749808" y="1170432"/>
            <a:ext cx="1645920" cy="146304"/>
          </a:xfrm>
          <a:prstGeom prst="rect">
            <a:avLst/>
          </a:prstGeom>
          <a:noFill/>
          <a:ln/>
        </p:spPr>
        <p:txBody>
          <a:bodyPr wrap="square" lIns="0" tIns="0" rIns="0" bIns="0" rtlCol="0" anchor="ctr">
            <a:normAutofit/>
          </a:bodyPr>
          <a:lstStyle/>
          <a:p>
            <a:pPr marL="0" indent="0" algn="ctr">
              <a:buNone/>
            </a:pPr>
            <a:r>
              <a:rPr lang="en-US" sz="850" b="1">
                <a:solidFill>
                  <a:srgbClr val="FFFFFF"/>
                </a:solidFill>
              </a:rPr>
              <a:t>JOIN + ORDER BY</a:t>
            </a:r>
            <a:endParaRPr lang="en-US" sz="850"/>
          </a:p>
        </p:txBody>
      </p:sp>
      <p:sp>
        <p:nvSpPr>
          <p:cNvPr id="7" name="Text 5"/>
          <p:cNvSpPr/>
          <p:nvPr/>
        </p:nvSpPr>
        <p:spPr>
          <a:xfrm>
            <a:off x="685800" y="1664208"/>
            <a:ext cx="2468880" cy="256032"/>
          </a:xfrm>
          <a:prstGeom prst="rect">
            <a:avLst/>
          </a:prstGeom>
          <a:noFill/>
          <a:ln/>
        </p:spPr>
        <p:txBody>
          <a:bodyPr wrap="square" lIns="0" tIns="0" rIns="0" bIns="0" rtlCol="0" anchor="ctr"/>
          <a:lstStyle/>
          <a:p>
            <a:pPr marL="0" indent="0">
              <a:buNone/>
            </a:pPr>
            <a:r>
              <a:rPr lang="en-US" sz="1500" b="1">
                <a:solidFill>
                  <a:srgbClr val="102A43"/>
                </a:solidFill>
              </a:rPr>
              <a:t>Business rationale</a:t>
            </a:r>
            <a:endParaRPr lang="en-US" sz="1500"/>
          </a:p>
        </p:txBody>
      </p:sp>
      <p:sp>
        <p:nvSpPr>
          <p:cNvPr id="8" name="Text 6"/>
          <p:cNvSpPr/>
          <p:nvPr/>
        </p:nvSpPr>
        <p:spPr>
          <a:xfrm>
            <a:off x="685800" y="1993392"/>
            <a:ext cx="3703320" cy="1170432"/>
          </a:xfrm>
          <a:prstGeom prst="rect">
            <a:avLst/>
          </a:prstGeom>
          <a:noFill/>
          <a:ln/>
        </p:spPr>
        <p:txBody>
          <a:bodyPr wrap="square" lIns="254" tIns="254" rIns="254" bIns="254" rtlCol="0" anchor="t">
            <a:normAutofit/>
          </a:bodyPr>
          <a:lstStyle/>
          <a:p>
            <a:r>
              <a:rPr lang="en-US" sz="1350">
                <a:solidFill>
                  <a:srgbClr val="1A202C"/>
                </a:solidFill>
              </a:rPr>
              <a:t>Shows recent matches first</a:t>
            </a:r>
            <a:endParaRPr lang="en-US" sz="1350"/>
          </a:p>
          <a:p>
            <a:r>
              <a:rPr lang="en-US" sz="1350">
                <a:solidFill>
                  <a:srgbClr val="1A202C"/>
                </a:solidFill>
              </a:rPr>
              <a:t>Uses team names instead of IDs</a:t>
            </a:r>
            <a:endParaRPr lang="en-US" sz="1350"/>
          </a:p>
          <a:p>
            <a:r>
              <a:rPr lang="en-US" sz="1350">
                <a:solidFill>
                  <a:srgbClr val="1A202C"/>
                </a:solidFill>
              </a:rPr>
              <a:t>Combines schedules and results</a:t>
            </a:r>
            <a:endParaRPr lang="en-US" sz="1350"/>
          </a:p>
        </p:txBody>
      </p:sp>
      <p:sp>
        <p:nvSpPr>
          <p:cNvPr id="9" name="Text 7"/>
          <p:cNvSpPr/>
          <p:nvPr/>
        </p:nvSpPr>
        <p:spPr>
          <a:xfrm>
            <a:off x="685800" y="3611880"/>
            <a:ext cx="2468880" cy="256032"/>
          </a:xfrm>
          <a:prstGeom prst="rect">
            <a:avLst/>
          </a:prstGeom>
          <a:noFill/>
          <a:ln/>
        </p:spPr>
        <p:txBody>
          <a:bodyPr wrap="square" lIns="0" tIns="0" rIns="0" bIns="0" rtlCol="0" anchor="ctr"/>
          <a:lstStyle/>
          <a:p>
            <a:pPr marL="0" indent="0">
              <a:buNone/>
            </a:pPr>
            <a:r>
              <a:rPr lang="en-US" sz="1500" b="1">
                <a:solidFill>
                  <a:srgbClr val="102A43"/>
                </a:solidFill>
              </a:rPr>
              <a:t>Real-world use</a:t>
            </a:r>
            <a:endParaRPr lang="en-US" sz="1500"/>
          </a:p>
        </p:txBody>
      </p:sp>
      <p:sp>
        <p:nvSpPr>
          <p:cNvPr id="10" name="Text 8"/>
          <p:cNvSpPr/>
          <p:nvPr/>
        </p:nvSpPr>
        <p:spPr>
          <a:xfrm>
            <a:off x="685800" y="3977640"/>
            <a:ext cx="3794760" cy="804672"/>
          </a:xfrm>
          <a:prstGeom prst="rect">
            <a:avLst/>
          </a:prstGeom>
          <a:noFill/>
          <a:ln/>
        </p:spPr>
        <p:txBody>
          <a:bodyPr wrap="square" lIns="0" tIns="0" rIns="0" bIns="0" rtlCol="0" anchor="ctr">
            <a:normAutofit/>
          </a:bodyPr>
          <a:lstStyle/>
          <a:p>
            <a:pPr marL="0" indent="0">
              <a:buNone/>
            </a:pPr>
            <a:r>
              <a:rPr lang="en-US" sz="1360">
                <a:solidFill>
                  <a:srgbClr val="4A5568"/>
                </a:solidFill>
              </a:rPr>
              <a:t>Families, coaches, and staff can see the latest game outcomes and upcoming scheduled games.</a:t>
            </a:r>
            <a:endParaRPr lang="en-US" sz="1360"/>
          </a:p>
        </p:txBody>
      </p:sp>
      <p:sp>
        <p:nvSpPr>
          <p:cNvPr id="12" name="Text 10"/>
          <p:cNvSpPr/>
          <p:nvPr/>
        </p:nvSpPr>
        <p:spPr>
          <a:xfrm>
            <a:off x="4846320" y="1316736"/>
            <a:ext cx="6775704" cy="3209544"/>
          </a:xfrm>
          <a:prstGeom prst="rect">
            <a:avLst/>
          </a:prstGeom>
          <a:noFill/>
          <a:ln/>
        </p:spPr>
        <p:txBody>
          <a:bodyPr wrap="square" lIns="0" tIns="0" rIns="0" bIns="0" rtlCol="0" anchor="t">
            <a:normAutofit/>
          </a:bodyPr>
          <a:lstStyle/>
          <a:p>
            <a:pPr marL="0" indent="0">
              <a:buNone/>
            </a:pPr>
            <a:endParaRPr lang="en-US" sz="700">
              <a:solidFill>
                <a:srgbClr val="1A202C"/>
              </a:solidFill>
              <a:latin typeface="Courier New"/>
              <a:cs typeface="Courier New"/>
            </a:endParaRPr>
          </a:p>
        </p:txBody>
      </p:sp>
      <p:sp>
        <p:nvSpPr>
          <p:cNvPr id="13" name="Shape 11"/>
          <p:cNvSpPr/>
          <p:nvPr/>
        </p:nvSpPr>
        <p:spPr>
          <a:xfrm>
            <a:off x="268458" y="4997548"/>
            <a:ext cx="4820530" cy="928936"/>
          </a:xfrm>
          <a:prstGeom prst="roundRect">
            <a:avLst>
              <a:gd name="adj" fmla="val 13793"/>
            </a:avLst>
          </a:prstGeom>
          <a:solidFill>
            <a:srgbClr val="E6F4EA"/>
          </a:solidFill>
          <a:ln w="12700">
            <a:solidFill>
              <a:srgbClr val="B7E4C7"/>
            </a:solidFill>
            <a:prstDash val="solid"/>
          </a:ln>
        </p:spPr>
      </p:sp>
      <p:sp>
        <p:nvSpPr>
          <p:cNvPr id="14" name="Text 12"/>
          <p:cNvSpPr/>
          <p:nvPr/>
        </p:nvSpPr>
        <p:spPr>
          <a:xfrm>
            <a:off x="502216" y="5164719"/>
            <a:ext cx="4479388" cy="604910"/>
          </a:xfrm>
          <a:prstGeom prst="rect">
            <a:avLst/>
          </a:prstGeom>
          <a:noFill/>
          <a:ln/>
        </p:spPr>
        <p:txBody>
          <a:bodyPr wrap="square" lIns="0" tIns="0" rIns="0" bIns="0" rtlCol="0" anchor="ctr">
            <a:normAutofit/>
          </a:bodyPr>
          <a:lstStyle/>
          <a:p>
            <a:pPr marL="0" indent="0" algn="ctr">
              <a:buNone/>
            </a:pPr>
            <a:r>
              <a:rPr lang="en-US" sz="1350" b="1">
                <a:solidFill>
                  <a:srgbClr val="102A43"/>
                </a:solidFill>
              </a:rPr>
              <a:t>Key output: scheduled games can appear before scores are entered.</a:t>
            </a:r>
            <a:endParaRPr lang="en-US" sz="1350"/>
          </a:p>
        </p:txBody>
      </p:sp>
      <p:sp>
        <p:nvSpPr>
          <p:cNvPr id="15" name="Text 13"/>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13</a:t>
            </a:r>
            <a:endParaRPr lang="en-US" sz="750"/>
          </a:p>
        </p:txBody>
      </p:sp>
      <p:pic>
        <p:nvPicPr>
          <p:cNvPr id="16" name="Picture 15">
            <a:extLst>
              <a:ext uri="{FF2B5EF4-FFF2-40B4-BE49-F238E27FC236}">
                <a16:creationId xmlns:a16="http://schemas.microsoft.com/office/drawing/2014/main" id="{74F9A4DF-BE9C-8193-9707-CF32AAB00951}"/>
              </a:ext>
            </a:extLst>
          </p:cNvPr>
          <p:cNvPicPr>
            <a:picLocks noChangeAspect="1"/>
          </p:cNvPicPr>
          <p:nvPr/>
        </p:nvPicPr>
        <p:blipFill>
          <a:blip r:embed="rId3"/>
          <a:stretch>
            <a:fillRect/>
          </a:stretch>
        </p:blipFill>
        <p:spPr>
          <a:xfrm>
            <a:off x="5487866" y="1071197"/>
            <a:ext cx="6210300" cy="50673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QUERY DEMONSTRATION — CAMERON BERGERON</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Query 5: Readable Match Results Report</a:t>
            </a:r>
            <a:endParaRPr lang="en-US" sz="2700"/>
          </a:p>
        </p:txBody>
      </p:sp>
      <p:sp>
        <p:nvSpPr>
          <p:cNvPr id="5" name="Shape 3"/>
          <p:cNvSpPr/>
          <p:nvPr/>
        </p:nvSpPr>
        <p:spPr>
          <a:xfrm>
            <a:off x="658368" y="1097280"/>
            <a:ext cx="1828800" cy="310896"/>
          </a:xfrm>
          <a:prstGeom prst="roundRect">
            <a:avLst>
              <a:gd name="adj" fmla="val 23529"/>
            </a:avLst>
          </a:prstGeom>
          <a:solidFill>
            <a:srgbClr val="2F855A"/>
          </a:solidFill>
          <a:ln w="12700">
            <a:solidFill>
              <a:srgbClr val="2F855A"/>
            </a:solidFill>
            <a:prstDash val="solid"/>
          </a:ln>
        </p:spPr>
      </p:sp>
      <p:sp>
        <p:nvSpPr>
          <p:cNvPr id="6" name="Text 4"/>
          <p:cNvSpPr/>
          <p:nvPr/>
        </p:nvSpPr>
        <p:spPr>
          <a:xfrm>
            <a:off x="749808" y="1170432"/>
            <a:ext cx="1645920" cy="146304"/>
          </a:xfrm>
          <a:prstGeom prst="rect">
            <a:avLst/>
          </a:prstGeom>
          <a:noFill/>
          <a:ln/>
        </p:spPr>
        <p:txBody>
          <a:bodyPr wrap="square" lIns="0" tIns="0" rIns="0" bIns="0" rtlCol="0" anchor="ctr">
            <a:normAutofit/>
          </a:bodyPr>
          <a:lstStyle/>
          <a:p>
            <a:pPr marL="0" indent="0" algn="ctr">
              <a:buNone/>
            </a:pPr>
            <a:r>
              <a:rPr lang="en-US" sz="850" b="1">
                <a:solidFill>
                  <a:srgbClr val="FFFFFF"/>
                </a:solidFill>
              </a:rPr>
              <a:t>JOIN + CONCAT score</a:t>
            </a:r>
            <a:endParaRPr lang="en-US" sz="850"/>
          </a:p>
        </p:txBody>
      </p:sp>
      <p:sp>
        <p:nvSpPr>
          <p:cNvPr id="7" name="Text 5"/>
          <p:cNvSpPr/>
          <p:nvPr/>
        </p:nvSpPr>
        <p:spPr>
          <a:xfrm>
            <a:off x="685800" y="1664208"/>
            <a:ext cx="2468880" cy="256032"/>
          </a:xfrm>
          <a:prstGeom prst="rect">
            <a:avLst/>
          </a:prstGeom>
          <a:noFill/>
          <a:ln/>
        </p:spPr>
        <p:txBody>
          <a:bodyPr wrap="square" lIns="0" tIns="0" rIns="0" bIns="0" rtlCol="0" anchor="ctr"/>
          <a:lstStyle/>
          <a:p>
            <a:pPr marL="0" indent="0">
              <a:buNone/>
            </a:pPr>
            <a:r>
              <a:rPr lang="en-US" sz="1500" b="1">
                <a:solidFill>
                  <a:srgbClr val="102A43"/>
                </a:solidFill>
              </a:rPr>
              <a:t>Business rationale</a:t>
            </a:r>
            <a:endParaRPr lang="en-US" sz="1500"/>
          </a:p>
        </p:txBody>
      </p:sp>
      <p:sp>
        <p:nvSpPr>
          <p:cNvPr id="8" name="Text 6"/>
          <p:cNvSpPr/>
          <p:nvPr/>
        </p:nvSpPr>
        <p:spPr>
          <a:xfrm>
            <a:off x="685800" y="1993392"/>
            <a:ext cx="3703320" cy="1170432"/>
          </a:xfrm>
          <a:prstGeom prst="rect">
            <a:avLst/>
          </a:prstGeom>
          <a:noFill/>
          <a:ln/>
        </p:spPr>
        <p:txBody>
          <a:bodyPr wrap="square" lIns="254" tIns="254" rIns="254" bIns="254" rtlCol="0" anchor="t">
            <a:normAutofit/>
          </a:bodyPr>
          <a:lstStyle/>
          <a:p>
            <a:r>
              <a:rPr lang="en-US" sz="1350">
                <a:solidFill>
                  <a:srgbClr val="1A202C"/>
                </a:solidFill>
              </a:rPr>
              <a:t>Shows date, location, teams, and score</a:t>
            </a:r>
            <a:endParaRPr lang="en-US" sz="1350"/>
          </a:p>
          <a:p>
            <a:r>
              <a:rPr lang="en-US" sz="1350">
                <a:solidFill>
                  <a:srgbClr val="1A202C"/>
                </a:solidFill>
              </a:rPr>
              <a:t>Creates a user-friendly final score field</a:t>
            </a:r>
            <a:endParaRPr lang="en-US" sz="1350"/>
          </a:p>
          <a:p>
            <a:r>
              <a:rPr lang="en-US" sz="1350">
                <a:solidFill>
                  <a:srgbClr val="1A202C"/>
                </a:solidFill>
              </a:rPr>
              <a:t>Separates scheduled and completed matches</a:t>
            </a:r>
            <a:endParaRPr lang="en-US" sz="1350"/>
          </a:p>
        </p:txBody>
      </p:sp>
      <p:sp>
        <p:nvSpPr>
          <p:cNvPr id="9" name="Text 7"/>
          <p:cNvSpPr/>
          <p:nvPr/>
        </p:nvSpPr>
        <p:spPr>
          <a:xfrm>
            <a:off x="685800" y="3611880"/>
            <a:ext cx="2468880" cy="256032"/>
          </a:xfrm>
          <a:prstGeom prst="rect">
            <a:avLst/>
          </a:prstGeom>
          <a:noFill/>
          <a:ln/>
        </p:spPr>
        <p:txBody>
          <a:bodyPr wrap="square" lIns="0" tIns="0" rIns="0" bIns="0" rtlCol="0" anchor="ctr"/>
          <a:lstStyle/>
          <a:p>
            <a:pPr marL="0" indent="0">
              <a:buNone/>
            </a:pPr>
            <a:r>
              <a:rPr lang="en-US" sz="1500" b="1">
                <a:solidFill>
                  <a:srgbClr val="102A43"/>
                </a:solidFill>
              </a:rPr>
              <a:t>Real-world use</a:t>
            </a:r>
            <a:endParaRPr lang="en-US" sz="1500"/>
          </a:p>
        </p:txBody>
      </p:sp>
      <p:sp>
        <p:nvSpPr>
          <p:cNvPr id="10" name="Text 8"/>
          <p:cNvSpPr/>
          <p:nvPr/>
        </p:nvSpPr>
        <p:spPr>
          <a:xfrm>
            <a:off x="685800" y="3977640"/>
            <a:ext cx="3794760" cy="804672"/>
          </a:xfrm>
          <a:prstGeom prst="rect">
            <a:avLst/>
          </a:prstGeom>
          <a:noFill/>
          <a:ln/>
        </p:spPr>
        <p:txBody>
          <a:bodyPr wrap="square" lIns="0" tIns="0" rIns="0" bIns="0" rtlCol="0" anchor="ctr">
            <a:normAutofit/>
          </a:bodyPr>
          <a:lstStyle/>
          <a:p>
            <a:pPr marL="0" indent="0">
              <a:buNone/>
            </a:pPr>
            <a:r>
              <a:rPr lang="en-US" sz="1360">
                <a:solidFill>
                  <a:srgbClr val="4A5568"/>
                </a:solidFill>
              </a:rPr>
              <a:t>League staff can publish or review match reports without looking across several tables.</a:t>
            </a:r>
            <a:endParaRPr lang="en-US" sz="1360"/>
          </a:p>
        </p:txBody>
      </p:sp>
      <p:sp>
        <p:nvSpPr>
          <p:cNvPr id="12" name="Text 10"/>
          <p:cNvSpPr/>
          <p:nvPr/>
        </p:nvSpPr>
        <p:spPr>
          <a:xfrm>
            <a:off x="4846320" y="1316736"/>
            <a:ext cx="6775704" cy="3209544"/>
          </a:xfrm>
          <a:prstGeom prst="rect">
            <a:avLst/>
          </a:prstGeom>
          <a:noFill/>
          <a:ln/>
        </p:spPr>
        <p:txBody>
          <a:bodyPr wrap="square" lIns="0" tIns="0" rIns="0" bIns="0" rtlCol="0" anchor="t">
            <a:normAutofit/>
          </a:bodyPr>
          <a:lstStyle/>
          <a:p>
            <a:pPr marL="0" indent="0">
              <a:buNone/>
            </a:pPr>
            <a:endParaRPr lang="en-US" sz="650">
              <a:solidFill>
                <a:srgbClr val="1A202C"/>
              </a:solidFill>
              <a:latin typeface="Courier New"/>
              <a:cs typeface="Courier New"/>
            </a:endParaRPr>
          </a:p>
        </p:txBody>
      </p:sp>
      <p:sp>
        <p:nvSpPr>
          <p:cNvPr id="13" name="Shape 11"/>
          <p:cNvSpPr/>
          <p:nvPr/>
        </p:nvSpPr>
        <p:spPr>
          <a:xfrm>
            <a:off x="198120" y="5232009"/>
            <a:ext cx="5031545" cy="823429"/>
          </a:xfrm>
          <a:prstGeom prst="roundRect">
            <a:avLst>
              <a:gd name="adj" fmla="val 13793"/>
            </a:avLst>
          </a:prstGeom>
          <a:solidFill>
            <a:srgbClr val="E6F4EA"/>
          </a:solidFill>
          <a:ln w="12700">
            <a:solidFill>
              <a:srgbClr val="B7E4C7"/>
            </a:solidFill>
            <a:prstDash val="solid"/>
          </a:ln>
        </p:spPr>
      </p:sp>
      <p:sp>
        <p:nvSpPr>
          <p:cNvPr id="14" name="Text 12"/>
          <p:cNvSpPr/>
          <p:nvPr/>
        </p:nvSpPr>
        <p:spPr>
          <a:xfrm>
            <a:off x="197417" y="5410904"/>
            <a:ext cx="5030373" cy="558017"/>
          </a:xfrm>
          <a:prstGeom prst="rect">
            <a:avLst/>
          </a:prstGeom>
          <a:noFill/>
          <a:ln/>
        </p:spPr>
        <p:txBody>
          <a:bodyPr wrap="square" lIns="0" tIns="0" rIns="0" bIns="0" rtlCol="0" anchor="ctr">
            <a:normAutofit/>
          </a:bodyPr>
          <a:lstStyle/>
          <a:p>
            <a:pPr marL="0" indent="0" algn="ctr">
              <a:buNone/>
            </a:pPr>
            <a:r>
              <a:rPr lang="en-US" sz="1350" b="1">
                <a:solidFill>
                  <a:srgbClr val="102A43"/>
                </a:solidFill>
              </a:rPr>
              <a:t>Key output: match details are combined into one readable report.</a:t>
            </a:r>
            <a:endParaRPr lang="en-US" sz="1350"/>
          </a:p>
        </p:txBody>
      </p:sp>
      <p:sp>
        <p:nvSpPr>
          <p:cNvPr id="15" name="Text 13"/>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14</a:t>
            </a:r>
            <a:endParaRPr lang="en-US" sz="750"/>
          </a:p>
        </p:txBody>
      </p:sp>
      <p:pic>
        <p:nvPicPr>
          <p:cNvPr id="16" name="Picture 15">
            <a:extLst>
              <a:ext uri="{FF2B5EF4-FFF2-40B4-BE49-F238E27FC236}">
                <a16:creationId xmlns:a16="http://schemas.microsoft.com/office/drawing/2014/main" id="{21DEF001-8E6C-AB5A-2B3B-19D291A20002}"/>
              </a:ext>
            </a:extLst>
          </p:cNvPr>
          <p:cNvPicPr>
            <a:picLocks noChangeAspect="1"/>
          </p:cNvPicPr>
          <p:nvPr/>
        </p:nvPicPr>
        <p:blipFill>
          <a:blip r:embed="rId3"/>
          <a:stretch>
            <a:fillRect/>
          </a:stretch>
        </p:blipFill>
        <p:spPr>
          <a:xfrm>
            <a:off x="5514242" y="1094277"/>
            <a:ext cx="6438900" cy="51149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QUERY DEMONSTRATION — CAMERON BERGERON</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Query 6: Coach Assignment With Contact Info</a:t>
            </a:r>
            <a:endParaRPr lang="en-US" sz="2700"/>
          </a:p>
        </p:txBody>
      </p:sp>
      <p:sp>
        <p:nvSpPr>
          <p:cNvPr id="5" name="Shape 3"/>
          <p:cNvSpPr/>
          <p:nvPr/>
        </p:nvSpPr>
        <p:spPr>
          <a:xfrm>
            <a:off x="658368" y="1097280"/>
            <a:ext cx="2784348" cy="310896"/>
          </a:xfrm>
          <a:prstGeom prst="roundRect">
            <a:avLst>
              <a:gd name="adj" fmla="val 23529"/>
            </a:avLst>
          </a:prstGeom>
          <a:solidFill>
            <a:srgbClr val="2F855A"/>
          </a:solidFill>
          <a:ln w="12700">
            <a:solidFill>
              <a:srgbClr val="2F855A"/>
            </a:solidFill>
            <a:prstDash val="solid"/>
          </a:ln>
        </p:spPr>
      </p:sp>
      <p:sp>
        <p:nvSpPr>
          <p:cNvPr id="6" name="Text 4"/>
          <p:cNvSpPr/>
          <p:nvPr/>
        </p:nvSpPr>
        <p:spPr>
          <a:xfrm>
            <a:off x="749808" y="1170432"/>
            <a:ext cx="2601468" cy="146304"/>
          </a:xfrm>
          <a:prstGeom prst="rect">
            <a:avLst/>
          </a:prstGeom>
          <a:noFill/>
          <a:ln/>
        </p:spPr>
        <p:txBody>
          <a:bodyPr wrap="square" lIns="0" tIns="0" rIns="0" bIns="0" rtlCol="0" anchor="ctr">
            <a:normAutofit/>
          </a:bodyPr>
          <a:lstStyle/>
          <a:p>
            <a:pPr marL="0" indent="0" algn="ctr">
              <a:buNone/>
            </a:pPr>
            <a:r>
              <a:rPr lang="en-US" sz="850" b="1">
                <a:solidFill>
                  <a:srgbClr val="FFFFFF"/>
                </a:solidFill>
              </a:rPr>
              <a:t>JOIN across assignment tables</a:t>
            </a:r>
            <a:endParaRPr lang="en-US" sz="850"/>
          </a:p>
        </p:txBody>
      </p:sp>
      <p:sp>
        <p:nvSpPr>
          <p:cNvPr id="7" name="Text 5"/>
          <p:cNvSpPr/>
          <p:nvPr/>
        </p:nvSpPr>
        <p:spPr>
          <a:xfrm>
            <a:off x="685800" y="1664208"/>
            <a:ext cx="2468880" cy="256032"/>
          </a:xfrm>
          <a:prstGeom prst="rect">
            <a:avLst/>
          </a:prstGeom>
          <a:noFill/>
          <a:ln/>
        </p:spPr>
        <p:txBody>
          <a:bodyPr wrap="square" lIns="0" tIns="0" rIns="0" bIns="0" rtlCol="0" anchor="ctr"/>
          <a:lstStyle/>
          <a:p>
            <a:pPr marL="0" indent="0">
              <a:buNone/>
            </a:pPr>
            <a:r>
              <a:rPr lang="en-US" sz="1500" b="1">
                <a:solidFill>
                  <a:srgbClr val="102A43"/>
                </a:solidFill>
              </a:rPr>
              <a:t>Business rationale</a:t>
            </a:r>
            <a:endParaRPr lang="en-US" sz="1500"/>
          </a:p>
        </p:txBody>
      </p:sp>
      <p:sp>
        <p:nvSpPr>
          <p:cNvPr id="8" name="Text 6"/>
          <p:cNvSpPr/>
          <p:nvPr/>
        </p:nvSpPr>
        <p:spPr>
          <a:xfrm>
            <a:off x="685800" y="1993392"/>
            <a:ext cx="3703320" cy="1170432"/>
          </a:xfrm>
          <a:prstGeom prst="rect">
            <a:avLst/>
          </a:prstGeom>
          <a:noFill/>
          <a:ln/>
        </p:spPr>
        <p:txBody>
          <a:bodyPr wrap="square" lIns="254" tIns="254" rIns="254" bIns="254" rtlCol="0" anchor="t">
            <a:normAutofit/>
          </a:bodyPr>
          <a:lstStyle/>
          <a:p>
            <a:r>
              <a:rPr lang="en-US" sz="1350">
                <a:solidFill>
                  <a:srgbClr val="1A202C"/>
                </a:solidFill>
              </a:rPr>
              <a:t>Shows coach, team, season, and division</a:t>
            </a:r>
            <a:endParaRPr lang="en-US" sz="1350"/>
          </a:p>
          <a:p>
            <a:r>
              <a:rPr lang="en-US" sz="1350">
                <a:solidFill>
                  <a:srgbClr val="1A202C"/>
                </a:solidFill>
              </a:rPr>
              <a:t>Includes phone number for contact needs</a:t>
            </a:r>
            <a:endParaRPr lang="en-US" sz="1350"/>
          </a:p>
          <a:p>
            <a:r>
              <a:rPr lang="en-US" sz="1350">
                <a:solidFill>
                  <a:srgbClr val="1A202C"/>
                </a:solidFill>
              </a:rPr>
              <a:t>Supports staffing and communication</a:t>
            </a:r>
            <a:endParaRPr lang="en-US" sz="1350"/>
          </a:p>
        </p:txBody>
      </p:sp>
      <p:sp>
        <p:nvSpPr>
          <p:cNvPr id="9" name="Text 7"/>
          <p:cNvSpPr/>
          <p:nvPr/>
        </p:nvSpPr>
        <p:spPr>
          <a:xfrm>
            <a:off x="685800" y="3611880"/>
            <a:ext cx="2468880" cy="256032"/>
          </a:xfrm>
          <a:prstGeom prst="rect">
            <a:avLst/>
          </a:prstGeom>
          <a:noFill/>
          <a:ln/>
        </p:spPr>
        <p:txBody>
          <a:bodyPr wrap="square" lIns="0" tIns="0" rIns="0" bIns="0" rtlCol="0" anchor="ctr"/>
          <a:lstStyle/>
          <a:p>
            <a:pPr marL="0" indent="0">
              <a:buNone/>
            </a:pPr>
            <a:r>
              <a:rPr lang="en-US" sz="1500" b="1">
                <a:solidFill>
                  <a:srgbClr val="102A43"/>
                </a:solidFill>
              </a:rPr>
              <a:t>Real-world use</a:t>
            </a:r>
            <a:endParaRPr lang="en-US" sz="1500"/>
          </a:p>
        </p:txBody>
      </p:sp>
      <p:sp>
        <p:nvSpPr>
          <p:cNvPr id="10" name="Text 8"/>
          <p:cNvSpPr/>
          <p:nvPr/>
        </p:nvSpPr>
        <p:spPr>
          <a:xfrm>
            <a:off x="685800" y="3977640"/>
            <a:ext cx="3794760" cy="804672"/>
          </a:xfrm>
          <a:prstGeom prst="rect">
            <a:avLst/>
          </a:prstGeom>
          <a:noFill/>
          <a:ln/>
        </p:spPr>
        <p:txBody>
          <a:bodyPr wrap="square" lIns="0" tIns="0" rIns="0" bIns="0" rtlCol="0" anchor="ctr">
            <a:normAutofit/>
          </a:bodyPr>
          <a:lstStyle/>
          <a:p>
            <a:pPr marL="0" indent="0">
              <a:buNone/>
            </a:pPr>
            <a:r>
              <a:rPr lang="en-US" sz="1360">
                <a:solidFill>
                  <a:srgbClr val="4A5568"/>
                </a:solidFill>
              </a:rPr>
              <a:t>Administrators can contact the correct coach for schedule changes, roster issues, or match updates.</a:t>
            </a:r>
            <a:endParaRPr lang="en-US" sz="1360"/>
          </a:p>
        </p:txBody>
      </p:sp>
      <p:sp>
        <p:nvSpPr>
          <p:cNvPr id="13" name="Shape 11"/>
          <p:cNvSpPr/>
          <p:nvPr/>
        </p:nvSpPr>
        <p:spPr>
          <a:xfrm>
            <a:off x="5039751" y="5513363"/>
            <a:ext cx="6309360" cy="530352"/>
          </a:xfrm>
          <a:prstGeom prst="roundRect">
            <a:avLst>
              <a:gd name="adj" fmla="val 13793"/>
            </a:avLst>
          </a:prstGeom>
          <a:solidFill>
            <a:srgbClr val="E6F4EA"/>
          </a:solidFill>
          <a:ln w="12700">
            <a:solidFill>
              <a:srgbClr val="B7E4C7"/>
            </a:solidFill>
            <a:prstDash val="solid"/>
          </a:ln>
        </p:spPr>
      </p:sp>
      <p:sp>
        <p:nvSpPr>
          <p:cNvPr id="14" name="Text 12"/>
          <p:cNvSpPr/>
          <p:nvPr/>
        </p:nvSpPr>
        <p:spPr>
          <a:xfrm>
            <a:off x="5250063" y="5668811"/>
            <a:ext cx="5897880" cy="182880"/>
          </a:xfrm>
          <a:prstGeom prst="rect">
            <a:avLst/>
          </a:prstGeom>
          <a:noFill/>
          <a:ln/>
        </p:spPr>
        <p:txBody>
          <a:bodyPr wrap="square" lIns="0" tIns="0" rIns="0" bIns="0" rtlCol="0" anchor="ctr">
            <a:normAutofit/>
          </a:bodyPr>
          <a:lstStyle/>
          <a:p>
            <a:pPr marL="0" indent="0" algn="ctr">
              <a:buNone/>
            </a:pPr>
            <a:r>
              <a:rPr lang="en-US" sz="1350" b="1">
                <a:solidFill>
                  <a:srgbClr val="102A43"/>
                </a:solidFill>
              </a:rPr>
              <a:t>Key output: each team-season has a clear coach contact.</a:t>
            </a:r>
            <a:endParaRPr lang="en-US" sz="1350"/>
          </a:p>
        </p:txBody>
      </p:sp>
      <p:sp>
        <p:nvSpPr>
          <p:cNvPr id="15" name="Text 13"/>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15</a:t>
            </a:r>
            <a:endParaRPr lang="en-US" sz="750"/>
          </a:p>
        </p:txBody>
      </p:sp>
      <p:pic>
        <p:nvPicPr>
          <p:cNvPr id="16" name="Picture 15">
            <a:extLst>
              <a:ext uri="{FF2B5EF4-FFF2-40B4-BE49-F238E27FC236}">
                <a16:creationId xmlns:a16="http://schemas.microsoft.com/office/drawing/2014/main" id="{41225E26-490D-2D7F-F306-15DF187C0CF5}"/>
              </a:ext>
            </a:extLst>
          </p:cNvPr>
          <p:cNvPicPr>
            <a:picLocks noChangeAspect="1"/>
          </p:cNvPicPr>
          <p:nvPr/>
        </p:nvPicPr>
        <p:blipFill>
          <a:blip r:embed="rId3"/>
          <a:stretch>
            <a:fillRect/>
          </a:stretch>
        </p:blipFill>
        <p:spPr>
          <a:xfrm>
            <a:off x="5760793" y="1252171"/>
            <a:ext cx="4867275" cy="40957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QUERY DEMONSTRATION — DALTON J OPUDO</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Query 7: Total Goals by Player</a:t>
            </a:r>
            <a:endParaRPr lang="en-US" sz="2700"/>
          </a:p>
        </p:txBody>
      </p:sp>
      <p:sp>
        <p:nvSpPr>
          <p:cNvPr id="5" name="Shape 3"/>
          <p:cNvSpPr/>
          <p:nvPr/>
        </p:nvSpPr>
        <p:spPr>
          <a:xfrm>
            <a:off x="658368" y="1097280"/>
            <a:ext cx="1828800" cy="310896"/>
          </a:xfrm>
          <a:prstGeom prst="roundRect">
            <a:avLst>
              <a:gd name="adj" fmla="val 23529"/>
            </a:avLst>
          </a:prstGeom>
          <a:solidFill>
            <a:srgbClr val="2F855A"/>
          </a:solidFill>
          <a:ln w="12700">
            <a:solidFill>
              <a:srgbClr val="2F855A"/>
            </a:solidFill>
            <a:prstDash val="solid"/>
          </a:ln>
        </p:spPr>
      </p:sp>
      <p:sp>
        <p:nvSpPr>
          <p:cNvPr id="6" name="Text 4"/>
          <p:cNvSpPr/>
          <p:nvPr/>
        </p:nvSpPr>
        <p:spPr>
          <a:xfrm>
            <a:off x="749808" y="1170432"/>
            <a:ext cx="1645920" cy="146304"/>
          </a:xfrm>
          <a:prstGeom prst="rect">
            <a:avLst/>
          </a:prstGeom>
          <a:noFill/>
          <a:ln/>
        </p:spPr>
        <p:txBody>
          <a:bodyPr wrap="square" lIns="0" tIns="0" rIns="0" bIns="0" rtlCol="0" anchor="ctr">
            <a:normAutofit/>
          </a:bodyPr>
          <a:lstStyle/>
          <a:p>
            <a:pPr marL="0" indent="0" algn="ctr">
              <a:buNone/>
            </a:pPr>
            <a:r>
              <a:rPr lang="en-US" sz="850" b="1">
                <a:solidFill>
                  <a:srgbClr val="FFFFFF"/>
                </a:solidFill>
              </a:rPr>
              <a:t>SUM + GROUP BY</a:t>
            </a:r>
            <a:endParaRPr lang="en-US" sz="850"/>
          </a:p>
        </p:txBody>
      </p:sp>
      <p:sp>
        <p:nvSpPr>
          <p:cNvPr id="7" name="Text 5"/>
          <p:cNvSpPr/>
          <p:nvPr/>
        </p:nvSpPr>
        <p:spPr>
          <a:xfrm>
            <a:off x="685800" y="1664208"/>
            <a:ext cx="2468880" cy="256032"/>
          </a:xfrm>
          <a:prstGeom prst="rect">
            <a:avLst/>
          </a:prstGeom>
          <a:noFill/>
          <a:ln/>
        </p:spPr>
        <p:txBody>
          <a:bodyPr wrap="square" lIns="0" tIns="0" rIns="0" bIns="0" rtlCol="0" anchor="ctr"/>
          <a:lstStyle/>
          <a:p>
            <a:pPr marL="0" indent="0">
              <a:buNone/>
            </a:pPr>
            <a:r>
              <a:rPr lang="en-US" sz="1500" b="1">
                <a:solidFill>
                  <a:srgbClr val="102A43"/>
                </a:solidFill>
              </a:rPr>
              <a:t>Business rationale</a:t>
            </a:r>
            <a:endParaRPr lang="en-US" sz="1500"/>
          </a:p>
        </p:txBody>
      </p:sp>
      <p:sp>
        <p:nvSpPr>
          <p:cNvPr id="8" name="Text 6"/>
          <p:cNvSpPr/>
          <p:nvPr/>
        </p:nvSpPr>
        <p:spPr>
          <a:xfrm>
            <a:off x="685800" y="1993392"/>
            <a:ext cx="3703320" cy="1170432"/>
          </a:xfrm>
          <a:prstGeom prst="rect">
            <a:avLst/>
          </a:prstGeom>
          <a:noFill/>
          <a:ln/>
        </p:spPr>
        <p:txBody>
          <a:bodyPr wrap="square" lIns="254" tIns="254" rIns="254" bIns="254" rtlCol="0" anchor="t">
            <a:normAutofit/>
          </a:bodyPr>
          <a:lstStyle/>
          <a:p>
            <a:r>
              <a:rPr lang="en-US" sz="1350">
                <a:solidFill>
                  <a:srgbClr val="1A202C"/>
                </a:solidFill>
              </a:rPr>
              <a:t>Ranks players by total goals</a:t>
            </a:r>
            <a:endParaRPr lang="en-US" sz="1350"/>
          </a:p>
          <a:p>
            <a:r>
              <a:rPr lang="en-US" sz="1350">
                <a:solidFill>
                  <a:srgbClr val="1A202C"/>
                </a:solidFill>
              </a:rPr>
              <a:t>Summarizes multiple stat records</a:t>
            </a:r>
            <a:endParaRPr lang="en-US" sz="1350"/>
          </a:p>
          <a:p>
            <a:r>
              <a:rPr lang="en-US" sz="1350">
                <a:solidFill>
                  <a:srgbClr val="1A202C"/>
                </a:solidFill>
              </a:rPr>
              <a:t>Supports awards and performance tracking</a:t>
            </a:r>
            <a:endParaRPr lang="en-US" sz="1350"/>
          </a:p>
        </p:txBody>
      </p:sp>
      <p:sp>
        <p:nvSpPr>
          <p:cNvPr id="9" name="Text 7"/>
          <p:cNvSpPr/>
          <p:nvPr/>
        </p:nvSpPr>
        <p:spPr>
          <a:xfrm>
            <a:off x="685800" y="3611880"/>
            <a:ext cx="2468880" cy="256032"/>
          </a:xfrm>
          <a:prstGeom prst="rect">
            <a:avLst/>
          </a:prstGeom>
          <a:noFill/>
          <a:ln/>
        </p:spPr>
        <p:txBody>
          <a:bodyPr wrap="square" lIns="0" tIns="0" rIns="0" bIns="0" rtlCol="0" anchor="ctr"/>
          <a:lstStyle/>
          <a:p>
            <a:pPr marL="0" indent="0">
              <a:buNone/>
            </a:pPr>
            <a:r>
              <a:rPr lang="en-US" sz="1500" b="1">
                <a:solidFill>
                  <a:srgbClr val="102A43"/>
                </a:solidFill>
              </a:rPr>
              <a:t>Real-world use</a:t>
            </a:r>
            <a:endParaRPr lang="en-US" sz="1500"/>
          </a:p>
        </p:txBody>
      </p:sp>
      <p:sp>
        <p:nvSpPr>
          <p:cNvPr id="10" name="Text 8"/>
          <p:cNvSpPr/>
          <p:nvPr/>
        </p:nvSpPr>
        <p:spPr>
          <a:xfrm>
            <a:off x="685800" y="3977640"/>
            <a:ext cx="3794760" cy="804672"/>
          </a:xfrm>
          <a:prstGeom prst="rect">
            <a:avLst/>
          </a:prstGeom>
          <a:noFill/>
          <a:ln/>
        </p:spPr>
        <p:txBody>
          <a:bodyPr wrap="square" lIns="0" tIns="0" rIns="0" bIns="0" rtlCol="0" anchor="ctr">
            <a:normAutofit/>
          </a:bodyPr>
          <a:lstStyle/>
          <a:p>
            <a:pPr marL="0" indent="0">
              <a:buNone/>
            </a:pPr>
            <a:r>
              <a:rPr lang="en-US" sz="1360">
                <a:solidFill>
                  <a:srgbClr val="4A5568"/>
                </a:solidFill>
              </a:rPr>
              <a:t>Coaches and league staff can identify top scorers for recognition, standings articles, or player development discussions.</a:t>
            </a:r>
            <a:endParaRPr lang="en-US" sz="1360"/>
          </a:p>
        </p:txBody>
      </p:sp>
      <p:sp>
        <p:nvSpPr>
          <p:cNvPr id="13" name="Shape 11"/>
          <p:cNvSpPr/>
          <p:nvPr/>
        </p:nvSpPr>
        <p:spPr>
          <a:xfrm>
            <a:off x="5461780" y="4915487"/>
            <a:ext cx="2980007" cy="1222014"/>
          </a:xfrm>
          <a:prstGeom prst="roundRect">
            <a:avLst>
              <a:gd name="adj" fmla="val 13793"/>
            </a:avLst>
          </a:prstGeom>
          <a:solidFill>
            <a:srgbClr val="E6F4EA"/>
          </a:solidFill>
          <a:ln w="12700">
            <a:solidFill>
              <a:srgbClr val="B7E4C7"/>
            </a:solidFill>
            <a:prstDash val="solid"/>
          </a:ln>
        </p:spPr>
      </p:sp>
      <p:sp>
        <p:nvSpPr>
          <p:cNvPr id="14" name="Text 12"/>
          <p:cNvSpPr/>
          <p:nvPr/>
        </p:nvSpPr>
        <p:spPr>
          <a:xfrm>
            <a:off x="5461079" y="5000597"/>
            <a:ext cx="2978834" cy="1050387"/>
          </a:xfrm>
          <a:prstGeom prst="rect">
            <a:avLst/>
          </a:prstGeom>
          <a:noFill/>
          <a:ln/>
        </p:spPr>
        <p:txBody>
          <a:bodyPr wrap="square" lIns="0" tIns="0" rIns="0" bIns="0" rtlCol="0" anchor="ctr">
            <a:normAutofit/>
          </a:bodyPr>
          <a:lstStyle/>
          <a:p>
            <a:pPr marL="0" indent="0" algn="ctr">
              <a:buNone/>
            </a:pPr>
            <a:r>
              <a:rPr lang="en-US" sz="1350" b="1">
                <a:solidFill>
                  <a:srgbClr val="102A43"/>
                </a:solidFill>
              </a:rPr>
              <a:t>Key output: Lucas Morales leads the shown sample with 60 goals.</a:t>
            </a:r>
            <a:endParaRPr lang="en-US" sz="1350"/>
          </a:p>
        </p:txBody>
      </p:sp>
      <p:sp>
        <p:nvSpPr>
          <p:cNvPr id="15" name="Text 13"/>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16</a:t>
            </a:r>
            <a:endParaRPr lang="en-US" sz="750"/>
          </a:p>
        </p:txBody>
      </p:sp>
      <p:pic>
        <p:nvPicPr>
          <p:cNvPr id="16" name="Picture 15" descr="A screenshot of a computer&#10;&#10;AI-generated content may be incorrect.">
            <a:extLst>
              <a:ext uri="{FF2B5EF4-FFF2-40B4-BE49-F238E27FC236}">
                <a16:creationId xmlns:a16="http://schemas.microsoft.com/office/drawing/2014/main" id="{29C6AABA-E838-D13E-0EBE-BFF91626F478}"/>
              </a:ext>
            </a:extLst>
          </p:cNvPr>
          <p:cNvPicPr>
            <a:picLocks noChangeAspect="1"/>
          </p:cNvPicPr>
          <p:nvPr/>
        </p:nvPicPr>
        <p:blipFill>
          <a:blip r:embed="rId3"/>
          <a:stretch>
            <a:fillRect/>
          </a:stretch>
        </p:blipFill>
        <p:spPr>
          <a:xfrm>
            <a:off x="8785347" y="654294"/>
            <a:ext cx="2428875" cy="59245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QUERY DEMONSTRATION — DALTON J OPUDO</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Query 8: Matches Sorted by Date</a:t>
            </a:r>
            <a:endParaRPr lang="en-US" sz="2700"/>
          </a:p>
        </p:txBody>
      </p:sp>
      <p:sp>
        <p:nvSpPr>
          <p:cNvPr id="5" name="Shape 3"/>
          <p:cNvSpPr/>
          <p:nvPr/>
        </p:nvSpPr>
        <p:spPr>
          <a:xfrm>
            <a:off x="658368" y="1097280"/>
            <a:ext cx="2304288" cy="310896"/>
          </a:xfrm>
          <a:prstGeom prst="roundRect">
            <a:avLst>
              <a:gd name="adj" fmla="val 23529"/>
            </a:avLst>
          </a:prstGeom>
          <a:solidFill>
            <a:srgbClr val="2F855A"/>
          </a:solidFill>
          <a:ln w="12700">
            <a:solidFill>
              <a:srgbClr val="2F855A"/>
            </a:solidFill>
            <a:prstDash val="solid"/>
          </a:ln>
        </p:spPr>
      </p:sp>
      <p:sp>
        <p:nvSpPr>
          <p:cNvPr id="6" name="Text 4"/>
          <p:cNvSpPr/>
          <p:nvPr/>
        </p:nvSpPr>
        <p:spPr>
          <a:xfrm>
            <a:off x="749808" y="1170432"/>
            <a:ext cx="2121408" cy="146304"/>
          </a:xfrm>
          <a:prstGeom prst="rect">
            <a:avLst/>
          </a:prstGeom>
          <a:noFill/>
          <a:ln/>
        </p:spPr>
        <p:txBody>
          <a:bodyPr wrap="square" lIns="0" tIns="0" rIns="0" bIns="0" rtlCol="0" anchor="ctr">
            <a:normAutofit/>
          </a:bodyPr>
          <a:lstStyle/>
          <a:p>
            <a:pPr marL="0" indent="0" algn="ctr">
              <a:buNone/>
            </a:pPr>
            <a:r>
              <a:rPr lang="en-US" sz="850" b="1">
                <a:solidFill>
                  <a:srgbClr val="FFFFFF"/>
                </a:solidFill>
              </a:rPr>
              <a:t>ORDER BY date descending</a:t>
            </a:r>
            <a:endParaRPr lang="en-US" sz="850"/>
          </a:p>
        </p:txBody>
      </p:sp>
      <p:sp>
        <p:nvSpPr>
          <p:cNvPr id="7" name="Text 5"/>
          <p:cNvSpPr/>
          <p:nvPr/>
        </p:nvSpPr>
        <p:spPr>
          <a:xfrm>
            <a:off x="685800" y="1664208"/>
            <a:ext cx="2468880" cy="256032"/>
          </a:xfrm>
          <a:prstGeom prst="rect">
            <a:avLst/>
          </a:prstGeom>
          <a:noFill/>
          <a:ln/>
        </p:spPr>
        <p:txBody>
          <a:bodyPr wrap="square" lIns="0" tIns="0" rIns="0" bIns="0" rtlCol="0" anchor="ctr"/>
          <a:lstStyle/>
          <a:p>
            <a:pPr marL="0" indent="0">
              <a:buNone/>
            </a:pPr>
            <a:r>
              <a:rPr lang="en-US" sz="1500" b="1">
                <a:solidFill>
                  <a:srgbClr val="102A43"/>
                </a:solidFill>
              </a:rPr>
              <a:t>Business rationale</a:t>
            </a:r>
            <a:endParaRPr lang="en-US" sz="1500"/>
          </a:p>
        </p:txBody>
      </p:sp>
      <p:sp>
        <p:nvSpPr>
          <p:cNvPr id="8" name="Text 6"/>
          <p:cNvSpPr/>
          <p:nvPr/>
        </p:nvSpPr>
        <p:spPr>
          <a:xfrm>
            <a:off x="685800" y="1993392"/>
            <a:ext cx="3703320" cy="1170432"/>
          </a:xfrm>
          <a:prstGeom prst="rect">
            <a:avLst/>
          </a:prstGeom>
          <a:noFill/>
          <a:ln/>
        </p:spPr>
        <p:txBody>
          <a:bodyPr wrap="square" lIns="254" tIns="254" rIns="254" bIns="254" rtlCol="0" anchor="t">
            <a:normAutofit/>
          </a:bodyPr>
          <a:lstStyle/>
          <a:p>
            <a:r>
              <a:rPr lang="en-US" sz="1350">
                <a:solidFill>
                  <a:srgbClr val="1A202C"/>
                </a:solidFill>
              </a:rPr>
              <a:t>Provides a quick schedule view</a:t>
            </a:r>
            <a:endParaRPr lang="en-US" sz="1350"/>
          </a:p>
          <a:p>
            <a:r>
              <a:rPr lang="en-US" sz="1350">
                <a:solidFill>
                  <a:srgbClr val="1A202C"/>
                </a:solidFill>
              </a:rPr>
              <a:t>Shows match status beside each date</a:t>
            </a:r>
            <a:endParaRPr lang="en-US" sz="1350"/>
          </a:p>
          <a:p>
            <a:r>
              <a:rPr lang="en-US" sz="1350">
                <a:solidFill>
                  <a:srgbClr val="1A202C"/>
                </a:solidFill>
              </a:rPr>
              <a:t>Places newest or upcoming items first</a:t>
            </a:r>
            <a:endParaRPr lang="en-US" sz="1350"/>
          </a:p>
        </p:txBody>
      </p:sp>
      <p:sp>
        <p:nvSpPr>
          <p:cNvPr id="9" name="Text 7"/>
          <p:cNvSpPr/>
          <p:nvPr/>
        </p:nvSpPr>
        <p:spPr>
          <a:xfrm>
            <a:off x="685800" y="3611880"/>
            <a:ext cx="2468880" cy="256032"/>
          </a:xfrm>
          <a:prstGeom prst="rect">
            <a:avLst/>
          </a:prstGeom>
          <a:noFill/>
          <a:ln/>
        </p:spPr>
        <p:txBody>
          <a:bodyPr wrap="square" lIns="0" tIns="0" rIns="0" bIns="0" rtlCol="0" anchor="ctr"/>
          <a:lstStyle/>
          <a:p>
            <a:pPr marL="0" indent="0">
              <a:buNone/>
            </a:pPr>
            <a:r>
              <a:rPr lang="en-US" sz="1500" b="1">
                <a:solidFill>
                  <a:srgbClr val="102A43"/>
                </a:solidFill>
              </a:rPr>
              <a:t>Real-world use</a:t>
            </a:r>
            <a:endParaRPr lang="en-US" sz="1500"/>
          </a:p>
        </p:txBody>
      </p:sp>
      <p:sp>
        <p:nvSpPr>
          <p:cNvPr id="10" name="Text 8"/>
          <p:cNvSpPr/>
          <p:nvPr/>
        </p:nvSpPr>
        <p:spPr>
          <a:xfrm>
            <a:off x="685800" y="3977640"/>
            <a:ext cx="3794760" cy="804672"/>
          </a:xfrm>
          <a:prstGeom prst="rect">
            <a:avLst/>
          </a:prstGeom>
          <a:noFill/>
          <a:ln/>
        </p:spPr>
        <p:txBody>
          <a:bodyPr wrap="square" lIns="0" tIns="0" rIns="0" bIns="0" rtlCol="0" anchor="ctr">
            <a:normAutofit/>
          </a:bodyPr>
          <a:lstStyle/>
          <a:p>
            <a:pPr marL="0" indent="0">
              <a:buNone/>
            </a:pPr>
            <a:r>
              <a:rPr lang="en-US" sz="1360">
                <a:solidFill>
                  <a:srgbClr val="4A5568"/>
                </a:solidFill>
              </a:rPr>
              <a:t>Staff can quickly check the most recent schedule entries and confirm whether matches are scheduled or completed.</a:t>
            </a:r>
            <a:endParaRPr lang="en-US" sz="1360"/>
          </a:p>
        </p:txBody>
      </p:sp>
      <p:sp>
        <p:nvSpPr>
          <p:cNvPr id="12" name="Text 10"/>
          <p:cNvSpPr/>
          <p:nvPr/>
        </p:nvSpPr>
        <p:spPr>
          <a:xfrm>
            <a:off x="4846320" y="1316736"/>
            <a:ext cx="6775704" cy="3209544"/>
          </a:xfrm>
          <a:prstGeom prst="rect">
            <a:avLst/>
          </a:prstGeom>
          <a:noFill/>
          <a:ln/>
        </p:spPr>
        <p:txBody>
          <a:bodyPr wrap="square" lIns="0" tIns="0" rIns="0" bIns="0" rtlCol="0" anchor="t">
            <a:normAutofit/>
          </a:bodyPr>
          <a:lstStyle/>
          <a:p>
            <a:pPr marL="0" indent="0">
              <a:buNone/>
            </a:pPr>
            <a:endParaRPr lang="en-US" sz="850">
              <a:solidFill>
                <a:srgbClr val="1A202C"/>
              </a:solidFill>
              <a:latin typeface="Courier New"/>
              <a:cs typeface="Courier New"/>
            </a:endParaRPr>
          </a:p>
        </p:txBody>
      </p:sp>
      <p:sp>
        <p:nvSpPr>
          <p:cNvPr id="13" name="Shape 11"/>
          <p:cNvSpPr/>
          <p:nvPr/>
        </p:nvSpPr>
        <p:spPr>
          <a:xfrm>
            <a:off x="5274212" y="5935394"/>
            <a:ext cx="6309360" cy="530352"/>
          </a:xfrm>
          <a:prstGeom prst="roundRect">
            <a:avLst>
              <a:gd name="adj" fmla="val 13793"/>
            </a:avLst>
          </a:prstGeom>
          <a:solidFill>
            <a:srgbClr val="E6F4EA"/>
          </a:solidFill>
          <a:ln w="12700">
            <a:solidFill>
              <a:srgbClr val="B7E4C7"/>
            </a:solidFill>
            <a:prstDash val="solid"/>
          </a:ln>
        </p:spPr>
      </p:sp>
      <p:sp>
        <p:nvSpPr>
          <p:cNvPr id="14" name="Text 12"/>
          <p:cNvSpPr/>
          <p:nvPr/>
        </p:nvSpPr>
        <p:spPr>
          <a:xfrm>
            <a:off x="5484524" y="6090842"/>
            <a:ext cx="5897880" cy="182880"/>
          </a:xfrm>
          <a:prstGeom prst="rect">
            <a:avLst/>
          </a:prstGeom>
          <a:noFill/>
          <a:ln/>
        </p:spPr>
        <p:txBody>
          <a:bodyPr wrap="square" lIns="0" tIns="0" rIns="0" bIns="0" rtlCol="0" anchor="ctr">
            <a:normAutofit/>
          </a:bodyPr>
          <a:lstStyle/>
          <a:p>
            <a:pPr marL="0" indent="0" algn="ctr">
              <a:buNone/>
            </a:pPr>
            <a:r>
              <a:rPr lang="en-US" sz="1350" b="1">
                <a:solidFill>
                  <a:srgbClr val="102A43"/>
                </a:solidFill>
              </a:rPr>
              <a:t>Key output: latest scheduled volleyball match appears at the top.</a:t>
            </a:r>
            <a:endParaRPr lang="en-US" sz="1350"/>
          </a:p>
        </p:txBody>
      </p:sp>
      <p:sp>
        <p:nvSpPr>
          <p:cNvPr id="15" name="Text 13"/>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17</a:t>
            </a:r>
            <a:endParaRPr lang="en-US" sz="750"/>
          </a:p>
        </p:txBody>
      </p:sp>
      <p:pic>
        <p:nvPicPr>
          <p:cNvPr id="16" name="Picture 15">
            <a:extLst>
              <a:ext uri="{FF2B5EF4-FFF2-40B4-BE49-F238E27FC236}">
                <a16:creationId xmlns:a16="http://schemas.microsoft.com/office/drawing/2014/main" id="{640446E7-4D17-6594-FCEB-C05671FB1C3E}"/>
              </a:ext>
            </a:extLst>
          </p:cNvPr>
          <p:cNvPicPr>
            <a:picLocks noChangeAspect="1"/>
          </p:cNvPicPr>
          <p:nvPr/>
        </p:nvPicPr>
        <p:blipFill>
          <a:blip r:embed="rId3"/>
          <a:stretch>
            <a:fillRect/>
          </a:stretch>
        </p:blipFill>
        <p:spPr>
          <a:xfrm>
            <a:off x="7092462" y="860181"/>
            <a:ext cx="2743200" cy="50673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QUERY DEMONSTRATION — BRYAN VERA</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r>
              <a:rPr lang="en-US" sz="2700" b="1">
                <a:solidFill>
                  <a:srgbClr val="102A43"/>
                </a:solidFill>
                <a:latin typeface="Aptos Display"/>
                <a:ea typeface="Aptos Display" pitchFamily="34" charset="-122"/>
                <a:cs typeface="Aptos Display" pitchFamily="34" charset="-120"/>
              </a:rPr>
              <a:t>Query 9: Find the Top Goal Scorer for each Team</a:t>
            </a:r>
            <a:endParaRPr lang="en-US" sz="2700"/>
          </a:p>
        </p:txBody>
      </p:sp>
      <p:sp>
        <p:nvSpPr>
          <p:cNvPr id="5" name="Shape 3"/>
          <p:cNvSpPr/>
          <p:nvPr/>
        </p:nvSpPr>
        <p:spPr>
          <a:xfrm>
            <a:off x="688250" y="1007633"/>
            <a:ext cx="2016252" cy="310896"/>
          </a:xfrm>
          <a:prstGeom prst="roundRect">
            <a:avLst>
              <a:gd name="adj" fmla="val 23529"/>
            </a:avLst>
          </a:prstGeom>
          <a:solidFill>
            <a:srgbClr val="2F855A"/>
          </a:solidFill>
          <a:ln w="12700">
            <a:solidFill>
              <a:srgbClr val="2F855A"/>
            </a:solidFill>
            <a:prstDash val="solid"/>
          </a:ln>
        </p:spPr>
      </p:sp>
      <p:sp>
        <p:nvSpPr>
          <p:cNvPr id="6" name="Text 4"/>
          <p:cNvSpPr/>
          <p:nvPr/>
        </p:nvSpPr>
        <p:spPr>
          <a:xfrm>
            <a:off x="749808" y="1170432"/>
            <a:ext cx="1833372" cy="146304"/>
          </a:xfrm>
          <a:prstGeom prst="rect">
            <a:avLst/>
          </a:prstGeom>
          <a:noFill/>
          <a:ln/>
        </p:spPr>
        <p:txBody>
          <a:bodyPr wrap="square" lIns="0" tIns="0" rIns="0" bIns="0" rtlCol="0" anchor="ctr">
            <a:noAutofit/>
          </a:bodyPr>
          <a:lstStyle/>
          <a:p>
            <a:pPr algn="ctr"/>
            <a:r>
              <a:rPr lang="en-US" sz="850" b="1">
                <a:solidFill>
                  <a:srgbClr val="FFFFFF"/>
                </a:solidFill>
              </a:rPr>
              <a:t>Multi-table JOIN +  Aggregation +  Correlated Subquery</a:t>
            </a:r>
            <a:endParaRPr lang="en-US" sz="850">
              <a:solidFill>
                <a:srgbClr val="000000"/>
              </a:solidFill>
            </a:endParaRPr>
          </a:p>
        </p:txBody>
      </p:sp>
      <p:sp>
        <p:nvSpPr>
          <p:cNvPr id="7" name="Text 5"/>
          <p:cNvSpPr/>
          <p:nvPr/>
        </p:nvSpPr>
        <p:spPr>
          <a:xfrm>
            <a:off x="685800" y="1664208"/>
            <a:ext cx="2468880" cy="256032"/>
          </a:xfrm>
          <a:prstGeom prst="rect">
            <a:avLst/>
          </a:prstGeom>
          <a:noFill/>
          <a:ln/>
        </p:spPr>
        <p:txBody>
          <a:bodyPr wrap="square" lIns="0" tIns="0" rIns="0" bIns="0" rtlCol="0" anchor="ctr"/>
          <a:lstStyle/>
          <a:p>
            <a:pPr marL="0" indent="0">
              <a:buNone/>
            </a:pPr>
            <a:r>
              <a:rPr lang="en-US" sz="1500" b="1">
                <a:solidFill>
                  <a:srgbClr val="102A43"/>
                </a:solidFill>
              </a:rPr>
              <a:t>Business rationale</a:t>
            </a:r>
            <a:endParaRPr lang="en-US" sz="1500"/>
          </a:p>
        </p:txBody>
      </p:sp>
      <p:sp>
        <p:nvSpPr>
          <p:cNvPr id="8" name="Text 6"/>
          <p:cNvSpPr/>
          <p:nvPr/>
        </p:nvSpPr>
        <p:spPr>
          <a:xfrm>
            <a:off x="685800" y="1993392"/>
            <a:ext cx="3703320" cy="1170432"/>
          </a:xfrm>
          <a:prstGeom prst="rect">
            <a:avLst/>
          </a:prstGeom>
          <a:noFill/>
          <a:ln/>
        </p:spPr>
        <p:txBody>
          <a:bodyPr wrap="square" lIns="254" tIns="254" rIns="254" bIns="254" rtlCol="0" anchor="t">
            <a:normAutofit/>
          </a:bodyPr>
          <a:lstStyle/>
          <a:p>
            <a:r>
              <a:rPr lang="en-US" sz="1350">
                <a:solidFill>
                  <a:srgbClr val="1A202C"/>
                </a:solidFill>
              </a:rPr>
              <a:t>Aggregates goals by player</a:t>
            </a:r>
            <a:endParaRPr lang="en-US" sz="1350"/>
          </a:p>
          <a:p>
            <a:r>
              <a:rPr lang="en-US" sz="1350">
                <a:solidFill>
                  <a:srgbClr val="1A202C"/>
                </a:solidFill>
              </a:rPr>
              <a:t>Supports player evaluation</a:t>
            </a:r>
            <a:endParaRPr lang="en-US" sz="1350"/>
          </a:p>
          <a:p>
            <a:r>
              <a:rPr lang="en-US" sz="1350">
                <a:solidFill>
                  <a:srgbClr val="1A202C"/>
                </a:solidFill>
              </a:rPr>
              <a:t>Orders by team name</a:t>
            </a:r>
            <a:endParaRPr lang="en-US" sz="1350"/>
          </a:p>
        </p:txBody>
      </p:sp>
      <p:sp>
        <p:nvSpPr>
          <p:cNvPr id="9" name="Text 7"/>
          <p:cNvSpPr/>
          <p:nvPr/>
        </p:nvSpPr>
        <p:spPr>
          <a:xfrm>
            <a:off x="685800" y="3611880"/>
            <a:ext cx="2468880" cy="256032"/>
          </a:xfrm>
          <a:prstGeom prst="rect">
            <a:avLst/>
          </a:prstGeom>
          <a:noFill/>
          <a:ln/>
        </p:spPr>
        <p:txBody>
          <a:bodyPr wrap="square" lIns="0" tIns="0" rIns="0" bIns="0" rtlCol="0" anchor="ctr"/>
          <a:lstStyle/>
          <a:p>
            <a:pPr marL="0" indent="0">
              <a:buNone/>
            </a:pPr>
            <a:r>
              <a:rPr lang="en-US" sz="1500" b="1">
                <a:solidFill>
                  <a:srgbClr val="102A43"/>
                </a:solidFill>
              </a:rPr>
              <a:t>Real-world use</a:t>
            </a:r>
            <a:endParaRPr lang="en-US" sz="1500"/>
          </a:p>
        </p:txBody>
      </p:sp>
      <p:sp>
        <p:nvSpPr>
          <p:cNvPr id="10" name="Text 8"/>
          <p:cNvSpPr/>
          <p:nvPr/>
        </p:nvSpPr>
        <p:spPr>
          <a:xfrm>
            <a:off x="685800" y="3977640"/>
            <a:ext cx="3794760" cy="804672"/>
          </a:xfrm>
          <a:prstGeom prst="rect">
            <a:avLst/>
          </a:prstGeom>
          <a:noFill/>
          <a:ln/>
        </p:spPr>
        <p:txBody>
          <a:bodyPr wrap="square" lIns="0" tIns="0" rIns="0" bIns="0" rtlCol="0" anchor="ctr">
            <a:normAutofit/>
          </a:bodyPr>
          <a:lstStyle/>
          <a:p>
            <a:r>
              <a:rPr lang="en-US" sz="1350">
                <a:solidFill>
                  <a:srgbClr val="4A5568"/>
                </a:solidFill>
              </a:rPr>
              <a:t>Coaches can evaluate offensive production and identify key offensive players for each team.</a:t>
            </a:r>
          </a:p>
        </p:txBody>
      </p:sp>
      <p:sp>
        <p:nvSpPr>
          <p:cNvPr id="13" name="Shape 11"/>
          <p:cNvSpPr/>
          <p:nvPr/>
        </p:nvSpPr>
        <p:spPr>
          <a:xfrm>
            <a:off x="8627011" y="3004625"/>
            <a:ext cx="2980007" cy="1304075"/>
          </a:xfrm>
          <a:prstGeom prst="roundRect">
            <a:avLst>
              <a:gd name="adj" fmla="val 13793"/>
            </a:avLst>
          </a:prstGeom>
          <a:solidFill>
            <a:srgbClr val="E6F4EA"/>
          </a:solidFill>
          <a:ln w="12700">
            <a:solidFill>
              <a:srgbClr val="B7E4C7"/>
            </a:solidFill>
            <a:prstDash val="solid"/>
          </a:ln>
        </p:spPr>
      </p:sp>
      <p:sp>
        <p:nvSpPr>
          <p:cNvPr id="14" name="Text 12"/>
          <p:cNvSpPr/>
          <p:nvPr/>
        </p:nvSpPr>
        <p:spPr>
          <a:xfrm>
            <a:off x="8626308" y="3007673"/>
            <a:ext cx="2978834" cy="1320017"/>
          </a:xfrm>
          <a:prstGeom prst="rect">
            <a:avLst/>
          </a:prstGeom>
          <a:noFill/>
          <a:ln/>
        </p:spPr>
        <p:txBody>
          <a:bodyPr wrap="square" lIns="0" tIns="0" rIns="0" bIns="0" rtlCol="0" anchor="ctr">
            <a:normAutofit/>
          </a:bodyPr>
          <a:lstStyle/>
          <a:p>
            <a:pPr algn="ctr"/>
            <a:r>
              <a:rPr lang="en-US" sz="1350" b="1">
                <a:solidFill>
                  <a:srgbClr val="102A43"/>
                </a:solidFill>
              </a:rPr>
              <a:t>Key output: Lists top scorer for each team, orders results from lowest to highest total goals</a:t>
            </a:r>
          </a:p>
        </p:txBody>
      </p:sp>
      <p:sp>
        <p:nvSpPr>
          <p:cNvPr id="15" name="Text 13"/>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18</a:t>
            </a:r>
            <a:endParaRPr lang="en-US" sz="750"/>
          </a:p>
        </p:txBody>
      </p:sp>
      <p:pic>
        <p:nvPicPr>
          <p:cNvPr id="18" name="Picture 17" descr="A screenshot of a table&#10;&#10;AI-generated content may be incorrect.">
            <a:extLst>
              <a:ext uri="{FF2B5EF4-FFF2-40B4-BE49-F238E27FC236}">
                <a16:creationId xmlns:a16="http://schemas.microsoft.com/office/drawing/2014/main" id="{948CB518-BC02-A355-1565-82B581ED70DF}"/>
              </a:ext>
            </a:extLst>
          </p:cNvPr>
          <p:cNvPicPr>
            <a:picLocks noChangeAspect="1"/>
          </p:cNvPicPr>
          <p:nvPr/>
        </p:nvPicPr>
        <p:blipFill>
          <a:blip r:embed="rId3"/>
          <a:stretch>
            <a:fillRect/>
          </a:stretch>
        </p:blipFill>
        <p:spPr>
          <a:xfrm>
            <a:off x="4969852" y="1497623"/>
            <a:ext cx="3143250" cy="475370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QUERY DEMONSTRATION — BRYAN VERA</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Query 10: Player Team Roster</a:t>
            </a:r>
            <a:endParaRPr lang="en-US" sz="2700"/>
          </a:p>
        </p:txBody>
      </p:sp>
      <p:sp>
        <p:nvSpPr>
          <p:cNvPr id="5" name="Shape 3"/>
          <p:cNvSpPr/>
          <p:nvPr/>
        </p:nvSpPr>
        <p:spPr>
          <a:xfrm>
            <a:off x="686591" y="1119858"/>
            <a:ext cx="1828800" cy="310896"/>
          </a:xfrm>
          <a:prstGeom prst="roundRect">
            <a:avLst>
              <a:gd name="adj" fmla="val 23529"/>
            </a:avLst>
          </a:prstGeom>
          <a:solidFill>
            <a:srgbClr val="2F855A"/>
          </a:solidFill>
          <a:ln w="12700">
            <a:solidFill>
              <a:srgbClr val="2F855A"/>
            </a:solidFill>
            <a:prstDash val="solid"/>
          </a:ln>
        </p:spPr>
      </p:sp>
      <p:sp>
        <p:nvSpPr>
          <p:cNvPr id="6" name="Text 4"/>
          <p:cNvSpPr/>
          <p:nvPr/>
        </p:nvSpPr>
        <p:spPr>
          <a:xfrm>
            <a:off x="501452" y="1328477"/>
            <a:ext cx="1645920" cy="146304"/>
          </a:xfrm>
          <a:prstGeom prst="rect">
            <a:avLst/>
          </a:prstGeom>
          <a:noFill/>
          <a:ln/>
        </p:spPr>
        <p:txBody>
          <a:bodyPr wrap="square" lIns="0" tIns="0" rIns="0" bIns="0" rtlCol="0" anchor="ctr">
            <a:noAutofit/>
          </a:bodyPr>
          <a:lstStyle/>
          <a:p>
            <a:pPr algn="ctr"/>
            <a:endParaRPr lang="en-US" sz="800" b="1">
              <a:solidFill>
                <a:srgbClr val="FFFFFF"/>
              </a:solidFill>
              <a:latin typeface="Aptos"/>
            </a:endParaRPr>
          </a:p>
        </p:txBody>
      </p:sp>
      <p:sp>
        <p:nvSpPr>
          <p:cNvPr id="7" name="Text 5"/>
          <p:cNvSpPr/>
          <p:nvPr/>
        </p:nvSpPr>
        <p:spPr>
          <a:xfrm>
            <a:off x="685800" y="1664208"/>
            <a:ext cx="2468880" cy="256032"/>
          </a:xfrm>
          <a:prstGeom prst="rect">
            <a:avLst/>
          </a:prstGeom>
          <a:noFill/>
          <a:ln/>
        </p:spPr>
        <p:txBody>
          <a:bodyPr wrap="square" lIns="0" tIns="0" rIns="0" bIns="0" rtlCol="0" anchor="ctr"/>
          <a:lstStyle/>
          <a:p>
            <a:pPr marL="0" indent="0">
              <a:buNone/>
            </a:pPr>
            <a:r>
              <a:rPr lang="en-US" sz="1500" b="1">
                <a:solidFill>
                  <a:srgbClr val="102A43"/>
                </a:solidFill>
              </a:rPr>
              <a:t>Business rationale</a:t>
            </a:r>
            <a:endParaRPr lang="en-US" sz="1500"/>
          </a:p>
        </p:txBody>
      </p:sp>
      <p:sp>
        <p:nvSpPr>
          <p:cNvPr id="8" name="Text 6"/>
          <p:cNvSpPr/>
          <p:nvPr/>
        </p:nvSpPr>
        <p:spPr>
          <a:xfrm>
            <a:off x="685800" y="1993392"/>
            <a:ext cx="3703320" cy="1170432"/>
          </a:xfrm>
          <a:prstGeom prst="rect">
            <a:avLst/>
          </a:prstGeom>
          <a:noFill/>
          <a:ln/>
        </p:spPr>
        <p:txBody>
          <a:bodyPr wrap="square" lIns="254" tIns="254" rIns="254" bIns="254" rtlCol="0" anchor="t">
            <a:normAutofit/>
          </a:bodyPr>
          <a:lstStyle/>
          <a:p>
            <a:r>
              <a:rPr lang="en-US" sz="1350">
                <a:solidFill>
                  <a:srgbClr val="1A202C"/>
                </a:solidFill>
              </a:rPr>
              <a:t>Lists players by assigned team</a:t>
            </a:r>
            <a:endParaRPr lang="en-US" sz="1350"/>
          </a:p>
          <a:p>
            <a:r>
              <a:rPr lang="en-US" sz="1350">
                <a:solidFill>
                  <a:srgbClr val="1A202C"/>
                </a:solidFill>
              </a:rPr>
              <a:t>Includes jersey numbers</a:t>
            </a:r>
            <a:endParaRPr lang="en-US" sz="1350"/>
          </a:p>
          <a:p>
            <a:r>
              <a:rPr lang="en-US" sz="1350">
                <a:solidFill>
                  <a:srgbClr val="1A202C"/>
                </a:solidFill>
              </a:rPr>
              <a:t>Orders by team name</a:t>
            </a:r>
          </a:p>
        </p:txBody>
      </p:sp>
      <p:sp>
        <p:nvSpPr>
          <p:cNvPr id="9" name="Text 7"/>
          <p:cNvSpPr/>
          <p:nvPr/>
        </p:nvSpPr>
        <p:spPr>
          <a:xfrm>
            <a:off x="685800" y="3611880"/>
            <a:ext cx="2468880" cy="256032"/>
          </a:xfrm>
          <a:prstGeom prst="rect">
            <a:avLst/>
          </a:prstGeom>
          <a:noFill/>
          <a:ln/>
        </p:spPr>
        <p:txBody>
          <a:bodyPr wrap="square" lIns="0" tIns="0" rIns="0" bIns="0" rtlCol="0" anchor="ctr"/>
          <a:lstStyle/>
          <a:p>
            <a:pPr marL="0" indent="0">
              <a:buNone/>
            </a:pPr>
            <a:r>
              <a:rPr lang="en-US" sz="1500" b="1">
                <a:solidFill>
                  <a:srgbClr val="102A43"/>
                </a:solidFill>
              </a:rPr>
              <a:t>Real-world use</a:t>
            </a:r>
            <a:endParaRPr lang="en-US" sz="1500"/>
          </a:p>
        </p:txBody>
      </p:sp>
      <p:sp>
        <p:nvSpPr>
          <p:cNvPr id="10" name="Text 8"/>
          <p:cNvSpPr/>
          <p:nvPr/>
        </p:nvSpPr>
        <p:spPr>
          <a:xfrm>
            <a:off x="685800" y="3977640"/>
            <a:ext cx="3794760" cy="804672"/>
          </a:xfrm>
          <a:prstGeom prst="rect">
            <a:avLst/>
          </a:prstGeom>
          <a:noFill/>
          <a:ln/>
        </p:spPr>
        <p:txBody>
          <a:bodyPr wrap="square" lIns="0" tIns="0" rIns="0" bIns="0" rtlCol="0" anchor="ctr">
            <a:normAutofit/>
          </a:bodyPr>
          <a:lstStyle/>
          <a:p>
            <a:pPr marL="0" indent="0">
              <a:buNone/>
            </a:pPr>
            <a:r>
              <a:rPr lang="en-US" sz="1360">
                <a:solidFill>
                  <a:srgbClr val="4A5568"/>
                </a:solidFill>
              </a:rPr>
              <a:t>Coaches and administrators can verify rosters before games and correct player assignment issues.</a:t>
            </a:r>
            <a:endParaRPr lang="en-US" sz="1360"/>
          </a:p>
        </p:txBody>
      </p:sp>
      <p:sp>
        <p:nvSpPr>
          <p:cNvPr id="13" name="Shape 11"/>
          <p:cNvSpPr/>
          <p:nvPr/>
        </p:nvSpPr>
        <p:spPr>
          <a:xfrm>
            <a:off x="3222674" y="5349241"/>
            <a:ext cx="4574345" cy="905491"/>
          </a:xfrm>
          <a:prstGeom prst="roundRect">
            <a:avLst>
              <a:gd name="adj" fmla="val 13793"/>
            </a:avLst>
          </a:prstGeom>
          <a:solidFill>
            <a:srgbClr val="E6F4EA"/>
          </a:solidFill>
          <a:ln w="12700">
            <a:solidFill>
              <a:srgbClr val="B7E4C7"/>
            </a:solidFill>
            <a:prstDash val="solid"/>
          </a:ln>
        </p:spPr>
      </p:sp>
      <p:sp>
        <p:nvSpPr>
          <p:cNvPr id="14" name="Text 12"/>
          <p:cNvSpPr/>
          <p:nvPr/>
        </p:nvSpPr>
        <p:spPr>
          <a:xfrm>
            <a:off x="3221971" y="5352289"/>
            <a:ext cx="4573171" cy="921433"/>
          </a:xfrm>
          <a:prstGeom prst="rect">
            <a:avLst/>
          </a:prstGeom>
          <a:noFill/>
          <a:ln/>
        </p:spPr>
        <p:txBody>
          <a:bodyPr wrap="square" lIns="0" tIns="0" rIns="0" bIns="0" rtlCol="0" anchor="ctr">
            <a:normAutofit/>
          </a:bodyPr>
          <a:lstStyle/>
          <a:p>
            <a:pPr marL="0" indent="0" algn="ctr">
              <a:buNone/>
            </a:pPr>
            <a:r>
              <a:rPr lang="en-US" sz="1350" b="1">
                <a:solidFill>
                  <a:srgbClr val="102A43"/>
                </a:solidFill>
              </a:rPr>
              <a:t>Key output: each roster row connects a player to a team and jersey number.</a:t>
            </a:r>
            <a:endParaRPr lang="en-US" sz="1350"/>
          </a:p>
        </p:txBody>
      </p:sp>
      <p:sp>
        <p:nvSpPr>
          <p:cNvPr id="15" name="Text 13"/>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19</a:t>
            </a:r>
            <a:endParaRPr lang="en-US" sz="750"/>
          </a:p>
        </p:txBody>
      </p:sp>
      <p:pic>
        <p:nvPicPr>
          <p:cNvPr id="17" name="Picture 16" descr="A screenshot of a computer&#10;&#10;AI-generated content may be incorrect.">
            <a:extLst>
              <a:ext uri="{FF2B5EF4-FFF2-40B4-BE49-F238E27FC236}">
                <a16:creationId xmlns:a16="http://schemas.microsoft.com/office/drawing/2014/main" id="{2D8412EB-D462-F96D-456A-E20FADACC3E5}"/>
              </a:ext>
            </a:extLst>
          </p:cNvPr>
          <p:cNvPicPr>
            <a:picLocks noChangeAspect="1"/>
          </p:cNvPicPr>
          <p:nvPr/>
        </p:nvPicPr>
        <p:blipFill>
          <a:blip r:embed="rId3"/>
          <a:stretch>
            <a:fillRect/>
          </a:stretch>
        </p:blipFill>
        <p:spPr>
          <a:xfrm>
            <a:off x="8133251" y="704850"/>
            <a:ext cx="3381375" cy="6057900"/>
          </a:xfrm>
          <a:prstGeom prst="rect">
            <a:avLst/>
          </a:prstGeom>
        </p:spPr>
      </p:pic>
      <p:sp>
        <p:nvSpPr>
          <p:cNvPr id="11" name="TextBox 10">
            <a:extLst>
              <a:ext uri="{FF2B5EF4-FFF2-40B4-BE49-F238E27FC236}">
                <a16:creationId xmlns:a16="http://schemas.microsoft.com/office/drawing/2014/main" id="{76D8AC2B-E1D3-F9C0-EAC4-1ACC114BAD19}"/>
              </a:ext>
            </a:extLst>
          </p:cNvPr>
          <p:cNvSpPr txBox="1"/>
          <p:nvPr/>
        </p:nvSpPr>
        <p:spPr>
          <a:xfrm>
            <a:off x="1045378" y="1164000"/>
            <a:ext cx="1463999" cy="2231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50" b="1">
                <a:solidFill>
                  <a:schemeClr val="bg1"/>
                </a:solidFill>
              </a:rPr>
              <a:t>Multi-Table Join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QUERY DEMONSTRATION — LANCE LAMON MARTIN</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Query 11: Total Minutes Played by Player</a:t>
            </a:r>
            <a:endParaRPr lang="en-US" sz="2700"/>
          </a:p>
        </p:txBody>
      </p:sp>
      <p:sp>
        <p:nvSpPr>
          <p:cNvPr id="5" name="Shape 3"/>
          <p:cNvSpPr/>
          <p:nvPr/>
        </p:nvSpPr>
        <p:spPr>
          <a:xfrm>
            <a:off x="658368" y="1097280"/>
            <a:ext cx="1828800" cy="310896"/>
          </a:xfrm>
          <a:prstGeom prst="roundRect">
            <a:avLst>
              <a:gd name="adj" fmla="val 23529"/>
            </a:avLst>
          </a:prstGeom>
          <a:solidFill>
            <a:srgbClr val="2F855A"/>
          </a:solidFill>
          <a:ln w="12700">
            <a:solidFill>
              <a:srgbClr val="2F855A"/>
            </a:solidFill>
            <a:prstDash val="solid"/>
          </a:ln>
        </p:spPr>
      </p:sp>
      <p:sp>
        <p:nvSpPr>
          <p:cNvPr id="6" name="Text 4"/>
          <p:cNvSpPr/>
          <p:nvPr/>
        </p:nvSpPr>
        <p:spPr>
          <a:xfrm>
            <a:off x="749808" y="1170432"/>
            <a:ext cx="1645920" cy="146304"/>
          </a:xfrm>
          <a:prstGeom prst="rect">
            <a:avLst/>
          </a:prstGeom>
          <a:noFill/>
          <a:ln/>
        </p:spPr>
        <p:txBody>
          <a:bodyPr wrap="square" lIns="0" tIns="0" rIns="0" bIns="0" rtlCol="0" anchor="ctr">
            <a:normAutofit/>
          </a:bodyPr>
          <a:lstStyle/>
          <a:p>
            <a:pPr marL="0" indent="0" algn="ctr">
              <a:buNone/>
            </a:pPr>
            <a:r>
              <a:rPr lang="en-US" sz="850" b="1">
                <a:solidFill>
                  <a:srgbClr val="FFFFFF"/>
                </a:solidFill>
              </a:rPr>
              <a:t>SUM + GROUP BY</a:t>
            </a:r>
            <a:endParaRPr lang="en-US" sz="850"/>
          </a:p>
        </p:txBody>
      </p:sp>
      <p:sp>
        <p:nvSpPr>
          <p:cNvPr id="7" name="Text 5"/>
          <p:cNvSpPr/>
          <p:nvPr/>
        </p:nvSpPr>
        <p:spPr>
          <a:xfrm>
            <a:off x="685800" y="1664208"/>
            <a:ext cx="2468880" cy="256032"/>
          </a:xfrm>
          <a:prstGeom prst="rect">
            <a:avLst/>
          </a:prstGeom>
          <a:noFill/>
          <a:ln/>
        </p:spPr>
        <p:txBody>
          <a:bodyPr wrap="square" lIns="0" tIns="0" rIns="0" bIns="0" rtlCol="0" anchor="ctr"/>
          <a:lstStyle/>
          <a:p>
            <a:pPr marL="0" indent="0">
              <a:buNone/>
            </a:pPr>
            <a:r>
              <a:rPr lang="en-US" sz="1500" b="1">
                <a:solidFill>
                  <a:srgbClr val="102A43"/>
                </a:solidFill>
              </a:rPr>
              <a:t>Business rationale</a:t>
            </a:r>
            <a:endParaRPr lang="en-US" sz="1500"/>
          </a:p>
        </p:txBody>
      </p:sp>
      <p:sp>
        <p:nvSpPr>
          <p:cNvPr id="8" name="Text 6"/>
          <p:cNvSpPr/>
          <p:nvPr/>
        </p:nvSpPr>
        <p:spPr>
          <a:xfrm>
            <a:off x="685800" y="1993392"/>
            <a:ext cx="3703320" cy="1170432"/>
          </a:xfrm>
          <a:prstGeom prst="rect">
            <a:avLst/>
          </a:prstGeom>
          <a:noFill/>
          <a:ln/>
        </p:spPr>
        <p:txBody>
          <a:bodyPr wrap="square" lIns="254" tIns="254" rIns="254" bIns="254" rtlCol="0" anchor="t">
            <a:normAutofit/>
          </a:bodyPr>
          <a:lstStyle/>
          <a:p>
            <a:r>
              <a:rPr lang="en-US" sz="1350">
                <a:solidFill>
                  <a:srgbClr val="1A202C"/>
                </a:solidFill>
              </a:rPr>
              <a:t>Tracks player participation</a:t>
            </a:r>
            <a:endParaRPr lang="en-US" sz="1350"/>
          </a:p>
          <a:p>
            <a:r>
              <a:rPr lang="en-US" sz="1350">
                <a:solidFill>
                  <a:srgbClr val="1A202C"/>
                </a:solidFill>
              </a:rPr>
              <a:t>Sums minutes across matches</a:t>
            </a:r>
            <a:endParaRPr lang="en-US" sz="1350"/>
          </a:p>
          <a:p>
            <a:r>
              <a:rPr lang="en-US" sz="1350">
                <a:solidFill>
                  <a:srgbClr val="1A202C"/>
                </a:solidFill>
              </a:rPr>
              <a:t>Helps monitor playing time balance</a:t>
            </a:r>
            <a:endParaRPr lang="en-US" sz="1350"/>
          </a:p>
        </p:txBody>
      </p:sp>
      <p:sp>
        <p:nvSpPr>
          <p:cNvPr id="9" name="Text 7"/>
          <p:cNvSpPr/>
          <p:nvPr/>
        </p:nvSpPr>
        <p:spPr>
          <a:xfrm>
            <a:off x="685800" y="3611880"/>
            <a:ext cx="2468880" cy="256032"/>
          </a:xfrm>
          <a:prstGeom prst="rect">
            <a:avLst/>
          </a:prstGeom>
          <a:noFill/>
          <a:ln/>
        </p:spPr>
        <p:txBody>
          <a:bodyPr wrap="square" lIns="0" tIns="0" rIns="0" bIns="0" rtlCol="0" anchor="ctr"/>
          <a:lstStyle/>
          <a:p>
            <a:pPr marL="0" indent="0">
              <a:buNone/>
            </a:pPr>
            <a:r>
              <a:rPr lang="en-US" sz="1500" b="1">
                <a:solidFill>
                  <a:srgbClr val="102A43"/>
                </a:solidFill>
              </a:rPr>
              <a:t>Real-world use</a:t>
            </a:r>
            <a:endParaRPr lang="en-US" sz="1500"/>
          </a:p>
        </p:txBody>
      </p:sp>
      <p:sp>
        <p:nvSpPr>
          <p:cNvPr id="10" name="Text 8"/>
          <p:cNvSpPr/>
          <p:nvPr/>
        </p:nvSpPr>
        <p:spPr>
          <a:xfrm>
            <a:off x="685800" y="3977640"/>
            <a:ext cx="3794760" cy="804672"/>
          </a:xfrm>
          <a:prstGeom prst="rect">
            <a:avLst/>
          </a:prstGeom>
          <a:noFill/>
          <a:ln/>
        </p:spPr>
        <p:txBody>
          <a:bodyPr wrap="square" lIns="0" tIns="0" rIns="0" bIns="0" rtlCol="0" anchor="ctr">
            <a:normAutofit/>
          </a:bodyPr>
          <a:lstStyle/>
          <a:p>
            <a:pPr marL="0" indent="0">
              <a:buNone/>
            </a:pPr>
            <a:r>
              <a:rPr lang="en-US" sz="1360">
                <a:solidFill>
                  <a:srgbClr val="4A5568"/>
                </a:solidFill>
              </a:rPr>
              <a:t>Coaches can review whether players are receiving reasonable playing time across the season.</a:t>
            </a:r>
            <a:endParaRPr lang="en-US" sz="1360"/>
          </a:p>
        </p:txBody>
      </p:sp>
      <p:sp>
        <p:nvSpPr>
          <p:cNvPr id="13" name="Shape 11"/>
          <p:cNvSpPr/>
          <p:nvPr/>
        </p:nvSpPr>
        <p:spPr>
          <a:xfrm>
            <a:off x="5039751" y="5724378"/>
            <a:ext cx="6309360" cy="530352"/>
          </a:xfrm>
          <a:prstGeom prst="roundRect">
            <a:avLst>
              <a:gd name="adj" fmla="val 13793"/>
            </a:avLst>
          </a:prstGeom>
          <a:solidFill>
            <a:srgbClr val="E6F4EA"/>
          </a:solidFill>
          <a:ln w="12700">
            <a:solidFill>
              <a:srgbClr val="B7E4C7"/>
            </a:solidFill>
            <a:prstDash val="solid"/>
          </a:ln>
        </p:spPr>
      </p:sp>
      <p:sp>
        <p:nvSpPr>
          <p:cNvPr id="14" name="Text 12"/>
          <p:cNvSpPr/>
          <p:nvPr/>
        </p:nvSpPr>
        <p:spPr>
          <a:xfrm>
            <a:off x="5250063" y="5879826"/>
            <a:ext cx="5897880" cy="182880"/>
          </a:xfrm>
          <a:prstGeom prst="rect">
            <a:avLst/>
          </a:prstGeom>
          <a:noFill/>
          <a:ln/>
        </p:spPr>
        <p:txBody>
          <a:bodyPr wrap="square" lIns="0" tIns="0" rIns="0" bIns="0" rtlCol="0" anchor="ctr">
            <a:normAutofit/>
          </a:bodyPr>
          <a:lstStyle/>
          <a:p>
            <a:pPr marL="0" indent="0" algn="ctr">
              <a:buNone/>
            </a:pPr>
            <a:r>
              <a:rPr lang="en-US" sz="1350" b="1">
                <a:solidFill>
                  <a:srgbClr val="102A43"/>
                </a:solidFill>
              </a:rPr>
              <a:t>Key output: players with the most recorded minutes appear first.</a:t>
            </a:r>
            <a:endParaRPr lang="en-US" sz="1350"/>
          </a:p>
        </p:txBody>
      </p:sp>
      <p:sp>
        <p:nvSpPr>
          <p:cNvPr id="15" name="Text 13"/>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20</a:t>
            </a:r>
            <a:endParaRPr lang="en-US" sz="750"/>
          </a:p>
        </p:txBody>
      </p:sp>
      <p:pic>
        <p:nvPicPr>
          <p:cNvPr id="16" name="Picture 15" descr="A screenshot of a table&#10;&#10;AI-generated content may be incorrect.">
            <a:extLst>
              <a:ext uri="{FF2B5EF4-FFF2-40B4-BE49-F238E27FC236}">
                <a16:creationId xmlns:a16="http://schemas.microsoft.com/office/drawing/2014/main" id="{6088EB0F-2679-7D5F-2B0E-E7994C907D2F}"/>
              </a:ext>
            </a:extLst>
          </p:cNvPr>
          <p:cNvPicPr>
            <a:picLocks noChangeAspect="1"/>
          </p:cNvPicPr>
          <p:nvPr/>
        </p:nvPicPr>
        <p:blipFill>
          <a:blip r:embed="rId3"/>
          <a:stretch>
            <a:fillRect/>
          </a:stretch>
        </p:blipFill>
        <p:spPr>
          <a:xfrm>
            <a:off x="6703769" y="1307490"/>
            <a:ext cx="2981325" cy="42195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QUERY DEMONSTRATION — LANCE LAMON MARTIN</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Query 12: Average Score by Location</a:t>
            </a:r>
            <a:endParaRPr lang="en-US" sz="2700"/>
          </a:p>
        </p:txBody>
      </p:sp>
      <p:sp>
        <p:nvSpPr>
          <p:cNvPr id="5" name="Shape 3"/>
          <p:cNvSpPr/>
          <p:nvPr/>
        </p:nvSpPr>
        <p:spPr>
          <a:xfrm>
            <a:off x="658368" y="1097280"/>
            <a:ext cx="2208276" cy="310896"/>
          </a:xfrm>
          <a:prstGeom prst="roundRect">
            <a:avLst>
              <a:gd name="adj" fmla="val 23529"/>
            </a:avLst>
          </a:prstGeom>
          <a:solidFill>
            <a:srgbClr val="2F855A"/>
          </a:solidFill>
          <a:ln w="12700">
            <a:solidFill>
              <a:srgbClr val="2F855A"/>
            </a:solidFill>
            <a:prstDash val="solid"/>
          </a:ln>
        </p:spPr>
      </p:sp>
      <p:sp>
        <p:nvSpPr>
          <p:cNvPr id="6" name="Text 4"/>
          <p:cNvSpPr/>
          <p:nvPr/>
        </p:nvSpPr>
        <p:spPr>
          <a:xfrm>
            <a:off x="749808" y="1170432"/>
            <a:ext cx="2025396" cy="146304"/>
          </a:xfrm>
          <a:prstGeom prst="rect">
            <a:avLst/>
          </a:prstGeom>
          <a:noFill/>
          <a:ln/>
        </p:spPr>
        <p:txBody>
          <a:bodyPr wrap="square" lIns="0" tIns="0" rIns="0" bIns="0" rtlCol="0" anchor="ctr">
            <a:normAutofit/>
          </a:bodyPr>
          <a:lstStyle/>
          <a:p>
            <a:pPr marL="0" indent="0" algn="ctr">
              <a:buNone/>
            </a:pPr>
            <a:r>
              <a:rPr lang="en-US" sz="850" b="1">
                <a:solidFill>
                  <a:srgbClr val="FFFFFF"/>
                </a:solidFill>
              </a:rPr>
              <a:t>AVG + GROUP BY location</a:t>
            </a:r>
            <a:endParaRPr lang="en-US" sz="850"/>
          </a:p>
        </p:txBody>
      </p:sp>
      <p:sp>
        <p:nvSpPr>
          <p:cNvPr id="7" name="Text 5"/>
          <p:cNvSpPr/>
          <p:nvPr/>
        </p:nvSpPr>
        <p:spPr>
          <a:xfrm>
            <a:off x="685800" y="1664208"/>
            <a:ext cx="2468880" cy="256032"/>
          </a:xfrm>
          <a:prstGeom prst="rect">
            <a:avLst/>
          </a:prstGeom>
          <a:noFill/>
          <a:ln/>
        </p:spPr>
        <p:txBody>
          <a:bodyPr wrap="square" lIns="0" tIns="0" rIns="0" bIns="0" rtlCol="0" anchor="ctr"/>
          <a:lstStyle/>
          <a:p>
            <a:pPr marL="0" indent="0">
              <a:buNone/>
            </a:pPr>
            <a:r>
              <a:rPr lang="en-US" sz="1500" b="1">
                <a:solidFill>
                  <a:srgbClr val="102A43"/>
                </a:solidFill>
              </a:rPr>
              <a:t>Business rationale</a:t>
            </a:r>
            <a:endParaRPr lang="en-US" sz="1500"/>
          </a:p>
        </p:txBody>
      </p:sp>
      <p:sp>
        <p:nvSpPr>
          <p:cNvPr id="8" name="Text 6"/>
          <p:cNvSpPr/>
          <p:nvPr/>
        </p:nvSpPr>
        <p:spPr>
          <a:xfrm>
            <a:off x="685800" y="1993392"/>
            <a:ext cx="3703320" cy="1170432"/>
          </a:xfrm>
          <a:prstGeom prst="rect">
            <a:avLst/>
          </a:prstGeom>
          <a:noFill/>
          <a:ln/>
        </p:spPr>
        <p:txBody>
          <a:bodyPr wrap="square" lIns="254" tIns="254" rIns="254" bIns="254" rtlCol="0" anchor="t">
            <a:normAutofit/>
          </a:bodyPr>
          <a:lstStyle/>
          <a:p>
            <a:r>
              <a:rPr lang="en-US" sz="1350">
                <a:solidFill>
                  <a:srgbClr val="1A202C"/>
                </a:solidFill>
              </a:rPr>
              <a:t>Compares scoring by venue</a:t>
            </a:r>
            <a:endParaRPr lang="en-US" sz="1350"/>
          </a:p>
          <a:p>
            <a:r>
              <a:rPr lang="en-US" sz="1350">
                <a:solidFill>
                  <a:srgbClr val="1A202C"/>
                </a:solidFill>
              </a:rPr>
              <a:t>Highlights high-scoring locations</a:t>
            </a:r>
            <a:endParaRPr lang="en-US" sz="1350"/>
          </a:p>
          <a:p>
            <a:r>
              <a:rPr lang="en-US" sz="1350">
                <a:solidFill>
                  <a:srgbClr val="1A202C"/>
                </a:solidFill>
              </a:rPr>
              <a:t>Supports scheduling analysis</a:t>
            </a:r>
            <a:endParaRPr lang="en-US" sz="1350"/>
          </a:p>
        </p:txBody>
      </p:sp>
      <p:sp>
        <p:nvSpPr>
          <p:cNvPr id="9" name="Text 7"/>
          <p:cNvSpPr/>
          <p:nvPr/>
        </p:nvSpPr>
        <p:spPr>
          <a:xfrm>
            <a:off x="685800" y="3611880"/>
            <a:ext cx="2468880" cy="256032"/>
          </a:xfrm>
          <a:prstGeom prst="rect">
            <a:avLst/>
          </a:prstGeom>
          <a:noFill/>
          <a:ln/>
        </p:spPr>
        <p:txBody>
          <a:bodyPr wrap="square" lIns="0" tIns="0" rIns="0" bIns="0" rtlCol="0" anchor="ctr"/>
          <a:lstStyle/>
          <a:p>
            <a:pPr marL="0" indent="0">
              <a:buNone/>
            </a:pPr>
            <a:r>
              <a:rPr lang="en-US" sz="1500" b="1">
                <a:solidFill>
                  <a:srgbClr val="102A43"/>
                </a:solidFill>
              </a:rPr>
              <a:t>Real-world use</a:t>
            </a:r>
            <a:endParaRPr lang="en-US" sz="1500"/>
          </a:p>
        </p:txBody>
      </p:sp>
      <p:sp>
        <p:nvSpPr>
          <p:cNvPr id="10" name="Text 8"/>
          <p:cNvSpPr/>
          <p:nvPr/>
        </p:nvSpPr>
        <p:spPr>
          <a:xfrm>
            <a:off x="685800" y="3977640"/>
            <a:ext cx="3794760" cy="804672"/>
          </a:xfrm>
          <a:prstGeom prst="rect">
            <a:avLst/>
          </a:prstGeom>
          <a:noFill/>
          <a:ln/>
        </p:spPr>
        <p:txBody>
          <a:bodyPr wrap="square" lIns="0" tIns="0" rIns="0" bIns="0" rtlCol="0" anchor="ctr">
            <a:normAutofit/>
          </a:bodyPr>
          <a:lstStyle/>
          <a:p>
            <a:pPr marL="0" indent="0">
              <a:buNone/>
            </a:pPr>
            <a:r>
              <a:rPr lang="en-US" sz="1360">
                <a:solidFill>
                  <a:srgbClr val="4A5568"/>
                </a:solidFill>
              </a:rPr>
              <a:t>League staff can evaluate whether certain locations tend to host higher-scoring matches or need special planning.</a:t>
            </a:r>
            <a:endParaRPr lang="en-US" sz="1360"/>
          </a:p>
        </p:txBody>
      </p:sp>
      <p:sp>
        <p:nvSpPr>
          <p:cNvPr id="13" name="Shape 11"/>
          <p:cNvSpPr/>
          <p:nvPr/>
        </p:nvSpPr>
        <p:spPr>
          <a:xfrm>
            <a:off x="5074920" y="4892040"/>
            <a:ext cx="6309360" cy="530352"/>
          </a:xfrm>
          <a:prstGeom prst="roundRect">
            <a:avLst>
              <a:gd name="adj" fmla="val 13793"/>
            </a:avLst>
          </a:prstGeom>
          <a:solidFill>
            <a:srgbClr val="E6F4EA"/>
          </a:solidFill>
          <a:ln w="12700">
            <a:solidFill>
              <a:srgbClr val="B7E4C7"/>
            </a:solidFill>
            <a:prstDash val="solid"/>
          </a:ln>
        </p:spPr>
      </p:sp>
      <p:sp>
        <p:nvSpPr>
          <p:cNvPr id="14" name="Text 12"/>
          <p:cNvSpPr/>
          <p:nvPr/>
        </p:nvSpPr>
        <p:spPr>
          <a:xfrm>
            <a:off x="5285232" y="5047488"/>
            <a:ext cx="5897880" cy="182880"/>
          </a:xfrm>
          <a:prstGeom prst="rect">
            <a:avLst/>
          </a:prstGeom>
          <a:noFill/>
          <a:ln/>
        </p:spPr>
        <p:txBody>
          <a:bodyPr wrap="square" lIns="0" tIns="0" rIns="0" bIns="0" rtlCol="0" anchor="ctr">
            <a:normAutofit/>
          </a:bodyPr>
          <a:lstStyle/>
          <a:p>
            <a:pPr marL="0" indent="0" algn="ctr">
              <a:buNone/>
            </a:pPr>
            <a:r>
              <a:rPr lang="en-US" sz="1350" b="1">
                <a:solidFill>
                  <a:srgbClr val="102A43"/>
                </a:solidFill>
              </a:rPr>
              <a:t>Key output: Alamo City Arena has the highest average total score shown.</a:t>
            </a:r>
            <a:endParaRPr lang="en-US" sz="1350"/>
          </a:p>
        </p:txBody>
      </p:sp>
      <p:sp>
        <p:nvSpPr>
          <p:cNvPr id="15" name="Text 13"/>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21</a:t>
            </a:r>
            <a:endParaRPr lang="en-US" sz="750"/>
          </a:p>
        </p:txBody>
      </p:sp>
      <p:pic>
        <p:nvPicPr>
          <p:cNvPr id="16" name="Picture 15" descr="A screenshot of a computer&#10;&#10;AI-generated content may be incorrect.">
            <a:extLst>
              <a:ext uri="{FF2B5EF4-FFF2-40B4-BE49-F238E27FC236}">
                <a16:creationId xmlns:a16="http://schemas.microsoft.com/office/drawing/2014/main" id="{226CACD6-C3A7-7CCE-6E87-08B7FB587B97}"/>
              </a:ext>
            </a:extLst>
          </p:cNvPr>
          <p:cNvPicPr>
            <a:picLocks noChangeAspect="1"/>
          </p:cNvPicPr>
          <p:nvPr/>
        </p:nvPicPr>
        <p:blipFill>
          <a:blip r:embed="rId3"/>
          <a:stretch>
            <a:fillRect/>
          </a:stretch>
        </p:blipFill>
        <p:spPr>
          <a:xfrm>
            <a:off x="6625004" y="1307856"/>
            <a:ext cx="3197469" cy="332788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BONUS TRIGGER DEMONSTRATION</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Query 13: Insert Trigger Updates Team Stats</a:t>
            </a:r>
            <a:endParaRPr lang="en-US" sz="2700"/>
          </a:p>
        </p:txBody>
      </p:sp>
      <p:sp>
        <p:nvSpPr>
          <p:cNvPr id="5" name="Shape 3"/>
          <p:cNvSpPr/>
          <p:nvPr/>
        </p:nvSpPr>
        <p:spPr>
          <a:xfrm>
            <a:off x="658368" y="1097280"/>
            <a:ext cx="2240280" cy="310896"/>
          </a:xfrm>
          <a:prstGeom prst="roundRect">
            <a:avLst>
              <a:gd name="adj" fmla="val 23529"/>
            </a:avLst>
          </a:prstGeom>
          <a:solidFill>
            <a:srgbClr val="F6AD55"/>
          </a:solidFill>
          <a:ln w="12700">
            <a:solidFill>
              <a:srgbClr val="F6AD55"/>
            </a:solidFill>
            <a:prstDash val="solid"/>
          </a:ln>
        </p:spPr>
      </p:sp>
      <p:sp>
        <p:nvSpPr>
          <p:cNvPr id="6" name="Text 4"/>
          <p:cNvSpPr/>
          <p:nvPr/>
        </p:nvSpPr>
        <p:spPr>
          <a:xfrm>
            <a:off x="749808" y="1170432"/>
            <a:ext cx="2057400" cy="146304"/>
          </a:xfrm>
          <a:prstGeom prst="rect">
            <a:avLst/>
          </a:prstGeom>
          <a:noFill/>
          <a:ln/>
        </p:spPr>
        <p:txBody>
          <a:bodyPr wrap="square" lIns="0" tIns="0" rIns="0" bIns="0" rtlCol="0" anchor="ctr">
            <a:normAutofit/>
          </a:bodyPr>
          <a:lstStyle/>
          <a:p>
            <a:pPr marL="0" indent="0" algn="ctr">
              <a:buNone/>
            </a:pPr>
            <a:r>
              <a:rPr lang="en-US" sz="850" b="1">
                <a:solidFill>
                  <a:srgbClr val="FFFFFF"/>
                </a:solidFill>
              </a:rPr>
              <a:t>AFTER INSERT trigger</a:t>
            </a:r>
            <a:endParaRPr lang="en-US" sz="850"/>
          </a:p>
        </p:txBody>
      </p:sp>
      <p:sp>
        <p:nvSpPr>
          <p:cNvPr id="7" name="Text 5"/>
          <p:cNvSpPr/>
          <p:nvPr/>
        </p:nvSpPr>
        <p:spPr>
          <a:xfrm>
            <a:off x="685800" y="1664208"/>
            <a:ext cx="2468880" cy="256032"/>
          </a:xfrm>
          <a:prstGeom prst="rect">
            <a:avLst/>
          </a:prstGeom>
          <a:noFill/>
          <a:ln/>
        </p:spPr>
        <p:txBody>
          <a:bodyPr wrap="square" lIns="0" tIns="0" rIns="0" bIns="0" rtlCol="0" anchor="ctr"/>
          <a:lstStyle/>
          <a:p>
            <a:pPr marL="0" indent="0">
              <a:buNone/>
            </a:pPr>
            <a:r>
              <a:rPr lang="en-US" sz="1500" b="1">
                <a:solidFill>
                  <a:srgbClr val="102A43"/>
                </a:solidFill>
              </a:rPr>
              <a:t>Business rationale</a:t>
            </a:r>
            <a:endParaRPr lang="en-US" sz="1500"/>
          </a:p>
        </p:txBody>
      </p:sp>
      <p:sp>
        <p:nvSpPr>
          <p:cNvPr id="8" name="Text 6"/>
          <p:cNvSpPr/>
          <p:nvPr/>
        </p:nvSpPr>
        <p:spPr>
          <a:xfrm>
            <a:off x="685800" y="1993392"/>
            <a:ext cx="3703320" cy="1325880"/>
          </a:xfrm>
          <a:prstGeom prst="rect">
            <a:avLst/>
          </a:prstGeom>
          <a:noFill/>
          <a:ln/>
        </p:spPr>
        <p:txBody>
          <a:bodyPr wrap="square" lIns="254" tIns="254" rIns="254" bIns="254" rtlCol="0" anchor="t">
            <a:normAutofit/>
          </a:bodyPr>
          <a:lstStyle/>
          <a:p>
            <a:r>
              <a:rPr lang="en-US" sz="1350">
                <a:solidFill>
                  <a:srgbClr val="1A202C"/>
                </a:solidFill>
              </a:rPr>
              <a:t>Automatically updates wins, losses, ties, and points</a:t>
            </a:r>
            <a:endParaRPr lang="en-US" sz="1350"/>
          </a:p>
          <a:p>
            <a:r>
              <a:rPr lang="en-US" sz="1350">
                <a:solidFill>
                  <a:srgbClr val="1A202C"/>
                </a:solidFill>
              </a:rPr>
              <a:t>Reduces manual standings errors</a:t>
            </a:r>
            <a:endParaRPr lang="en-US" sz="1350"/>
          </a:p>
          <a:p>
            <a:r>
              <a:rPr lang="en-US" sz="1350">
                <a:solidFill>
                  <a:srgbClr val="1A202C"/>
                </a:solidFill>
              </a:rPr>
              <a:t>Keeps standings synchronized with completed matches</a:t>
            </a:r>
            <a:endParaRPr lang="en-US" sz="1350"/>
          </a:p>
        </p:txBody>
      </p:sp>
      <p:sp>
        <p:nvSpPr>
          <p:cNvPr id="9" name="Text 7"/>
          <p:cNvSpPr/>
          <p:nvPr/>
        </p:nvSpPr>
        <p:spPr>
          <a:xfrm>
            <a:off x="685800" y="3703320"/>
            <a:ext cx="2468880" cy="256032"/>
          </a:xfrm>
          <a:prstGeom prst="rect">
            <a:avLst/>
          </a:prstGeom>
          <a:noFill/>
          <a:ln/>
        </p:spPr>
        <p:txBody>
          <a:bodyPr wrap="square" lIns="0" tIns="0" rIns="0" bIns="0" rtlCol="0" anchor="ctr"/>
          <a:lstStyle/>
          <a:p>
            <a:pPr marL="0" indent="0">
              <a:buNone/>
            </a:pPr>
            <a:r>
              <a:rPr lang="en-US" sz="1500" b="1">
                <a:solidFill>
                  <a:srgbClr val="102A43"/>
                </a:solidFill>
              </a:rPr>
              <a:t>Example action</a:t>
            </a:r>
            <a:endParaRPr lang="en-US" sz="1500"/>
          </a:p>
        </p:txBody>
      </p:sp>
      <p:sp>
        <p:nvSpPr>
          <p:cNvPr id="10" name="Text 8"/>
          <p:cNvSpPr/>
          <p:nvPr/>
        </p:nvSpPr>
        <p:spPr>
          <a:xfrm>
            <a:off x="685800" y="4069080"/>
            <a:ext cx="3703320" cy="594360"/>
          </a:xfrm>
          <a:prstGeom prst="rect">
            <a:avLst/>
          </a:prstGeom>
          <a:noFill/>
          <a:ln/>
        </p:spPr>
        <p:txBody>
          <a:bodyPr wrap="square" lIns="0" tIns="0" rIns="0" bIns="0" rtlCol="0" anchor="ctr">
            <a:normAutofit/>
          </a:bodyPr>
          <a:lstStyle/>
          <a:p>
            <a:pPr marL="0" indent="0">
              <a:buNone/>
            </a:pPr>
            <a:r>
              <a:rPr lang="en-US" sz="1360">
                <a:solidFill>
                  <a:srgbClr val="4A5568"/>
                </a:solidFill>
              </a:rPr>
              <a:t>Insert a completed match where Alamo Strikers defeat Cactus Kickers, 2–1.</a:t>
            </a:r>
            <a:endParaRPr lang="en-US" sz="1360"/>
          </a:p>
        </p:txBody>
      </p:sp>
      <p:sp>
        <p:nvSpPr>
          <p:cNvPr id="11" name="Text 9"/>
          <p:cNvSpPr/>
          <p:nvPr/>
        </p:nvSpPr>
        <p:spPr>
          <a:xfrm>
            <a:off x="4773168" y="1097280"/>
            <a:ext cx="2194560" cy="228600"/>
          </a:xfrm>
          <a:prstGeom prst="rect">
            <a:avLst/>
          </a:prstGeom>
          <a:noFill/>
          <a:ln/>
        </p:spPr>
        <p:txBody>
          <a:bodyPr wrap="square" lIns="0" tIns="0" rIns="0" bIns="0" rtlCol="0" anchor="ctr"/>
          <a:lstStyle/>
          <a:p>
            <a:pPr marL="0" indent="0">
              <a:buNone/>
            </a:pPr>
            <a:r>
              <a:rPr lang="en-US" sz="1500" b="1">
                <a:solidFill>
                  <a:srgbClr val="2F855A"/>
                </a:solidFill>
              </a:rPr>
              <a:t>Before trigger</a:t>
            </a:r>
            <a:endParaRPr lang="en-US" sz="1500"/>
          </a:p>
        </p:txBody>
      </p:sp>
      <p:sp>
        <p:nvSpPr>
          <p:cNvPr id="12" name="Shape 10"/>
          <p:cNvSpPr/>
          <p:nvPr/>
        </p:nvSpPr>
        <p:spPr>
          <a:xfrm>
            <a:off x="4736592" y="1444752"/>
            <a:ext cx="6995160" cy="1143000"/>
          </a:xfrm>
          <a:prstGeom prst="roundRect">
            <a:avLst>
              <a:gd name="adj" fmla="val 4000"/>
            </a:avLst>
          </a:prstGeom>
          <a:solidFill>
            <a:srgbClr val="FFFFFF"/>
          </a:solidFill>
          <a:ln w="10160">
            <a:solidFill>
              <a:srgbClr val="D1D5DB"/>
            </a:solidFill>
            <a:prstDash val="solid"/>
          </a:ln>
        </p:spPr>
      </p:sp>
      <p:sp>
        <p:nvSpPr>
          <p:cNvPr id="14" name="Text 12"/>
          <p:cNvSpPr/>
          <p:nvPr/>
        </p:nvSpPr>
        <p:spPr>
          <a:xfrm>
            <a:off x="4773168" y="2944368"/>
            <a:ext cx="2194560" cy="228600"/>
          </a:xfrm>
          <a:prstGeom prst="rect">
            <a:avLst/>
          </a:prstGeom>
          <a:noFill/>
          <a:ln/>
        </p:spPr>
        <p:txBody>
          <a:bodyPr wrap="square" lIns="0" tIns="0" rIns="0" bIns="0" rtlCol="0" anchor="ctr"/>
          <a:lstStyle/>
          <a:p>
            <a:pPr marL="0" indent="0">
              <a:buNone/>
            </a:pPr>
            <a:r>
              <a:rPr lang="en-US" sz="1500" b="1">
                <a:solidFill>
                  <a:srgbClr val="2F855A"/>
                </a:solidFill>
              </a:rPr>
              <a:t>After trigger</a:t>
            </a:r>
            <a:endParaRPr lang="en-US" sz="1500"/>
          </a:p>
        </p:txBody>
      </p:sp>
      <p:sp>
        <p:nvSpPr>
          <p:cNvPr id="15" name="Shape 13"/>
          <p:cNvSpPr/>
          <p:nvPr/>
        </p:nvSpPr>
        <p:spPr>
          <a:xfrm>
            <a:off x="4736592" y="3291840"/>
            <a:ext cx="6995160" cy="1143000"/>
          </a:xfrm>
          <a:prstGeom prst="roundRect">
            <a:avLst>
              <a:gd name="adj" fmla="val 4000"/>
            </a:avLst>
          </a:prstGeom>
          <a:solidFill>
            <a:srgbClr val="FFFFFF"/>
          </a:solidFill>
          <a:ln w="10160">
            <a:solidFill>
              <a:srgbClr val="D1D5DB"/>
            </a:solidFill>
            <a:prstDash val="solid"/>
          </a:ln>
        </p:spPr>
      </p:sp>
      <p:sp>
        <p:nvSpPr>
          <p:cNvPr id="17" name="Shape 15"/>
          <p:cNvSpPr/>
          <p:nvPr/>
        </p:nvSpPr>
        <p:spPr>
          <a:xfrm>
            <a:off x="5074920" y="4892040"/>
            <a:ext cx="6309360" cy="530352"/>
          </a:xfrm>
          <a:prstGeom prst="roundRect">
            <a:avLst>
              <a:gd name="adj" fmla="val 13793"/>
            </a:avLst>
          </a:prstGeom>
          <a:solidFill>
            <a:srgbClr val="E6F4EA"/>
          </a:solidFill>
          <a:ln w="12700">
            <a:solidFill>
              <a:srgbClr val="B7E4C7"/>
            </a:solidFill>
            <a:prstDash val="solid"/>
          </a:ln>
        </p:spPr>
      </p:sp>
      <p:sp>
        <p:nvSpPr>
          <p:cNvPr id="18" name="Text 16"/>
          <p:cNvSpPr/>
          <p:nvPr/>
        </p:nvSpPr>
        <p:spPr>
          <a:xfrm>
            <a:off x="5285232" y="5047488"/>
            <a:ext cx="5897880" cy="182880"/>
          </a:xfrm>
          <a:prstGeom prst="rect">
            <a:avLst/>
          </a:prstGeom>
          <a:noFill/>
          <a:ln/>
        </p:spPr>
        <p:txBody>
          <a:bodyPr wrap="square" lIns="0" tIns="0" rIns="0" bIns="0" rtlCol="0" anchor="ctr">
            <a:normAutofit/>
          </a:bodyPr>
          <a:lstStyle/>
          <a:p>
            <a:pPr marL="0" indent="0" algn="ctr">
              <a:buNone/>
            </a:pPr>
            <a:r>
              <a:rPr lang="en-US" sz="1350" b="1">
                <a:solidFill>
                  <a:srgbClr val="102A43"/>
                </a:solidFill>
              </a:rPr>
              <a:t>Key output: standings change automatically when a new completed match is inserted.</a:t>
            </a:r>
            <a:endParaRPr lang="en-US" sz="1350"/>
          </a:p>
        </p:txBody>
      </p:sp>
      <p:sp>
        <p:nvSpPr>
          <p:cNvPr id="19" name="Text 17"/>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22</a:t>
            </a:r>
            <a:endParaRPr lang="en-US" sz="750"/>
          </a:p>
        </p:txBody>
      </p:sp>
      <p:graphicFrame>
        <p:nvGraphicFramePr>
          <p:cNvPr id="20" name="Table 19">
            <a:extLst>
              <a:ext uri="{FF2B5EF4-FFF2-40B4-BE49-F238E27FC236}">
                <a16:creationId xmlns:a16="http://schemas.microsoft.com/office/drawing/2014/main" id="{08C0EE1E-C05E-2279-AB7F-C2EBB6727817}"/>
              </a:ext>
            </a:extLst>
          </p:cNvPr>
          <p:cNvGraphicFramePr>
            <a:graphicFrameLocks noGrp="1"/>
          </p:cNvGraphicFramePr>
          <p:nvPr>
            <p:extLst>
              <p:ext uri="{D42A27DB-BD31-4B8C-83A1-F6EECF244321}">
                <p14:modId xmlns:p14="http://schemas.microsoft.com/office/powerpoint/2010/main" val="3088231823"/>
              </p:ext>
            </p:extLst>
          </p:nvPr>
        </p:nvGraphicFramePr>
        <p:xfrm>
          <a:off x="4731434" y="1613331"/>
          <a:ext cx="7006584" cy="1008346"/>
        </p:xfrm>
        <a:graphic>
          <a:graphicData uri="http://schemas.openxmlformats.org/drawingml/2006/table">
            <a:tbl>
              <a:tblPr firstRow="1" bandRow="1">
                <a:tableStyleId>{93296810-A885-4BE3-A3E7-6D5BEEA58F35}</a:tableStyleId>
              </a:tblPr>
              <a:tblGrid>
                <a:gridCol w="1167764">
                  <a:extLst>
                    <a:ext uri="{9D8B030D-6E8A-4147-A177-3AD203B41FA5}">
                      <a16:colId xmlns:a16="http://schemas.microsoft.com/office/drawing/2014/main" val="949967169"/>
                    </a:ext>
                  </a:extLst>
                </a:gridCol>
                <a:gridCol w="1167764">
                  <a:extLst>
                    <a:ext uri="{9D8B030D-6E8A-4147-A177-3AD203B41FA5}">
                      <a16:colId xmlns:a16="http://schemas.microsoft.com/office/drawing/2014/main" val="2594361242"/>
                    </a:ext>
                  </a:extLst>
                </a:gridCol>
                <a:gridCol w="1167764">
                  <a:extLst>
                    <a:ext uri="{9D8B030D-6E8A-4147-A177-3AD203B41FA5}">
                      <a16:colId xmlns:a16="http://schemas.microsoft.com/office/drawing/2014/main" val="635850406"/>
                    </a:ext>
                  </a:extLst>
                </a:gridCol>
                <a:gridCol w="1167764">
                  <a:extLst>
                    <a:ext uri="{9D8B030D-6E8A-4147-A177-3AD203B41FA5}">
                      <a16:colId xmlns:a16="http://schemas.microsoft.com/office/drawing/2014/main" val="1915605774"/>
                    </a:ext>
                  </a:extLst>
                </a:gridCol>
                <a:gridCol w="1167764">
                  <a:extLst>
                    <a:ext uri="{9D8B030D-6E8A-4147-A177-3AD203B41FA5}">
                      <a16:colId xmlns:a16="http://schemas.microsoft.com/office/drawing/2014/main" val="2604646452"/>
                    </a:ext>
                  </a:extLst>
                </a:gridCol>
                <a:gridCol w="1167764">
                  <a:extLst>
                    <a:ext uri="{9D8B030D-6E8A-4147-A177-3AD203B41FA5}">
                      <a16:colId xmlns:a16="http://schemas.microsoft.com/office/drawing/2014/main" val="4172024380"/>
                    </a:ext>
                  </a:extLst>
                </a:gridCol>
              </a:tblGrid>
              <a:tr h="275573">
                <a:tc>
                  <a:txBody>
                    <a:bodyPr/>
                    <a:lstStyle/>
                    <a:p>
                      <a:pPr algn="ctr"/>
                      <a:r>
                        <a:rPr lang="en-US" sz="1200" b="1" err="1"/>
                        <a:t>team_season</a:t>
                      </a:r>
                    </a:p>
                  </a:txBody>
                  <a:tcPr/>
                </a:tc>
                <a:tc>
                  <a:txBody>
                    <a:bodyPr/>
                    <a:lstStyle/>
                    <a:p>
                      <a:pPr algn="ctr"/>
                      <a:r>
                        <a:rPr lang="en-US" sz="1200" b="1" err="1"/>
                        <a:t>team_name</a:t>
                      </a:r>
                    </a:p>
                  </a:txBody>
                  <a:tcPr/>
                </a:tc>
                <a:tc>
                  <a:txBody>
                    <a:bodyPr/>
                    <a:lstStyle/>
                    <a:p>
                      <a:pPr algn="ctr"/>
                      <a:r>
                        <a:rPr lang="en-US" sz="1200"/>
                        <a:t>wins</a:t>
                      </a:r>
                    </a:p>
                  </a:txBody>
                  <a:tcPr/>
                </a:tc>
                <a:tc>
                  <a:txBody>
                    <a:bodyPr/>
                    <a:lstStyle/>
                    <a:p>
                      <a:pPr algn="ctr"/>
                      <a:r>
                        <a:rPr lang="en-US" sz="1200"/>
                        <a:t>losses</a:t>
                      </a:r>
                    </a:p>
                  </a:txBody>
                  <a:tcPr/>
                </a:tc>
                <a:tc>
                  <a:txBody>
                    <a:bodyPr/>
                    <a:lstStyle/>
                    <a:p>
                      <a:pPr algn="ctr"/>
                      <a:r>
                        <a:rPr lang="en-US" sz="1200"/>
                        <a:t>ties</a:t>
                      </a:r>
                    </a:p>
                  </a:txBody>
                  <a:tcPr/>
                </a:tc>
                <a:tc>
                  <a:txBody>
                    <a:bodyPr/>
                    <a:lstStyle/>
                    <a:p>
                      <a:pPr algn="ctr"/>
                      <a:r>
                        <a:rPr lang="en-US" sz="1200"/>
                        <a:t>points</a:t>
                      </a:r>
                    </a:p>
                  </a:txBody>
                  <a:tcPr/>
                </a:tc>
                <a:extLst>
                  <a:ext uri="{0D108BD9-81ED-4DB2-BD59-A6C34878D82A}">
                    <a16:rowId xmlns:a16="http://schemas.microsoft.com/office/drawing/2014/main" val="2707135358"/>
                  </a:ext>
                </a:extLst>
              </a:tr>
              <a:tr h="275573">
                <a:tc>
                  <a:txBody>
                    <a:bodyPr/>
                    <a:lstStyle/>
                    <a:p>
                      <a:pPr algn="ctr"/>
                      <a:r>
                        <a:rPr lang="en-US" sz="1200"/>
                        <a:t>601</a:t>
                      </a:r>
                    </a:p>
                  </a:txBody>
                  <a:tcPr/>
                </a:tc>
                <a:tc>
                  <a:txBody>
                    <a:bodyPr/>
                    <a:lstStyle/>
                    <a:p>
                      <a:pPr algn="ctr"/>
                      <a:r>
                        <a:rPr lang="en-US" sz="1200"/>
                        <a:t>Alamo Strikers</a:t>
                      </a:r>
                    </a:p>
                  </a:txBody>
                  <a:tcPr/>
                </a:tc>
                <a:tc>
                  <a:txBody>
                    <a:bodyPr/>
                    <a:lstStyle/>
                    <a:p>
                      <a:pPr algn="ctr"/>
                      <a:r>
                        <a:rPr lang="en-US" sz="1200"/>
                        <a:t>1</a:t>
                      </a:r>
                    </a:p>
                  </a:txBody>
                  <a:tcPr/>
                </a:tc>
                <a:tc>
                  <a:txBody>
                    <a:bodyPr/>
                    <a:lstStyle/>
                    <a:p>
                      <a:pPr algn="ctr"/>
                      <a:r>
                        <a:rPr lang="en-US" sz="1200"/>
                        <a:t>0</a:t>
                      </a:r>
                    </a:p>
                  </a:txBody>
                  <a:tcPr/>
                </a:tc>
                <a:tc>
                  <a:txBody>
                    <a:bodyPr/>
                    <a:lstStyle/>
                    <a:p>
                      <a:pPr algn="ctr"/>
                      <a:r>
                        <a:rPr lang="en-US" sz="1200"/>
                        <a:t>1</a:t>
                      </a:r>
                    </a:p>
                  </a:txBody>
                  <a:tcPr/>
                </a:tc>
                <a:tc>
                  <a:txBody>
                    <a:bodyPr/>
                    <a:lstStyle/>
                    <a:p>
                      <a:pPr algn="ctr"/>
                      <a:r>
                        <a:rPr lang="en-US" sz="1200"/>
                        <a:t>4</a:t>
                      </a:r>
                    </a:p>
                  </a:txBody>
                  <a:tcPr/>
                </a:tc>
                <a:extLst>
                  <a:ext uri="{0D108BD9-81ED-4DB2-BD59-A6C34878D82A}">
                    <a16:rowId xmlns:a16="http://schemas.microsoft.com/office/drawing/2014/main" val="2137281037"/>
                  </a:ext>
                </a:extLst>
              </a:tr>
              <a:tr h="275573">
                <a:tc>
                  <a:txBody>
                    <a:bodyPr/>
                    <a:lstStyle/>
                    <a:p>
                      <a:pPr algn="ctr"/>
                      <a:r>
                        <a:rPr lang="en-US" sz="1200"/>
                        <a:t>602</a:t>
                      </a:r>
                    </a:p>
                  </a:txBody>
                  <a:tcPr/>
                </a:tc>
                <a:tc>
                  <a:txBody>
                    <a:bodyPr/>
                    <a:lstStyle/>
                    <a:p>
                      <a:pPr algn="ctr"/>
                      <a:r>
                        <a:rPr lang="en-US" sz="1200"/>
                        <a:t>Cactus Kickers</a:t>
                      </a:r>
                    </a:p>
                  </a:txBody>
                  <a:tcPr/>
                </a:tc>
                <a:tc>
                  <a:txBody>
                    <a:bodyPr/>
                    <a:lstStyle/>
                    <a:p>
                      <a:pPr algn="ctr"/>
                      <a:r>
                        <a:rPr lang="en-US" sz="1200"/>
                        <a:t>1</a:t>
                      </a:r>
                    </a:p>
                  </a:txBody>
                  <a:tcPr/>
                </a:tc>
                <a:tc>
                  <a:txBody>
                    <a:bodyPr/>
                    <a:lstStyle/>
                    <a:p>
                      <a:pPr algn="ctr"/>
                      <a:r>
                        <a:rPr lang="en-US" sz="1200"/>
                        <a:t>1</a:t>
                      </a:r>
                    </a:p>
                  </a:txBody>
                  <a:tcPr/>
                </a:tc>
                <a:tc>
                  <a:txBody>
                    <a:bodyPr/>
                    <a:lstStyle/>
                    <a:p>
                      <a:pPr algn="ctr"/>
                      <a:r>
                        <a:rPr lang="en-US" sz="1200"/>
                        <a:t>0</a:t>
                      </a:r>
                    </a:p>
                  </a:txBody>
                  <a:tcPr/>
                </a:tc>
                <a:tc>
                  <a:txBody>
                    <a:bodyPr/>
                    <a:lstStyle/>
                    <a:p>
                      <a:pPr algn="ctr"/>
                      <a:r>
                        <a:rPr lang="en-US" sz="1200"/>
                        <a:t>3</a:t>
                      </a:r>
                    </a:p>
                  </a:txBody>
                  <a:tcPr/>
                </a:tc>
                <a:extLst>
                  <a:ext uri="{0D108BD9-81ED-4DB2-BD59-A6C34878D82A}">
                    <a16:rowId xmlns:a16="http://schemas.microsoft.com/office/drawing/2014/main" val="158055126"/>
                  </a:ext>
                </a:extLst>
              </a:tr>
            </a:tbl>
          </a:graphicData>
        </a:graphic>
      </p:graphicFrame>
      <p:graphicFrame>
        <p:nvGraphicFramePr>
          <p:cNvPr id="21" name="Table 20">
            <a:extLst>
              <a:ext uri="{FF2B5EF4-FFF2-40B4-BE49-F238E27FC236}">
                <a16:creationId xmlns:a16="http://schemas.microsoft.com/office/drawing/2014/main" id="{81C7C33E-3785-63A8-45E8-A909C4A082FE}"/>
              </a:ext>
            </a:extLst>
          </p:cNvPr>
          <p:cNvGraphicFramePr>
            <a:graphicFrameLocks noGrp="1"/>
          </p:cNvGraphicFramePr>
          <p:nvPr>
            <p:extLst>
              <p:ext uri="{D42A27DB-BD31-4B8C-83A1-F6EECF244321}">
                <p14:modId xmlns:p14="http://schemas.microsoft.com/office/powerpoint/2010/main" val="2846693869"/>
              </p:ext>
            </p:extLst>
          </p:nvPr>
        </p:nvGraphicFramePr>
        <p:xfrm>
          <a:off x="4731433" y="3453853"/>
          <a:ext cx="7006584" cy="1008346"/>
        </p:xfrm>
        <a:graphic>
          <a:graphicData uri="http://schemas.openxmlformats.org/drawingml/2006/table">
            <a:tbl>
              <a:tblPr firstRow="1" bandRow="1">
                <a:tableStyleId>{93296810-A885-4BE3-A3E7-6D5BEEA58F35}</a:tableStyleId>
              </a:tblPr>
              <a:tblGrid>
                <a:gridCol w="1167764">
                  <a:extLst>
                    <a:ext uri="{9D8B030D-6E8A-4147-A177-3AD203B41FA5}">
                      <a16:colId xmlns:a16="http://schemas.microsoft.com/office/drawing/2014/main" val="949967169"/>
                    </a:ext>
                  </a:extLst>
                </a:gridCol>
                <a:gridCol w="1167764">
                  <a:extLst>
                    <a:ext uri="{9D8B030D-6E8A-4147-A177-3AD203B41FA5}">
                      <a16:colId xmlns:a16="http://schemas.microsoft.com/office/drawing/2014/main" val="2594361242"/>
                    </a:ext>
                  </a:extLst>
                </a:gridCol>
                <a:gridCol w="1167764">
                  <a:extLst>
                    <a:ext uri="{9D8B030D-6E8A-4147-A177-3AD203B41FA5}">
                      <a16:colId xmlns:a16="http://schemas.microsoft.com/office/drawing/2014/main" val="635850406"/>
                    </a:ext>
                  </a:extLst>
                </a:gridCol>
                <a:gridCol w="1167764">
                  <a:extLst>
                    <a:ext uri="{9D8B030D-6E8A-4147-A177-3AD203B41FA5}">
                      <a16:colId xmlns:a16="http://schemas.microsoft.com/office/drawing/2014/main" val="1915605774"/>
                    </a:ext>
                  </a:extLst>
                </a:gridCol>
                <a:gridCol w="1167764">
                  <a:extLst>
                    <a:ext uri="{9D8B030D-6E8A-4147-A177-3AD203B41FA5}">
                      <a16:colId xmlns:a16="http://schemas.microsoft.com/office/drawing/2014/main" val="2604646452"/>
                    </a:ext>
                  </a:extLst>
                </a:gridCol>
                <a:gridCol w="1167764">
                  <a:extLst>
                    <a:ext uri="{9D8B030D-6E8A-4147-A177-3AD203B41FA5}">
                      <a16:colId xmlns:a16="http://schemas.microsoft.com/office/drawing/2014/main" val="4172024380"/>
                    </a:ext>
                  </a:extLst>
                </a:gridCol>
              </a:tblGrid>
              <a:tr h="275573">
                <a:tc>
                  <a:txBody>
                    <a:bodyPr/>
                    <a:lstStyle/>
                    <a:p>
                      <a:pPr algn="ctr"/>
                      <a:r>
                        <a:rPr lang="en-US" sz="1200" b="1" err="1"/>
                        <a:t>team_season</a:t>
                      </a:r>
                    </a:p>
                  </a:txBody>
                  <a:tcPr/>
                </a:tc>
                <a:tc>
                  <a:txBody>
                    <a:bodyPr/>
                    <a:lstStyle/>
                    <a:p>
                      <a:pPr algn="ctr"/>
                      <a:r>
                        <a:rPr lang="en-US" sz="1200" b="1" err="1"/>
                        <a:t>team_name</a:t>
                      </a:r>
                    </a:p>
                  </a:txBody>
                  <a:tcPr/>
                </a:tc>
                <a:tc>
                  <a:txBody>
                    <a:bodyPr/>
                    <a:lstStyle/>
                    <a:p>
                      <a:pPr algn="ctr"/>
                      <a:r>
                        <a:rPr lang="en-US" sz="1200"/>
                        <a:t>wins</a:t>
                      </a:r>
                    </a:p>
                  </a:txBody>
                  <a:tcPr/>
                </a:tc>
                <a:tc>
                  <a:txBody>
                    <a:bodyPr/>
                    <a:lstStyle/>
                    <a:p>
                      <a:pPr algn="ctr"/>
                      <a:r>
                        <a:rPr lang="en-US" sz="1200"/>
                        <a:t>losses</a:t>
                      </a:r>
                    </a:p>
                  </a:txBody>
                  <a:tcPr/>
                </a:tc>
                <a:tc>
                  <a:txBody>
                    <a:bodyPr/>
                    <a:lstStyle/>
                    <a:p>
                      <a:pPr algn="ctr"/>
                      <a:r>
                        <a:rPr lang="en-US" sz="1200"/>
                        <a:t>ties</a:t>
                      </a:r>
                    </a:p>
                  </a:txBody>
                  <a:tcPr/>
                </a:tc>
                <a:tc>
                  <a:txBody>
                    <a:bodyPr/>
                    <a:lstStyle/>
                    <a:p>
                      <a:pPr algn="ctr"/>
                      <a:r>
                        <a:rPr lang="en-US" sz="1200"/>
                        <a:t>points</a:t>
                      </a:r>
                    </a:p>
                  </a:txBody>
                  <a:tcPr/>
                </a:tc>
                <a:extLst>
                  <a:ext uri="{0D108BD9-81ED-4DB2-BD59-A6C34878D82A}">
                    <a16:rowId xmlns:a16="http://schemas.microsoft.com/office/drawing/2014/main" val="2707135358"/>
                  </a:ext>
                </a:extLst>
              </a:tr>
              <a:tr h="275573">
                <a:tc>
                  <a:txBody>
                    <a:bodyPr/>
                    <a:lstStyle/>
                    <a:p>
                      <a:pPr algn="ctr"/>
                      <a:r>
                        <a:rPr lang="en-US" sz="1200"/>
                        <a:t>601</a:t>
                      </a:r>
                    </a:p>
                  </a:txBody>
                  <a:tcPr/>
                </a:tc>
                <a:tc>
                  <a:txBody>
                    <a:bodyPr/>
                    <a:lstStyle/>
                    <a:p>
                      <a:pPr algn="ctr"/>
                      <a:r>
                        <a:rPr lang="en-US" sz="1200"/>
                        <a:t>Alamo Strikers</a:t>
                      </a:r>
                    </a:p>
                  </a:txBody>
                  <a:tcPr/>
                </a:tc>
                <a:tc>
                  <a:txBody>
                    <a:bodyPr/>
                    <a:lstStyle/>
                    <a:p>
                      <a:pPr algn="ctr"/>
                      <a:r>
                        <a:rPr lang="en-US" sz="1200"/>
                        <a:t>2</a:t>
                      </a:r>
                    </a:p>
                  </a:txBody>
                  <a:tcPr/>
                </a:tc>
                <a:tc>
                  <a:txBody>
                    <a:bodyPr/>
                    <a:lstStyle/>
                    <a:p>
                      <a:pPr algn="ctr"/>
                      <a:r>
                        <a:rPr lang="en-US" sz="1200"/>
                        <a:t>0</a:t>
                      </a:r>
                    </a:p>
                  </a:txBody>
                  <a:tcPr/>
                </a:tc>
                <a:tc>
                  <a:txBody>
                    <a:bodyPr/>
                    <a:lstStyle/>
                    <a:p>
                      <a:pPr algn="ctr"/>
                      <a:r>
                        <a:rPr lang="en-US" sz="1200"/>
                        <a:t>1</a:t>
                      </a:r>
                    </a:p>
                  </a:txBody>
                  <a:tcPr/>
                </a:tc>
                <a:tc>
                  <a:txBody>
                    <a:bodyPr/>
                    <a:lstStyle/>
                    <a:p>
                      <a:pPr algn="ctr"/>
                      <a:r>
                        <a:rPr lang="en-US" sz="1200"/>
                        <a:t>7</a:t>
                      </a:r>
                    </a:p>
                  </a:txBody>
                  <a:tcPr/>
                </a:tc>
                <a:extLst>
                  <a:ext uri="{0D108BD9-81ED-4DB2-BD59-A6C34878D82A}">
                    <a16:rowId xmlns:a16="http://schemas.microsoft.com/office/drawing/2014/main" val="2137281037"/>
                  </a:ext>
                </a:extLst>
              </a:tr>
              <a:tr h="275573">
                <a:tc>
                  <a:txBody>
                    <a:bodyPr/>
                    <a:lstStyle/>
                    <a:p>
                      <a:pPr algn="ctr"/>
                      <a:r>
                        <a:rPr lang="en-US" sz="1200"/>
                        <a:t>602</a:t>
                      </a:r>
                    </a:p>
                  </a:txBody>
                  <a:tcPr/>
                </a:tc>
                <a:tc>
                  <a:txBody>
                    <a:bodyPr/>
                    <a:lstStyle/>
                    <a:p>
                      <a:pPr algn="ctr"/>
                      <a:r>
                        <a:rPr lang="en-US" sz="1200"/>
                        <a:t>Cactus Kickers</a:t>
                      </a:r>
                    </a:p>
                  </a:txBody>
                  <a:tcPr/>
                </a:tc>
                <a:tc>
                  <a:txBody>
                    <a:bodyPr/>
                    <a:lstStyle/>
                    <a:p>
                      <a:pPr algn="ctr"/>
                      <a:r>
                        <a:rPr lang="en-US" sz="1200"/>
                        <a:t>1</a:t>
                      </a:r>
                    </a:p>
                  </a:txBody>
                  <a:tcPr/>
                </a:tc>
                <a:tc>
                  <a:txBody>
                    <a:bodyPr/>
                    <a:lstStyle/>
                    <a:p>
                      <a:pPr algn="ctr"/>
                      <a:r>
                        <a:rPr lang="en-US" sz="1200"/>
                        <a:t>2</a:t>
                      </a:r>
                    </a:p>
                  </a:txBody>
                  <a:tcPr/>
                </a:tc>
                <a:tc>
                  <a:txBody>
                    <a:bodyPr/>
                    <a:lstStyle/>
                    <a:p>
                      <a:pPr algn="ctr"/>
                      <a:r>
                        <a:rPr lang="en-US" sz="1200"/>
                        <a:t>0</a:t>
                      </a:r>
                    </a:p>
                  </a:txBody>
                  <a:tcPr/>
                </a:tc>
                <a:tc>
                  <a:txBody>
                    <a:bodyPr/>
                    <a:lstStyle/>
                    <a:p>
                      <a:pPr algn="ctr"/>
                      <a:r>
                        <a:rPr lang="en-US" sz="1200"/>
                        <a:t>3</a:t>
                      </a:r>
                    </a:p>
                  </a:txBody>
                  <a:tcPr/>
                </a:tc>
                <a:extLst>
                  <a:ext uri="{0D108BD9-81ED-4DB2-BD59-A6C34878D82A}">
                    <a16:rowId xmlns:a16="http://schemas.microsoft.com/office/drawing/2014/main" val="158055126"/>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BONUS TRIGGER DEMONSTRATION</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Query 14: Delete Trigger Reverses Team Stats</a:t>
            </a:r>
            <a:endParaRPr lang="en-US" sz="2700"/>
          </a:p>
        </p:txBody>
      </p:sp>
      <p:sp>
        <p:nvSpPr>
          <p:cNvPr id="5" name="Shape 3"/>
          <p:cNvSpPr/>
          <p:nvPr/>
        </p:nvSpPr>
        <p:spPr>
          <a:xfrm>
            <a:off x="658368" y="1097280"/>
            <a:ext cx="2240280" cy="310896"/>
          </a:xfrm>
          <a:prstGeom prst="roundRect">
            <a:avLst>
              <a:gd name="adj" fmla="val 23529"/>
            </a:avLst>
          </a:prstGeom>
          <a:solidFill>
            <a:srgbClr val="F6AD55"/>
          </a:solidFill>
          <a:ln w="12700">
            <a:solidFill>
              <a:srgbClr val="F6AD55"/>
            </a:solidFill>
            <a:prstDash val="solid"/>
          </a:ln>
        </p:spPr>
      </p:sp>
      <p:sp>
        <p:nvSpPr>
          <p:cNvPr id="6" name="Text 4"/>
          <p:cNvSpPr/>
          <p:nvPr/>
        </p:nvSpPr>
        <p:spPr>
          <a:xfrm>
            <a:off x="749808" y="1170432"/>
            <a:ext cx="2057400" cy="146304"/>
          </a:xfrm>
          <a:prstGeom prst="rect">
            <a:avLst/>
          </a:prstGeom>
          <a:noFill/>
          <a:ln/>
        </p:spPr>
        <p:txBody>
          <a:bodyPr wrap="square" lIns="0" tIns="0" rIns="0" bIns="0" rtlCol="0" anchor="ctr">
            <a:normAutofit/>
          </a:bodyPr>
          <a:lstStyle/>
          <a:p>
            <a:pPr marL="0" indent="0" algn="ctr">
              <a:buNone/>
            </a:pPr>
            <a:r>
              <a:rPr lang="en-US" sz="850" b="1">
                <a:solidFill>
                  <a:srgbClr val="FFFFFF"/>
                </a:solidFill>
              </a:rPr>
              <a:t>AFTER DELETE trigger</a:t>
            </a:r>
            <a:endParaRPr lang="en-US" sz="850"/>
          </a:p>
        </p:txBody>
      </p:sp>
      <p:sp>
        <p:nvSpPr>
          <p:cNvPr id="7" name="Text 5"/>
          <p:cNvSpPr/>
          <p:nvPr/>
        </p:nvSpPr>
        <p:spPr>
          <a:xfrm>
            <a:off x="685800" y="1664208"/>
            <a:ext cx="2468880" cy="256032"/>
          </a:xfrm>
          <a:prstGeom prst="rect">
            <a:avLst/>
          </a:prstGeom>
          <a:noFill/>
          <a:ln/>
        </p:spPr>
        <p:txBody>
          <a:bodyPr wrap="square" lIns="0" tIns="0" rIns="0" bIns="0" rtlCol="0" anchor="ctr"/>
          <a:lstStyle/>
          <a:p>
            <a:pPr marL="0" indent="0">
              <a:buNone/>
            </a:pPr>
            <a:r>
              <a:rPr lang="en-US" sz="1500" b="1">
                <a:solidFill>
                  <a:srgbClr val="102A43"/>
                </a:solidFill>
              </a:rPr>
              <a:t>Business rationale</a:t>
            </a:r>
            <a:endParaRPr lang="en-US" sz="1500"/>
          </a:p>
        </p:txBody>
      </p:sp>
      <p:sp>
        <p:nvSpPr>
          <p:cNvPr id="8" name="Text 6"/>
          <p:cNvSpPr/>
          <p:nvPr/>
        </p:nvSpPr>
        <p:spPr>
          <a:xfrm>
            <a:off x="685800" y="1993392"/>
            <a:ext cx="3703320" cy="1325880"/>
          </a:xfrm>
          <a:prstGeom prst="rect">
            <a:avLst/>
          </a:prstGeom>
          <a:noFill/>
          <a:ln/>
        </p:spPr>
        <p:txBody>
          <a:bodyPr wrap="square" lIns="254" tIns="254" rIns="254" bIns="254" rtlCol="0" anchor="t">
            <a:normAutofit/>
          </a:bodyPr>
          <a:lstStyle/>
          <a:p>
            <a:r>
              <a:rPr lang="en-US" sz="1350">
                <a:solidFill>
                  <a:srgbClr val="1A202C"/>
                </a:solidFill>
              </a:rPr>
              <a:t>Reverses standings when a match is removed</a:t>
            </a:r>
            <a:endParaRPr lang="en-US" sz="1350"/>
          </a:p>
          <a:p>
            <a:r>
              <a:rPr lang="en-US" sz="1350">
                <a:solidFill>
                  <a:srgbClr val="1A202C"/>
                </a:solidFill>
              </a:rPr>
              <a:t>Protects reports from stale totals</a:t>
            </a:r>
            <a:endParaRPr lang="en-US" sz="1350"/>
          </a:p>
          <a:p>
            <a:r>
              <a:rPr lang="en-US" sz="1350">
                <a:solidFill>
                  <a:srgbClr val="1A202C"/>
                </a:solidFill>
              </a:rPr>
              <a:t>Supports correction of mistaken match entries</a:t>
            </a:r>
            <a:endParaRPr lang="en-US" sz="1350"/>
          </a:p>
        </p:txBody>
      </p:sp>
      <p:sp>
        <p:nvSpPr>
          <p:cNvPr id="9" name="Text 7"/>
          <p:cNvSpPr/>
          <p:nvPr/>
        </p:nvSpPr>
        <p:spPr>
          <a:xfrm>
            <a:off x="685800" y="3703320"/>
            <a:ext cx="2468880" cy="256032"/>
          </a:xfrm>
          <a:prstGeom prst="rect">
            <a:avLst/>
          </a:prstGeom>
          <a:noFill/>
          <a:ln/>
        </p:spPr>
        <p:txBody>
          <a:bodyPr wrap="square" lIns="0" tIns="0" rIns="0" bIns="0" rtlCol="0" anchor="ctr"/>
          <a:lstStyle/>
          <a:p>
            <a:pPr marL="0" indent="0">
              <a:buNone/>
            </a:pPr>
            <a:r>
              <a:rPr lang="en-US" sz="1500" b="1">
                <a:solidFill>
                  <a:srgbClr val="102A43"/>
                </a:solidFill>
              </a:rPr>
              <a:t>Example action</a:t>
            </a:r>
            <a:endParaRPr lang="en-US" sz="1500"/>
          </a:p>
        </p:txBody>
      </p:sp>
      <p:sp>
        <p:nvSpPr>
          <p:cNvPr id="10" name="Text 8"/>
          <p:cNvSpPr/>
          <p:nvPr/>
        </p:nvSpPr>
        <p:spPr>
          <a:xfrm>
            <a:off x="685800" y="4069080"/>
            <a:ext cx="3703320" cy="594360"/>
          </a:xfrm>
          <a:prstGeom prst="rect">
            <a:avLst/>
          </a:prstGeom>
          <a:noFill/>
          <a:ln/>
        </p:spPr>
        <p:txBody>
          <a:bodyPr wrap="square" lIns="0" tIns="0" rIns="0" bIns="0" rtlCol="0" anchor="ctr">
            <a:normAutofit/>
          </a:bodyPr>
          <a:lstStyle/>
          <a:p>
            <a:pPr marL="0" indent="0">
              <a:buNone/>
            </a:pPr>
            <a:r>
              <a:rPr lang="en-US" sz="1360">
                <a:solidFill>
                  <a:srgbClr val="4A5568"/>
                </a:solidFill>
              </a:rPr>
              <a:t>Delete the inserted match; the trigger subtracts the related win, loss, and points.</a:t>
            </a:r>
            <a:endParaRPr lang="en-US" sz="1360"/>
          </a:p>
        </p:txBody>
      </p:sp>
      <p:sp>
        <p:nvSpPr>
          <p:cNvPr id="11" name="Text 9"/>
          <p:cNvSpPr/>
          <p:nvPr/>
        </p:nvSpPr>
        <p:spPr>
          <a:xfrm>
            <a:off x="4773168" y="1097280"/>
            <a:ext cx="2194560" cy="228600"/>
          </a:xfrm>
          <a:prstGeom prst="rect">
            <a:avLst/>
          </a:prstGeom>
          <a:noFill/>
          <a:ln/>
        </p:spPr>
        <p:txBody>
          <a:bodyPr wrap="square" lIns="0" tIns="0" rIns="0" bIns="0" rtlCol="0" anchor="ctr"/>
          <a:lstStyle/>
          <a:p>
            <a:pPr marL="0" indent="0">
              <a:buNone/>
            </a:pPr>
            <a:r>
              <a:rPr lang="en-US" sz="1500" b="1">
                <a:solidFill>
                  <a:srgbClr val="2F855A"/>
                </a:solidFill>
              </a:rPr>
              <a:t>Before delete</a:t>
            </a:r>
            <a:endParaRPr lang="en-US" sz="1500"/>
          </a:p>
        </p:txBody>
      </p:sp>
      <p:sp>
        <p:nvSpPr>
          <p:cNvPr id="12" name="Shape 10"/>
          <p:cNvSpPr/>
          <p:nvPr/>
        </p:nvSpPr>
        <p:spPr>
          <a:xfrm>
            <a:off x="4736592" y="1444752"/>
            <a:ext cx="6995160" cy="1143000"/>
          </a:xfrm>
          <a:prstGeom prst="roundRect">
            <a:avLst>
              <a:gd name="adj" fmla="val 4000"/>
            </a:avLst>
          </a:prstGeom>
          <a:solidFill>
            <a:srgbClr val="FFFFFF"/>
          </a:solidFill>
          <a:ln w="10160">
            <a:solidFill>
              <a:srgbClr val="D1D5DB"/>
            </a:solidFill>
            <a:prstDash val="solid"/>
          </a:ln>
        </p:spPr>
      </p:sp>
      <p:sp>
        <p:nvSpPr>
          <p:cNvPr id="14" name="Text 12"/>
          <p:cNvSpPr/>
          <p:nvPr/>
        </p:nvSpPr>
        <p:spPr>
          <a:xfrm>
            <a:off x="4773168" y="2944368"/>
            <a:ext cx="2560320" cy="228600"/>
          </a:xfrm>
          <a:prstGeom prst="rect">
            <a:avLst/>
          </a:prstGeom>
          <a:noFill/>
          <a:ln/>
        </p:spPr>
        <p:txBody>
          <a:bodyPr wrap="square" lIns="0" tIns="0" rIns="0" bIns="0" rtlCol="0" anchor="ctr"/>
          <a:lstStyle/>
          <a:p>
            <a:pPr marL="0" indent="0">
              <a:buNone/>
            </a:pPr>
            <a:r>
              <a:rPr lang="en-US" sz="1500" b="1">
                <a:solidFill>
                  <a:srgbClr val="2F855A"/>
                </a:solidFill>
              </a:rPr>
              <a:t>After delete trigger</a:t>
            </a:r>
            <a:endParaRPr lang="en-US" sz="1500"/>
          </a:p>
        </p:txBody>
      </p:sp>
      <p:sp>
        <p:nvSpPr>
          <p:cNvPr id="15" name="Shape 13"/>
          <p:cNvSpPr/>
          <p:nvPr/>
        </p:nvSpPr>
        <p:spPr>
          <a:xfrm>
            <a:off x="4736592" y="3291840"/>
            <a:ext cx="6995160" cy="1143000"/>
          </a:xfrm>
          <a:prstGeom prst="roundRect">
            <a:avLst>
              <a:gd name="adj" fmla="val 4000"/>
            </a:avLst>
          </a:prstGeom>
          <a:solidFill>
            <a:srgbClr val="FFFFFF"/>
          </a:solidFill>
          <a:ln w="10160">
            <a:solidFill>
              <a:srgbClr val="D1D5DB"/>
            </a:solidFill>
            <a:prstDash val="solid"/>
          </a:ln>
        </p:spPr>
      </p:sp>
      <p:sp>
        <p:nvSpPr>
          <p:cNvPr id="17" name="Shape 15"/>
          <p:cNvSpPr/>
          <p:nvPr/>
        </p:nvSpPr>
        <p:spPr>
          <a:xfrm>
            <a:off x="5074920" y="4892040"/>
            <a:ext cx="6309360" cy="530352"/>
          </a:xfrm>
          <a:prstGeom prst="roundRect">
            <a:avLst>
              <a:gd name="adj" fmla="val 13793"/>
            </a:avLst>
          </a:prstGeom>
          <a:solidFill>
            <a:srgbClr val="E6F4EA"/>
          </a:solidFill>
          <a:ln w="12700">
            <a:solidFill>
              <a:srgbClr val="B7E4C7"/>
            </a:solidFill>
            <a:prstDash val="solid"/>
          </a:ln>
        </p:spPr>
      </p:sp>
      <p:sp>
        <p:nvSpPr>
          <p:cNvPr id="18" name="Text 16"/>
          <p:cNvSpPr/>
          <p:nvPr/>
        </p:nvSpPr>
        <p:spPr>
          <a:xfrm>
            <a:off x="5285232" y="5047488"/>
            <a:ext cx="5897880" cy="182880"/>
          </a:xfrm>
          <a:prstGeom prst="rect">
            <a:avLst/>
          </a:prstGeom>
          <a:noFill/>
          <a:ln/>
        </p:spPr>
        <p:txBody>
          <a:bodyPr wrap="square" lIns="0" tIns="0" rIns="0" bIns="0" rtlCol="0" anchor="ctr">
            <a:normAutofit/>
          </a:bodyPr>
          <a:lstStyle/>
          <a:p>
            <a:pPr marL="0" indent="0" algn="ctr">
              <a:buNone/>
            </a:pPr>
            <a:r>
              <a:rPr lang="en-US" sz="1350" b="1">
                <a:solidFill>
                  <a:srgbClr val="102A43"/>
                </a:solidFill>
              </a:rPr>
              <a:t>Key output: standings return to their previous values after the match is deleted.</a:t>
            </a:r>
            <a:endParaRPr lang="en-US" sz="1350"/>
          </a:p>
        </p:txBody>
      </p:sp>
      <p:sp>
        <p:nvSpPr>
          <p:cNvPr id="19" name="Text 17"/>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23</a:t>
            </a:r>
            <a:endParaRPr lang="en-US" sz="750"/>
          </a:p>
        </p:txBody>
      </p:sp>
      <p:graphicFrame>
        <p:nvGraphicFramePr>
          <p:cNvPr id="21" name="Table 20">
            <a:extLst>
              <a:ext uri="{FF2B5EF4-FFF2-40B4-BE49-F238E27FC236}">
                <a16:creationId xmlns:a16="http://schemas.microsoft.com/office/drawing/2014/main" id="{37ED1C9D-422A-B1CB-7B83-24E688BDFE90}"/>
              </a:ext>
            </a:extLst>
          </p:cNvPr>
          <p:cNvGraphicFramePr>
            <a:graphicFrameLocks noGrp="1"/>
          </p:cNvGraphicFramePr>
          <p:nvPr>
            <p:extLst>
              <p:ext uri="{D42A27DB-BD31-4B8C-83A1-F6EECF244321}">
                <p14:modId xmlns:p14="http://schemas.microsoft.com/office/powerpoint/2010/main" val="1748752851"/>
              </p:ext>
            </p:extLst>
          </p:nvPr>
        </p:nvGraphicFramePr>
        <p:xfrm>
          <a:off x="4731434" y="1613331"/>
          <a:ext cx="7006584" cy="1008346"/>
        </p:xfrm>
        <a:graphic>
          <a:graphicData uri="http://schemas.openxmlformats.org/drawingml/2006/table">
            <a:tbl>
              <a:tblPr firstRow="1" bandRow="1">
                <a:tableStyleId>{93296810-A885-4BE3-A3E7-6D5BEEA58F35}</a:tableStyleId>
              </a:tblPr>
              <a:tblGrid>
                <a:gridCol w="1167764">
                  <a:extLst>
                    <a:ext uri="{9D8B030D-6E8A-4147-A177-3AD203B41FA5}">
                      <a16:colId xmlns:a16="http://schemas.microsoft.com/office/drawing/2014/main" val="949967169"/>
                    </a:ext>
                  </a:extLst>
                </a:gridCol>
                <a:gridCol w="1167764">
                  <a:extLst>
                    <a:ext uri="{9D8B030D-6E8A-4147-A177-3AD203B41FA5}">
                      <a16:colId xmlns:a16="http://schemas.microsoft.com/office/drawing/2014/main" val="2594361242"/>
                    </a:ext>
                  </a:extLst>
                </a:gridCol>
                <a:gridCol w="1167764">
                  <a:extLst>
                    <a:ext uri="{9D8B030D-6E8A-4147-A177-3AD203B41FA5}">
                      <a16:colId xmlns:a16="http://schemas.microsoft.com/office/drawing/2014/main" val="635850406"/>
                    </a:ext>
                  </a:extLst>
                </a:gridCol>
                <a:gridCol w="1167764">
                  <a:extLst>
                    <a:ext uri="{9D8B030D-6E8A-4147-A177-3AD203B41FA5}">
                      <a16:colId xmlns:a16="http://schemas.microsoft.com/office/drawing/2014/main" val="1915605774"/>
                    </a:ext>
                  </a:extLst>
                </a:gridCol>
                <a:gridCol w="1167764">
                  <a:extLst>
                    <a:ext uri="{9D8B030D-6E8A-4147-A177-3AD203B41FA5}">
                      <a16:colId xmlns:a16="http://schemas.microsoft.com/office/drawing/2014/main" val="2604646452"/>
                    </a:ext>
                  </a:extLst>
                </a:gridCol>
                <a:gridCol w="1167764">
                  <a:extLst>
                    <a:ext uri="{9D8B030D-6E8A-4147-A177-3AD203B41FA5}">
                      <a16:colId xmlns:a16="http://schemas.microsoft.com/office/drawing/2014/main" val="4172024380"/>
                    </a:ext>
                  </a:extLst>
                </a:gridCol>
              </a:tblGrid>
              <a:tr h="275573">
                <a:tc>
                  <a:txBody>
                    <a:bodyPr/>
                    <a:lstStyle/>
                    <a:p>
                      <a:pPr algn="ctr"/>
                      <a:r>
                        <a:rPr lang="en-US" sz="1200" b="1" err="1"/>
                        <a:t>team_season</a:t>
                      </a:r>
                    </a:p>
                  </a:txBody>
                  <a:tcPr/>
                </a:tc>
                <a:tc>
                  <a:txBody>
                    <a:bodyPr/>
                    <a:lstStyle/>
                    <a:p>
                      <a:pPr algn="ctr"/>
                      <a:r>
                        <a:rPr lang="en-US" sz="1200" b="1" err="1"/>
                        <a:t>team_name</a:t>
                      </a:r>
                    </a:p>
                  </a:txBody>
                  <a:tcPr/>
                </a:tc>
                <a:tc>
                  <a:txBody>
                    <a:bodyPr/>
                    <a:lstStyle/>
                    <a:p>
                      <a:pPr algn="ctr"/>
                      <a:r>
                        <a:rPr lang="en-US" sz="1200"/>
                        <a:t>wins</a:t>
                      </a:r>
                    </a:p>
                  </a:txBody>
                  <a:tcPr/>
                </a:tc>
                <a:tc>
                  <a:txBody>
                    <a:bodyPr/>
                    <a:lstStyle/>
                    <a:p>
                      <a:pPr algn="ctr"/>
                      <a:r>
                        <a:rPr lang="en-US" sz="1200"/>
                        <a:t>losses</a:t>
                      </a:r>
                    </a:p>
                  </a:txBody>
                  <a:tcPr/>
                </a:tc>
                <a:tc>
                  <a:txBody>
                    <a:bodyPr/>
                    <a:lstStyle/>
                    <a:p>
                      <a:pPr algn="ctr"/>
                      <a:r>
                        <a:rPr lang="en-US" sz="1200"/>
                        <a:t>ties</a:t>
                      </a:r>
                    </a:p>
                  </a:txBody>
                  <a:tcPr/>
                </a:tc>
                <a:tc>
                  <a:txBody>
                    <a:bodyPr/>
                    <a:lstStyle/>
                    <a:p>
                      <a:pPr algn="ctr"/>
                      <a:r>
                        <a:rPr lang="en-US" sz="1200"/>
                        <a:t>points</a:t>
                      </a:r>
                    </a:p>
                  </a:txBody>
                  <a:tcPr/>
                </a:tc>
                <a:extLst>
                  <a:ext uri="{0D108BD9-81ED-4DB2-BD59-A6C34878D82A}">
                    <a16:rowId xmlns:a16="http://schemas.microsoft.com/office/drawing/2014/main" val="2707135358"/>
                  </a:ext>
                </a:extLst>
              </a:tr>
              <a:tr h="275573">
                <a:tc>
                  <a:txBody>
                    <a:bodyPr/>
                    <a:lstStyle/>
                    <a:p>
                      <a:pPr algn="ctr"/>
                      <a:r>
                        <a:rPr lang="en-US" sz="1200"/>
                        <a:t>601</a:t>
                      </a:r>
                    </a:p>
                  </a:txBody>
                  <a:tcPr/>
                </a:tc>
                <a:tc>
                  <a:txBody>
                    <a:bodyPr/>
                    <a:lstStyle/>
                    <a:p>
                      <a:pPr algn="ctr"/>
                      <a:r>
                        <a:rPr lang="en-US" sz="1200"/>
                        <a:t>Alamo Strikers</a:t>
                      </a:r>
                    </a:p>
                  </a:txBody>
                  <a:tcPr/>
                </a:tc>
                <a:tc>
                  <a:txBody>
                    <a:bodyPr/>
                    <a:lstStyle/>
                    <a:p>
                      <a:pPr algn="ctr"/>
                      <a:r>
                        <a:rPr lang="en-US" sz="1200"/>
                        <a:t>2</a:t>
                      </a:r>
                    </a:p>
                  </a:txBody>
                  <a:tcPr/>
                </a:tc>
                <a:tc>
                  <a:txBody>
                    <a:bodyPr/>
                    <a:lstStyle/>
                    <a:p>
                      <a:pPr algn="ctr"/>
                      <a:r>
                        <a:rPr lang="en-US" sz="1200"/>
                        <a:t>0</a:t>
                      </a:r>
                    </a:p>
                  </a:txBody>
                  <a:tcPr/>
                </a:tc>
                <a:tc>
                  <a:txBody>
                    <a:bodyPr/>
                    <a:lstStyle/>
                    <a:p>
                      <a:pPr algn="ctr"/>
                      <a:r>
                        <a:rPr lang="en-US" sz="1200"/>
                        <a:t>1</a:t>
                      </a:r>
                    </a:p>
                  </a:txBody>
                  <a:tcPr/>
                </a:tc>
                <a:tc>
                  <a:txBody>
                    <a:bodyPr/>
                    <a:lstStyle/>
                    <a:p>
                      <a:pPr algn="ctr"/>
                      <a:r>
                        <a:rPr lang="en-US" sz="1200"/>
                        <a:t>7</a:t>
                      </a:r>
                    </a:p>
                  </a:txBody>
                  <a:tcPr/>
                </a:tc>
                <a:extLst>
                  <a:ext uri="{0D108BD9-81ED-4DB2-BD59-A6C34878D82A}">
                    <a16:rowId xmlns:a16="http://schemas.microsoft.com/office/drawing/2014/main" val="2137281037"/>
                  </a:ext>
                </a:extLst>
              </a:tr>
              <a:tr h="275573">
                <a:tc>
                  <a:txBody>
                    <a:bodyPr/>
                    <a:lstStyle/>
                    <a:p>
                      <a:pPr algn="ctr"/>
                      <a:r>
                        <a:rPr lang="en-US" sz="1200"/>
                        <a:t>602</a:t>
                      </a:r>
                    </a:p>
                  </a:txBody>
                  <a:tcPr/>
                </a:tc>
                <a:tc>
                  <a:txBody>
                    <a:bodyPr/>
                    <a:lstStyle/>
                    <a:p>
                      <a:pPr algn="ctr"/>
                      <a:r>
                        <a:rPr lang="en-US" sz="1200"/>
                        <a:t>Cactus Kickers</a:t>
                      </a:r>
                    </a:p>
                  </a:txBody>
                  <a:tcPr/>
                </a:tc>
                <a:tc>
                  <a:txBody>
                    <a:bodyPr/>
                    <a:lstStyle/>
                    <a:p>
                      <a:pPr algn="ctr"/>
                      <a:r>
                        <a:rPr lang="en-US" sz="1200"/>
                        <a:t>1</a:t>
                      </a:r>
                    </a:p>
                  </a:txBody>
                  <a:tcPr/>
                </a:tc>
                <a:tc>
                  <a:txBody>
                    <a:bodyPr/>
                    <a:lstStyle/>
                    <a:p>
                      <a:pPr algn="ctr"/>
                      <a:r>
                        <a:rPr lang="en-US" sz="1200"/>
                        <a:t>2</a:t>
                      </a:r>
                    </a:p>
                  </a:txBody>
                  <a:tcPr/>
                </a:tc>
                <a:tc>
                  <a:txBody>
                    <a:bodyPr/>
                    <a:lstStyle/>
                    <a:p>
                      <a:pPr algn="ctr"/>
                      <a:r>
                        <a:rPr lang="en-US" sz="1200"/>
                        <a:t>0</a:t>
                      </a:r>
                    </a:p>
                  </a:txBody>
                  <a:tcPr/>
                </a:tc>
                <a:tc>
                  <a:txBody>
                    <a:bodyPr/>
                    <a:lstStyle/>
                    <a:p>
                      <a:pPr algn="ctr"/>
                      <a:r>
                        <a:rPr lang="en-US" sz="1200"/>
                        <a:t>3</a:t>
                      </a:r>
                    </a:p>
                  </a:txBody>
                  <a:tcPr/>
                </a:tc>
                <a:extLst>
                  <a:ext uri="{0D108BD9-81ED-4DB2-BD59-A6C34878D82A}">
                    <a16:rowId xmlns:a16="http://schemas.microsoft.com/office/drawing/2014/main" val="158055126"/>
                  </a:ext>
                </a:extLst>
              </a:tr>
            </a:tbl>
          </a:graphicData>
        </a:graphic>
      </p:graphicFrame>
      <p:graphicFrame>
        <p:nvGraphicFramePr>
          <p:cNvPr id="23" name="Table 22">
            <a:extLst>
              <a:ext uri="{FF2B5EF4-FFF2-40B4-BE49-F238E27FC236}">
                <a16:creationId xmlns:a16="http://schemas.microsoft.com/office/drawing/2014/main" id="{51AEFEED-F8A7-E2C7-CF5C-62158AEB2882}"/>
              </a:ext>
            </a:extLst>
          </p:cNvPr>
          <p:cNvGraphicFramePr>
            <a:graphicFrameLocks noGrp="1"/>
          </p:cNvGraphicFramePr>
          <p:nvPr>
            <p:extLst>
              <p:ext uri="{D42A27DB-BD31-4B8C-83A1-F6EECF244321}">
                <p14:modId xmlns:p14="http://schemas.microsoft.com/office/powerpoint/2010/main" val="1168036680"/>
              </p:ext>
            </p:extLst>
          </p:nvPr>
        </p:nvGraphicFramePr>
        <p:xfrm>
          <a:off x="4743157" y="3418685"/>
          <a:ext cx="7006584" cy="1008346"/>
        </p:xfrm>
        <a:graphic>
          <a:graphicData uri="http://schemas.openxmlformats.org/drawingml/2006/table">
            <a:tbl>
              <a:tblPr firstRow="1" bandRow="1">
                <a:tableStyleId>{93296810-A885-4BE3-A3E7-6D5BEEA58F35}</a:tableStyleId>
              </a:tblPr>
              <a:tblGrid>
                <a:gridCol w="1167764">
                  <a:extLst>
                    <a:ext uri="{9D8B030D-6E8A-4147-A177-3AD203B41FA5}">
                      <a16:colId xmlns:a16="http://schemas.microsoft.com/office/drawing/2014/main" val="949967169"/>
                    </a:ext>
                  </a:extLst>
                </a:gridCol>
                <a:gridCol w="1167764">
                  <a:extLst>
                    <a:ext uri="{9D8B030D-6E8A-4147-A177-3AD203B41FA5}">
                      <a16:colId xmlns:a16="http://schemas.microsoft.com/office/drawing/2014/main" val="2594361242"/>
                    </a:ext>
                  </a:extLst>
                </a:gridCol>
                <a:gridCol w="1167764">
                  <a:extLst>
                    <a:ext uri="{9D8B030D-6E8A-4147-A177-3AD203B41FA5}">
                      <a16:colId xmlns:a16="http://schemas.microsoft.com/office/drawing/2014/main" val="635850406"/>
                    </a:ext>
                  </a:extLst>
                </a:gridCol>
                <a:gridCol w="1167764">
                  <a:extLst>
                    <a:ext uri="{9D8B030D-6E8A-4147-A177-3AD203B41FA5}">
                      <a16:colId xmlns:a16="http://schemas.microsoft.com/office/drawing/2014/main" val="1915605774"/>
                    </a:ext>
                  </a:extLst>
                </a:gridCol>
                <a:gridCol w="1167764">
                  <a:extLst>
                    <a:ext uri="{9D8B030D-6E8A-4147-A177-3AD203B41FA5}">
                      <a16:colId xmlns:a16="http://schemas.microsoft.com/office/drawing/2014/main" val="2604646452"/>
                    </a:ext>
                  </a:extLst>
                </a:gridCol>
                <a:gridCol w="1167764">
                  <a:extLst>
                    <a:ext uri="{9D8B030D-6E8A-4147-A177-3AD203B41FA5}">
                      <a16:colId xmlns:a16="http://schemas.microsoft.com/office/drawing/2014/main" val="4172024380"/>
                    </a:ext>
                  </a:extLst>
                </a:gridCol>
              </a:tblGrid>
              <a:tr h="275573">
                <a:tc>
                  <a:txBody>
                    <a:bodyPr/>
                    <a:lstStyle/>
                    <a:p>
                      <a:pPr algn="ctr"/>
                      <a:r>
                        <a:rPr lang="en-US" sz="1200" b="1" err="1"/>
                        <a:t>team_season</a:t>
                      </a:r>
                    </a:p>
                  </a:txBody>
                  <a:tcPr/>
                </a:tc>
                <a:tc>
                  <a:txBody>
                    <a:bodyPr/>
                    <a:lstStyle/>
                    <a:p>
                      <a:pPr algn="ctr"/>
                      <a:r>
                        <a:rPr lang="en-US" sz="1200" b="1" err="1"/>
                        <a:t>team_name</a:t>
                      </a:r>
                    </a:p>
                  </a:txBody>
                  <a:tcPr/>
                </a:tc>
                <a:tc>
                  <a:txBody>
                    <a:bodyPr/>
                    <a:lstStyle/>
                    <a:p>
                      <a:pPr algn="ctr"/>
                      <a:r>
                        <a:rPr lang="en-US" sz="1200"/>
                        <a:t>wins</a:t>
                      </a:r>
                    </a:p>
                  </a:txBody>
                  <a:tcPr/>
                </a:tc>
                <a:tc>
                  <a:txBody>
                    <a:bodyPr/>
                    <a:lstStyle/>
                    <a:p>
                      <a:pPr algn="ctr"/>
                      <a:r>
                        <a:rPr lang="en-US" sz="1200"/>
                        <a:t>losses</a:t>
                      </a:r>
                    </a:p>
                  </a:txBody>
                  <a:tcPr/>
                </a:tc>
                <a:tc>
                  <a:txBody>
                    <a:bodyPr/>
                    <a:lstStyle/>
                    <a:p>
                      <a:pPr algn="ctr"/>
                      <a:r>
                        <a:rPr lang="en-US" sz="1200"/>
                        <a:t>ties</a:t>
                      </a:r>
                    </a:p>
                  </a:txBody>
                  <a:tcPr/>
                </a:tc>
                <a:tc>
                  <a:txBody>
                    <a:bodyPr/>
                    <a:lstStyle/>
                    <a:p>
                      <a:pPr algn="ctr"/>
                      <a:r>
                        <a:rPr lang="en-US" sz="1200"/>
                        <a:t>points</a:t>
                      </a:r>
                    </a:p>
                  </a:txBody>
                  <a:tcPr/>
                </a:tc>
                <a:extLst>
                  <a:ext uri="{0D108BD9-81ED-4DB2-BD59-A6C34878D82A}">
                    <a16:rowId xmlns:a16="http://schemas.microsoft.com/office/drawing/2014/main" val="2707135358"/>
                  </a:ext>
                </a:extLst>
              </a:tr>
              <a:tr h="275573">
                <a:tc>
                  <a:txBody>
                    <a:bodyPr/>
                    <a:lstStyle/>
                    <a:p>
                      <a:pPr algn="ctr"/>
                      <a:r>
                        <a:rPr lang="en-US" sz="1200"/>
                        <a:t>601</a:t>
                      </a:r>
                    </a:p>
                  </a:txBody>
                  <a:tcPr/>
                </a:tc>
                <a:tc>
                  <a:txBody>
                    <a:bodyPr/>
                    <a:lstStyle/>
                    <a:p>
                      <a:pPr algn="ctr"/>
                      <a:r>
                        <a:rPr lang="en-US" sz="1200"/>
                        <a:t>Alamo Strikers</a:t>
                      </a:r>
                    </a:p>
                  </a:txBody>
                  <a:tcPr/>
                </a:tc>
                <a:tc>
                  <a:txBody>
                    <a:bodyPr/>
                    <a:lstStyle/>
                    <a:p>
                      <a:pPr algn="ctr"/>
                      <a:r>
                        <a:rPr lang="en-US" sz="1200"/>
                        <a:t>1</a:t>
                      </a:r>
                    </a:p>
                  </a:txBody>
                  <a:tcPr/>
                </a:tc>
                <a:tc>
                  <a:txBody>
                    <a:bodyPr/>
                    <a:lstStyle/>
                    <a:p>
                      <a:pPr algn="ctr"/>
                      <a:r>
                        <a:rPr lang="en-US" sz="1200"/>
                        <a:t>0</a:t>
                      </a:r>
                    </a:p>
                  </a:txBody>
                  <a:tcPr/>
                </a:tc>
                <a:tc>
                  <a:txBody>
                    <a:bodyPr/>
                    <a:lstStyle/>
                    <a:p>
                      <a:pPr algn="ctr"/>
                      <a:r>
                        <a:rPr lang="en-US" sz="1200"/>
                        <a:t>1</a:t>
                      </a:r>
                    </a:p>
                  </a:txBody>
                  <a:tcPr/>
                </a:tc>
                <a:tc>
                  <a:txBody>
                    <a:bodyPr/>
                    <a:lstStyle/>
                    <a:p>
                      <a:pPr algn="ctr"/>
                      <a:r>
                        <a:rPr lang="en-US" sz="1200"/>
                        <a:t>4</a:t>
                      </a:r>
                    </a:p>
                  </a:txBody>
                  <a:tcPr/>
                </a:tc>
                <a:extLst>
                  <a:ext uri="{0D108BD9-81ED-4DB2-BD59-A6C34878D82A}">
                    <a16:rowId xmlns:a16="http://schemas.microsoft.com/office/drawing/2014/main" val="2137281037"/>
                  </a:ext>
                </a:extLst>
              </a:tr>
              <a:tr h="275573">
                <a:tc>
                  <a:txBody>
                    <a:bodyPr/>
                    <a:lstStyle/>
                    <a:p>
                      <a:pPr algn="ctr"/>
                      <a:r>
                        <a:rPr lang="en-US" sz="1200"/>
                        <a:t>602</a:t>
                      </a:r>
                    </a:p>
                  </a:txBody>
                  <a:tcPr/>
                </a:tc>
                <a:tc>
                  <a:txBody>
                    <a:bodyPr/>
                    <a:lstStyle/>
                    <a:p>
                      <a:pPr algn="ctr"/>
                      <a:r>
                        <a:rPr lang="en-US" sz="1200"/>
                        <a:t>Cactus Kickers</a:t>
                      </a:r>
                    </a:p>
                  </a:txBody>
                  <a:tcPr/>
                </a:tc>
                <a:tc>
                  <a:txBody>
                    <a:bodyPr/>
                    <a:lstStyle/>
                    <a:p>
                      <a:pPr algn="ctr"/>
                      <a:r>
                        <a:rPr lang="en-US" sz="1200"/>
                        <a:t>1</a:t>
                      </a:r>
                    </a:p>
                  </a:txBody>
                  <a:tcPr/>
                </a:tc>
                <a:tc>
                  <a:txBody>
                    <a:bodyPr/>
                    <a:lstStyle/>
                    <a:p>
                      <a:pPr algn="ctr"/>
                      <a:r>
                        <a:rPr lang="en-US" sz="1200"/>
                        <a:t>1</a:t>
                      </a:r>
                    </a:p>
                  </a:txBody>
                  <a:tcPr/>
                </a:tc>
                <a:tc>
                  <a:txBody>
                    <a:bodyPr/>
                    <a:lstStyle/>
                    <a:p>
                      <a:pPr algn="ctr"/>
                      <a:r>
                        <a:rPr lang="en-US" sz="1200"/>
                        <a:t>0</a:t>
                      </a:r>
                    </a:p>
                  </a:txBody>
                  <a:tcPr/>
                </a:tc>
                <a:tc>
                  <a:txBody>
                    <a:bodyPr/>
                    <a:lstStyle/>
                    <a:p>
                      <a:pPr algn="ctr"/>
                      <a:r>
                        <a:rPr lang="en-US" sz="1200"/>
                        <a:t>3</a:t>
                      </a:r>
                    </a:p>
                  </a:txBody>
                  <a:tcPr/>
                </a:tc>
                <a:extLst>
                  <a:ext uri="{0D108BD9-81ED-4DB2-BD59-A6C34878D82A}">
                    <a16:rowId xmlns:a16="http://schemas.microsoft.com/office/drawing/2014/main" val="15805512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chemeClr val="accent6">
              <a:lumMod val="75000"/>
            </a:schemeClr>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LOCAL SPORTS LEAGUE MANAGEMENT SYSTEM</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r>
              <a:rPr sz="2500" b="1">
                <a:solidFill>
                  <a:srgbClr val="122B4A"/>
                </a:solidFill>
              </a:rPr>
              <a:t>Team Reflection: Objectives, Challenges, and Solutions</a:t>
            </a:r>
          </a:p>
        </p:txBody>
      </p:sp>
      <p:sp>
        <p:nvSpPr>
          <p:cNvPr id="5" name="Rounded Rectangle 4"/>
          <p:cNvSpPr/>
          <p:nvPr/>
        </p:nvSpPr>
        <p:spPr>
          <a:xfrm>
            <a:off x="502920" y="1042415"/>
            <a:ext cx="11155680" cy="676656"/>
          </a:xfrm>
          <a:prstGeom prst="roundRect">
            <a:avLst/>
          </a:prstGeom>
          <a:solidFill>
            <a:srgbClr val="E7F1FC"/>
          </a:solidFill>
          <a:ln w="13970">
            <a:solidFill>
              <a:srgbClr val="B9D3EF"/>
            </a:solidFill>
          </a:ln>
        </p:spPr>
        <p:style>
          <a:lnRef idx="1">
            <a:schemeClr val="accent1"/>
          </a:lnRef>
          <a:fillRef idx="3">
            <a:schemeClr val="accent1"/>
          </a:fillRef>
          <a:effectRef idx="2">
            <a:schemeClr val="accent1"/>
          </a:effectRef>
          <a:fontRef idx="minor">
            <a:schemeClr val="lt1"/>
          </a:fontRef>
        </p:style>
        <p:txBody>
          <a:bodyPr lIns="164592" tIns="73152" rIns="164592" bIns="54864" rtlCol="0" anchor="ctr"/>
          <a:lstStyle/>
          <a:p>
            <a:pPr algn="l"/>
            <a:r>
              <a:rPr sz="1150" b="1">
                <a:solidFill>
                  <a:srgbClr val="122B4A"/>
                </a:solidFill>
              </a:rPr>
              <a:t>Overall: </a:t>
            </a:r>
            <a:r>
              <a:rPr sz="1150">
                <a:solidFill>
                  <a:srgbClr val="1E2D3C"/>
                </a:solidFill>
              </a:rPr>
              <a:t>The team met the original objectives by building a centralized sports league database that supports sports, seasons, teams, players, coaches, schedules, locations, match results, standings, and player statistics while reducing repetition through bridge tables and constraints.</a:t>
            </a:r>
          </a:p>
        </p:txBody>
      </p:sp>
      <p:sp>
        <p:nvSpPr>
          <p:cNvPr id="6" name="Rounded Rectangle 5"/>
          <p:cNvSpPr/>
          <p:nvPr/>
        </p:nvSpPr>
        <p:spPr>
          <a:xfrm>
            <a:off x="502920" y="1901952"/>
            <a:ext cx="5193792" cy="1847088"/>
          </a:xfrm>
          <a:prstGeom prst="roundRect">
            <a:avLst/>
          </a:prstGeom>
          <a:solidFill>
            <a:srgbClr val="FFFFFF"/>
          </a:solidFill>
          <a:ln w="12700">
            <a:solidFill>
              <a:srgbClr val="C9D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9224" y="2029968"/>
            <a:ext cx="4901183" cy="292608"/>
          </a:xfrm>
          <a:prstGeom prst="roundRect">
            <a:avLst/>
          </a:prstGeom>
          <a:solidFill>
            <a:schemeClr val="accent6">
              <a:lumMod val="75000"/>
            </a:schemeClr>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lIns="109728" tIns="36576" rIns="73152" bIns="18288" rtlCol="0" anchor="ctr"/>
          <a:lstStyle/>
          <a:p>
            <a:pPr algn="l"/>
            <a:r>
              <a:rPr sz="1200" b="1">
                <a:solidFill>
                  <a:srgbClr val="FFFFFF"/>
                </a:solidFill>
              </a:rPr>
              <a:t>Cameron Bergeron</a:t>
            </a:r>
          </a:p>
        </p:txBody>
      </p:sp>
      <p:sp>
        <p:nvSpPr>
          <p:cNvPr id="8" name="TextBox 7"/>
          <p:cNvSpPr txBox="1"/>
          <p:nvPr/>
        </p:nvSpPr>
        <p:spPr>
          <a:xfrm>
            <a:off x="685800" y="2395728"/>
            <a:ext cx="4828031" cy="219456"/>
          </a:xfrm>
          <a:prstGeom prst="rect">
            <a:avLst/>
          </a:prstGeom>
          <a:noFill/>
        </p:spPr>
        <p:txBody>
          <a:bodyPr wrap="none" lIns="0" tIns="0" rIns="0" bIns="0">
            <a:spAutoFit/>
          </a:bodyPr>
          <a:lstStyle/>
          <a:p>
            <a:r>
              <a:rPr sz="1019" b="1">
                <a:solidFill>
                  <a:srgbClr val="122B4A"/>
                </a:solidFill>
              </a:rPr>
              <a:t>Season activity &amp; match results</a:t>
            </a:r>
          </a:p>
        </p:txBody>
      </p:sp>
      <p:sp>
        <p:nvSpPr>
          <p:cNvPr id="9" name="TextBox 8"/>
          <p:cNvSpPr txBox="1"/>
          <p:nvPr/>
        </p:nvSpPr>
        <p:spPr>
          <a:xfrm>
            <a:off x="685800" y="2660904"/>
            <a:ext cx="4828031" cy="849592"/>
          </a:xfrm>
          <a:prstGeom prst="rect">
            <a:avLst/>
          </a:prstGeom>
          <a:noFill/>
        </p:spPr>
        <p:txBody>
          <a:bodyPr wrap="square" lIns="0" tIns="0" rIns="0" bIns="0" anchor="t">
            <a:spAutoFit/>
          </a:bodyPr>
          <a:lstStyle/>
          <a:p>
            <a:pPr>
              <a:lnSpc>
                <a:spcPct val="92000"/>
              </a:lnSpc>
            </a:pPr>
            <a:r>
              <a:rPr lang="en-US" sz="1000">
                <a:solidFill>
                  <a:srgbClr val="303B46"/>
                </a:solidFill>
                <a:ea typeface="+mn-lt"/>
                <a:cs typeface="+mn-lt"/>
              </a:rPr>
              <a:t>My main reflection is that the database successfully met the goal of helping league organizers view season activity and match results in a clear way. One of the biggest challenges was making sure the database could track teams across different seasons without repeating the same team information over and over. We solved this by using the </a:t>
            </a:r>
            <a:r>
              <a:rPr lang="en-US" sz="1000">
                <a:solidFill>
                  <a:srgbClr val="303B46"/>
                </a:solidFill>
                <a:latin typeface="Consolas"/>
              </a:rPr>
              <a:t>TEAM_SEASON</a:t>
            </a:r>
            <a:r>
              <a:rPr lang="en-US" sz="1000">
                <a:solidFill>
                  <a:srgbClr val="303B46"/>
                </a:solidFill>
                <a:ea typeface="+mn-lt"/>
                <a:cs typeface="+mn-lt"/>
              </a:rPr>
              <a:t> table, which connects each team to a specific season and stores season-based information like division, wins, losses, ties, and points.</a:t>
            </a:r>
            <a:endParaRPr lang="en-US" sz="1000">
              <a:ea typeface="+mn-lt"/>
              <a:cs typeface="+mn-lt"/>
            </a:endParaRPr>
          </a:p>
        </p:txBody>
      </p:sp>
      <p:sp>
        <p:nvSpPr>
          <p:cNvPr id="10" name="Rounded Rectangle 9"/>
          <p:cNvSpPr/>
          <p:nvPr/>
        </p:nvSpPr>
        <p:spPr>
          <a:xfrm>
            <a:off x="6144768" y="1901952"/>
            <a:ext cx="5193792" cy="1847088"/>
          </a:xfrm>
          <a:prstGeom prst="roundRect">
            <a:avLst/>
          </a:prstGeom>
          <a:solidFill>
            <a:srgbClr val="FFFFFF"/>
          </a:solidFill>
          <a:ln w="12700">
            <a:solidFill>
              <a:srgbClr val="C9D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91072" y="2029968"/>
            <a:ext cx="4901183" cy="292608"/>
          </a:xfrm>
          <a:prstGeom prst="roundRect">
            <a:avLst/>
          </a:prstGeom>
          <a:solidFill>
            <a:schemeClr val="accent6">
              <a:lumMod val="75000"/>
            </a:schemeClr>
          </a:solidFill>
          <a:ln>
            <a:solidFill>
              <a:srgbClr val="3882C5"/>
            </a:solidFill>
          </a:ln>
        </p:spPr>
        <p:style>
          <a:lnRef idx="1">
            <a:schemeClr val="accent1"/>
          </a:lnRef>
          <a:fillRef idx="3">
            <a:schemeClr val="accent1"/>
          </a:fillRef>
          <a:effectRef idx="2">
            <a:schemeClr val="accent1"/>
          </a:effectRef>
          <a:fontRef idx="minor">
            <a:schemeClr val="lt1"/>
          </a:fontRef>
        </p:style>
        <p:txBody>
          <a:bodyPr lIns="109728" tIns="36576" rIns="73152" bIns="18288" rtlCol="0" anchor="ctr"/>
          <a:lstStyle/>
          <a:p>
            <a:pPr algn="l"/>
            <a:r>
              <a:rPr sz="1200" b="1">
                <a:solidFill>
                  <a:srgbClr val="FFFFFF"/>
                </a:solidFill>
              </a:rPr>
              <a:t>Bryan Vera</a:t>
            </a:r>
          </a:p>
        </p:txBody>
      </p:sp>
      <p:sp>
        <p:nvSpPr>
          <p:cNvPr id="12" name="TextBox 11"/>
          <p:cNvSpPr txBox="1"/>
          <p:nvPr/>
        </p:nvSpPr>
        <p:spPr>
          <a:xfrm>
            <a:off x="6327648" y="2395728"/>
            <a:ext cx="4828031" cy="219456"/>
          </a:xfrm>
          <a:prstGeom prst="rect">
            <a:avLst/>
          </a:prstGeom>
          <a:noFill/>
        </p:spPr>
        <p:txBody>
          <a:bodyPr wrap="none" lIns="0" tIns="0" rIns="0" bIns="0">
            <a:spAutoFit/>
          </a:bodyPr>
          <a:lstStyle/>
          <a:p>
            <a:r>
              <a:rPr sz="1019" b="1">
                <a:solidFill>
                  <a:srgbClr val="122B4A"/>
                </a:solidFill>
              </a:rPr>
              <a:t>Player and team performance</a:t>
            </a:r>
          </a:p>
        </p:txBody>
      </p:sp>
      <p:sp>
        <p:nvSpPr>
          <p:cNvPr id="13" name="TextBox 12"/>
          <p:cNvSpPr txBox="1"/>
          <p:nvPr/>
        </p:nvSpPr>
        <p:spPr>
          <a:xfrm>
            <a:off x="6327648" y="2660904"/>
            <a:ext cx="4828031" cy="849592"/>
          </a:xfrm>
          <a:prstGeom prst="rect">
            <a:avLst/>
          </a:prstGeom>
          <a:noFill/>
        </p:spPr>
        <p:txBody>
          <a:bodyPr wrap="square" lIns="0" tIns="0" rIns="0" bIns="0" anchor="t">
            <a:spAutoFit/>
          </a:bodyPr>
          <a:lstStyle/>
          <a:p>
            <a:pPr>
              <a:lnSpc>
                <a:spcPct val="92000"/>
              </a:lnSpc>
            </a:pPr>
            <a:r>
              <a:rPr lang="en-US" sz="1000">
                <a:solidFill>
                  <a:srgbClr val="303B46"/>
                </a:solidFill>
                <a:ea typeface="+mn-lt"/>
                <a:cs typeface="+mn-lt"/>
              </a:rPr>
              <a:t>My reflection is that the database met the objective of answering performance-related questions, especially through player and team statistics. The most significant challenge was making sure player stats were tied to the correct match without creating duplicate stat records. We solved this by creating the </a:t>
            </a:r>
            <a:r>
              <a:rPr lang="en-US" sz="1000">
                <a:solidFill>
                  <a:srgbClr val="303B46"/>
                </a:solidFill>
                <a:latin typeface="Consolas"/>
              </a:rPr>
              <a:t>PLAYER_MATCH_STAT</a:t>
            </a:r>
            <a:r>
              <a:rPr lang="en-US" sz="1000">
                <a:solidFill>
                  <a:srgbClr val="303B46"/>
                </a:solidFill>
                <a:ea typeface="+mn-lt"/>
                <a:cs typeface="+mn-lt"/>
              </a:rPr>
              <a:t> table and using a unique relationship between each player and match, so each player can only have one stat record per match.</a:t>
            </a:r>
            <a:endParaRPr lang="en-US" sz="1000">
              <a:ea typeface="+mn-lt"/>
              <a:cs typeface="+mn-lt"/>
            </a:endParaRPr>
          </a:p>
        </p:txBody>
      </p:sp>
      <p:sp>
        <p:nvSpPr>
          <p:cNvPr id="14" name="Rounded Rectangle 13"/>
          <p:cNvSpPr/>
          <p:nvPr/>
        </p:nvSpPr>
        <p:spPr>
          <a:xfrm>
            <a:off x="502920" y="4041648"/>
            <a:ext cx="5193792" cy="1847088"/>
          </a:xfrm>
          <a:prstGeom prst="roundRect">
            <a:avLst/>
          </a:prstGeom>
          <a:solidFill>
            <a:srgbClr val="FFFFFF"/>
          </a:solidFill>
          <a:ln w="12700">
            <a:solidFill>
              <a:srgbClr val="C9D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9224" y="4169663"/>
            <a:ext cx="4901183" cy="292608"/>
          </a:xfrm>
          <a:prstGeom prst="roundRect">
            <a:avLst/>
          </a:prstGeom>
          <a:solidFill>
            <a:schemeClr val="accent6">
              <a:lumMod val="75000"/>
            </a:schemeClr>
          </a:solidFill>
          <a:ln>
            <a:solidFill>
              <a:srgbClr val="3882C5"/>
            </a:solidFill>
          </a:ln>
        </p:spPr>
        <p:style>
          <a:lnRef idx="1">
            <a:schemeClr val="accent1"/>
          </a:lnRef>
          <a:fillRef idx="3">
            <a:schemeClr val="accent1"/>
          </a:fillRef>
          <a:effectRef idx="2">
            <a:schemeClr val="accent1"/>
          </a:effectRef>
          <a:fontRef idx="minor">
            <a:schemeClr val="lt1"/>
          </a:fontRef>
        </p:style>
        <p:txBody>
          <a:bodyPr lIns="109728" tIns="36576" rIns="73152" bIns="18288" rtlCol="0" anchor="ctr"/>
          <a:lstStyle/>
          <a:p>
            <a:pPr algn="l"/>
            <a:r>
              <a:rPr sz="1200" b="1">
                <a:solidFill>
                  <a:srgbClr val="FFFFFF"/>
                </a:solidFill>
              </a:rPr>
              <a:t>Dalton J. Opudo</a:t>
            </a:r>
          </a:p>
        </p:txBody>
      </p:sp>
      <p:sp>
        <p:nvSpPr>
          <p:cNvPr id="16" name="TextBox 15"/>
          <p:cNvSpPr txBox="1"/>
          <p:nvPr/>
        </p:nvSpPr>
        <p:spPr>
          <a:xfrm>
            <a:off x="685800" y="4535424"/>
            <a:ext cx="4828031" cy="219456"/>
          </a:xfrm>
          <a:prstGeom prst="rect">
            <a:avLst/>
          </a:prstGeom>
          <a:noFill/>
        </p:spPr>
        <p:txBody>
          <a:bodyPr wrap="none" lIns="0" tIns="0" rIns="0" bIns="0">
            <a:spAutoFit/>
          </a:bodyPr>
          <a:lstStyle/>
          <a:p>
            <a:r>
              <a:rPr sz="1019" b="1">
                <a:solidFill>
                  <a:srgbClr val="122B4A"/>
                </a:solidFill>
              </a:rPr>
              <a:t>Coach, team, and season assignments</a:t>
            </a:r>
          </a:p>
        </p:txBody>
      </p:sp>
      <p:sp>
        <p:nvSpPr>
          <p:cNvPr id="17" name="TextBox 16"/>
          <p:cNvSpPr txBox="1"/>
          <p:nvPr/>
        </p:nvSpPr>
        <p:spPr>
          <a:xfrm>
            <a:off x="685800" y="4800600"/>
            <a:ext cx="4828031" cy="849592"/>
          </a:xfrm>
          <a:prstGeom prst="rect">
            <a:avLst/>
          </a:prstGeom>
          <a:noFill/>
        </p:spPr>
        <p:txBody>
          <a:bodyPr wrap="square" lIns="0" tIns="0" rIns="0" bIns="0" anchor="t">
            <a:spAutoFit/>
          </a:bodyPr>
          <a:lstStyle/>
          <a:p>
            <a:pPr>
              <a:lnSpc>
                <a:spcPct val="92000"/>
              </a:lnSpc>
            </a:pPr>
            <a:r>
              <a:rPr lang="en-US" sz="1000">
                <a:solidFill>
                  <a:srgbClr val="303B46"/>
                </a:solidFill>
                <a:ea typeface="+mn-lt"/>
                <a:cs typeface="+mn-lt"/>
              </a:rPr>
              <a:t>My reflection is that the database supports the business rule that coaches, teams, and seasons must be connected in an organized way. A challenge was making sure coach assignments were clear because coaches may work with different teams across different seasons. We solved this by using the </a:t>
            </a:r>
            <a:r>
              <a:rPr lang="en-US" sz="1000">
                <a:solidFill>
                  <a:srgbClr val="303B46"/>
                </a:solidFill>
                <a:latin typeface="Consolas"/>
              </a:rPr>
              <a:t>COACH_TEAM_SEASON</a:t>
            </a:r>
            <a:r>
              <a:rPr lang="en-US" sz="1000">
                <a:solidFill>
                  <a:srgbClr val="303B46"/>
                </a:solidFill>
                <a:ea typeface="+mn-lt"/>
                <a:cs typeface="+mn-lt"/>
              </a:rPr>
              <a:t> table, which connects a coach to a team’s specific season record instead of only connecting the coach directly to a team.</a:t>
            </a:r>
            <a:endParaRPr lang="en-US" sz="1000">
              <a:ea typeface="+mn-lt"/>
              <a:cs typeface="+mn-lt"/>
            </a:endParaRPr>
          </a:p>
        </p:txBody>
      </p:sp>
      <p:sp>
        <p:nvSpPr>
          <p:cNvPr id="18" name="Rounded Rectangle 17"/>
          <p:cNvSpPr/>
          <p:nvPr/>
        </p:nvSpPr>
        <p:spPr>
          <a:xfrm>
            <a:off x="6144768" y="4041648"/>
            <a:ext cx="5193792" cy="1847088"/>
          </a:xfrm>
          <a:prstGeom prst="roundRect">
            <a:avLst/>
          </a:prstGeom>
          <a:solidFill>
            <a:srgbClr val="FFFFFF"/>
          </a:solidFill>
          <a:ln w="12700">
            <a:solidFill>
              <a:srgbClr val="C9D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91072" y="4169663"/>
            <a:ext cx="4901183" cy="292608"/>
          </a:xfrm>
          <a:prstGeom prst="roundRect">
            <a:avLst/>
          </a:prstGeom>
          <a:solidFill>
            <a:schemeClr val="accent6">
              <a:lumMod val="75000"/>
            </a:schemeClr>
          </a:solidFill>
          <a:ln>
            <a:solidFill>
              <a:srgbClr val="3882C5"/>
            </a:solidFill>
          </a:ln>
        </p:spPr>
        <p:style>
          <a:lnRef idx="1">
            <a:schemeClr val="accent1"/>
          </a:lnRef>
          <a:fillRef idx="3">
            <a:schemeClr val="accent1"/>
          </a:fillRef>
          <a:effectRef idx="2">
            <a:schemeClr val="accent1"/>
          </a:effectRef>
          <a:fontRef idx="minor">
            <a:schemeClr val="lt1"/>
          </a:fontRef>
        </p:style>
        <p:txBody>
          <a:bodyPr lIns="109728" tIns="36576" rIns="73152" bIns="18288" rtlCol="0" anchor="ctr"/>
          <a:lstStyle/>
          <a:p>
            <a:pPr algn="l"/>
            <a:r>
              <a:rPr sz="1200" b="1">
                <a:solidFill>
                  <a:srgbClr val="FFFFFF"/>
                </a:solidFill>
              </a:rPr>
              <a:t>Lance Lamon Martin</a:t>
            </a:r>
          </a:p>
        </p:txBody>
      </p:sp>
      <p:sp>
        <p:nvSpPr>
          <p:cNvPr id="20" name="TextBox 19"/>
          <p:cNvSpPr txBox="1"/>
          <p:nvPr/>
        </p:nvSpPr>
        <p:spPr>
          <a:xfrm>
            <a:off x="6327648" y="4535424"/>
            <a:ext cx="4828031" cy="219456"/>
          </a:xfrm>
          <a:prstGeom prst="rect">
            <a:avLst/>
          </a:prstGeom>
          <a:noFill/>
        </p:spPr>
        <p:txBody>
          <a:bodyPr wrap="none" lIns="0" tIns="0" rIns="0" bIns="0">
            <a:spAutoFit/>
          </a:bodyPr>
          <a:lstStyle/>
          <a:p>
            <a:r>
              <a:rPr sz="1019" b="1">
                <a:solidFill>
                  <a:srgbClr val="122B4A"/>
                </a:solidFill>
              </a:rPr>
              <a:t>Scheduling and location control</a:t>
            </a:r>
          </a:p>
        </p:txBody>
      </p:sp>
      <p:sp>
        <p:nvSpPr>
          <p:cNvPr id="21" name="TextBox 20"/>
          <p:cNvSpPr txBox="1"/>
          <p:nvPr/>
        </p:nvSpPr>
        <p:spPr>
          <a:xfrm>
            <a:off x="6327648" y="4800600"/>
            <a:ext cx="4828031" cy="849592"/>
          </a:xfrm>
          <a:prstGeom prst="rect">
            <a:avLst/>
          </a:prstGeom>
          <a:noFill/>
        </p:spPr>
        <p:txBody>
          <a:bodyPr wrap="square" lIns="0" tIns="0" rIns="0" bIns="0" anchor="t">
            <a:spAutoFit/>
          </a:bodyPr>
          <a:lstStyle/>
          <a:p>
            <a:pPr>
              <a:lnSpc>
                <a:spcPct val="92000"/>
              </a:lnSpc>
            </a:pPr>
            <a:r>
              <a:rPr lang="en-US" sz="1000">
                <a:solidFill>
                  <a:srgbClr val="303B46"/>
                </a:solidFill>
                <a:ea typeface="+mn-lt"/>
                <a:cs typeface="+mn-lt"/>
              </a:rPr>
              <a:t>My reflection is that the database met the scheduling objective by allowing league staff to see when and where matches are played. The biggest challenge was preventing scheduling conflicts, especially if two matches were accidentally assigned to the same location at the same time. We solved this by including a rule in the database that makes the combination of </a:t>
            </a:r>
            <a:r>
              <a:rPr lang="en-US" sz="1000" err="1">
                <a:solidFill>
                  <a:srgbClr val="303B46"/>
                </a:solidFill>
                <a:latin typeface="Consolas"/>
              </a:rPr>
              <a:t>location_id</a:t>
            </a:r>
            <a:r>
              <a:rPr lang="en-US" sz="1000">
                <a:solidFill>
                  <a:srgbClr val="303B46"/>
                </a:solidFill>
                <a:ea typeface="+mn-lt"/>
                <a:cs typeface="+mn-lt"/>
              </a:rPr>
              <a:t> and </a:t>
            </a:r>
            <a:r>
              <a:rPr lang="en-US" sz="1000" err="1">
                <a:solidFill>
                  <a:srgbClr val="303B46"/>
                </a:solidFill>
                <a:latin typeface="Consolas"/>
              </a:rPr>
              <a:t>match_datetime</a:t>
            </a:r>
            <a:r>
              <a:rPr lang="en-US" sz="1000">
                <a:solidFill>
                  <a:srgbClr val="303B46"/>
                </a:solidFill>
                <a:ea typeface="+mn-lt"/>
                <a:cs typeface="+mn-lt"/>
              </a:rPr>
              <a:t> unique, which helps prevent double-booking.</a:t>
            </a:r>
            <a:endParaRPr lang="en-US" sz="1000">
              <a:ea typeface="+mn-lt"/>
              <a:cs typeface="+mn-lt"/>
            </a:endParaRPr>
          </a:p>
        </p:txBody>
      </p:sp>
      <p:sp>
        <p:nvSpPr>
          <p:cNvPr id="22" name="TextBox 21"/>
          <p:cNvSpPr txBox="1"/>
          <p:nvPr/>
        </p:nvSpPr>
        <p:spPr>
          <a:xfrm>
            <a:off x="502920" y="6446520"/>
            <a:ext cx="6583680" cy="182880"/>
          </a:xfrm>
          <a:prstGeom prst="rect">
            <a:avLst/>
          </a:prstGeom>
          <a:noFill/>
        </p:spPr>
        <p:txBody>
          <a:bodyPr wrap="none" lIns="0" tIns="0" rIns="0" bIns="0">
            <a:spAutoFit/>
          </a:bodyPr>
          <a:lstStyle/>
          <a:p>
            <a:r>
              <a:rPr sz="800">
                <a:solidFill>
                  <a:srgbClr val="596878"/>
                </a:solidFill>
              </a:rPr>
              <a:t>Group 13 • CS-3743 Database Systems • 24</a:t>
            </a:r>
          </a:p>
        </p:txBody>
      </p:sp>
    </p:spTree>
    <p:extLst>
      <p:ext uri="{BB962C8B-B14F-4D97-AF65-F5344CB8AC3E}">
        <p14:creationId xmlns:p14="http://schemas.microsoft.com/office/powerpoint/2010/main" val="2461635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855A"/>
          </a:solidFill>
          <a:ln w="12700">
            <a:solidFill>
              <a:srgbClr val="2F855A"/>
            </a:solidFill>
            <a:prstDash val="solid"/>
          </a:ln>
        </p:spPr>
      </p:sp>
      <p:sp>
        <p:nvSpPr>
          <p:cNvPr id="3" name="Text 1"/>
          <p:cNvSpPr/>
          <p:nvPr/>
        </p:nvSpPr>
        <p:spPr>
          <a:xfrm>
            <a:off x="502920" y="292608"/>
            <a:ext cx="6217920" cy="182880"/>
          </a:xfrm>
          <a:prstGeom prst="rect">
            <a:avLst/>
          </a:prstGeom>
          <a:noFill/>
          <a:ln/>
        </p:spPr>
        <p:txBody>
          <a:bodyPr wrap="square" lIns="0" tIns="0" rIns="0" bIns="0" rtlCol="0" anchor="ctr"/>
          <a:lstStyle/>
          <a:p>
            <a:pPr marL="0" indent="0">
              <a:buNone/>
            </a:pPr>
            <a:r>
              <a:rPr lang="en-US" sz="850" b="1">
                <a:solidFill>
                  <a:srgbClr val="2F855A"/>
                </a:solidFill>
                <a:latin typeface="Aptos" pitchFamily="34" charset="0"/>
                <a:ea typeface="Aptos" pitchFamily="34" charset="-122"/>
                <a:cs typeface="Aptos" pitchFamily="34" charset="-120"/>
              </a:rPr>
              <a:t>LOCAL SPORTS LEAGUE MANAGEMENT SYSTEM</a:t>
            </a:r>
            <a:endParaRPr lang="en-US" sz="850"/>
          </a:p>
        </p:txBody>
      </p:sp>
      <p:sp>
        <p:nvSpPr>
          <p:cNvPr id="4" name="Text 2"/>
          <p:cNvSpPr/>
          <p:nvPr/>
        </p:nvSpPr>
        <p:spPr>
          <a:xfrm>
            <a:off x="502920" y="530352"/>
            <a:ext cx="11201400" cy="420624"/>
          </a:xfrm>
          <a:prstGeom prst="rect">
            <a:avLst/>
          </a:prstGeom>
          <a:noFill/>
          <a:ln/>
        </p:spPr>
        <p:txBody>
          <a:bodyPr wrap="square" lIns="0" tIns="0" rIns="0" bIns="0" rtlCol="0" anchor="ctr">
            <a:normAutofit/>
          </a:bodyPr>
          <a:lstStyle/>
          <a:p>
            <a:pPr marL="0" indent="0">
              <a:buNone/>
            </a:pPr>
            <a:r>
              <a:rPr lang="en-US" sz="2700" b="1">
                <a:solidFill>
                  <a:srgbClr val="102A43"/>
                </a:solidFill>
                <a:latin typeface="Aptos Display" pitchFamily="34" charset="0"/>
                <a:ea typeface="Aptos Display" pitchFamily="34" charset="-122"/>
                <a:cs typeface="Aptos Display" pitchFamily="34" charset="-120"/>
              </a:rPr>
              <a:t>Closing: Value Delivered to Users</a:t>
            </a:r>
            <a:endParaRPr lang="en-US" sz="2700"/>
          </a:p>
        </p:txBody>
      </p:sp>
      <p:sp>
        <p:nvSpPr>
          <p:cNvPr id="5" name="Text 3"/>
          <p:cNvSpPr/>
          <p:nvPr/>
        </p:nvSpPr>
        <p:spPr>
          <a:xfrm>
            <a:off x="868680" y="1298448"/>
            <a:ext cx="10469880" cy="502920"/>
          </a:xfrm>
          <a:prstGeom prst="rect">
            <a:avLst/>
          </a:prstGeom>
          <a:noFill/>
          <a:ln/>
        </p:spPr>
        <p:txBody>
          <a:bodyPr wrap="square" lIns="0" tIns="0" rIns="0" bIns="0" rtlCol="0" anchor="ctr">
            <a:normAutofit/>
          </a:bodyPr>
          <a:lstStyle/>
          <a:p>
            <a:pPr marL="0" indent="0" algn="ctr">
              <a:buNone/>
            </a:pPr>
            <a:r>
              <a:rPr lang="en-US" sz="2800" b="1">
                <a:solidFill>
                  <a:srgbClr val="102A43"/>
                </a:solidFill>
              </a:rPr>
              <a:t>The database turns league activity into organized, reliable, and useful information.</a:t>
            </a:r>
            <a:endParaRPr lang="en-US" sz="2800"/>
          </a:p>
        </p:txBody>
      </p:sp>
      <p:sp>
        <p:nvSpPr>
          <p:cNvPr id="6" name="Shape 4"/>
          <p:cNvSpPr/>
          <p:nvPr/>
        </p:nvSpPr>
        <p:spPr>
          <a:xfrm>
            <a:off x="822960" y="2514600"/>
            <a:ext cx="3246120" cy="1828800"/>
          </a:xfrm>
          <a:prstGeom prst="roundRect">
            <a:avLst>
              <a:gd name="adj" fmla="val 6000"/>
            </a:avLst>
          </a:prstGeom>
          <a:solidFill>
            <a:srgbClr val="FFFFFF"/>
          </a:solidFill>
          <a:ln w="12700">
            <a:solidFill>
              <a:srgbClr val="D9E2EC"/>
            </a:solidFill>
            <a:prstDash val="solid"/>
          </a:ln>
        </p:spPr>
      </p:sp>
      <p:sp>
        <p:nvSpPr>
          <p:cNvPr id="7" name="Text 5"/>
          <p:cNvSpPr/>
          <p:nvPr/>
        </p:nvSpPr>
        <p:spPr>
          <a:xfrm>
            <a:off x="1051560" y="2816352"/>
            <a:ext cx="2788920" cy="274320"/>
          </a:xfrm>
          <a:prstGeom prst="rect">
            <a:avLst/>
          </a:prstGeom>
          <a:noFill/>
          <a:ln/>
        </p:spPr>
        <p:txBody>
          <a:bodyPr wrap="square" lIns="0" tIns="0" rIns="0" bIns="0" rtlCol="0" anchor="ctr"/>
          <a:lstStyle/>
          <a:p>
            <a:pPr marL="0" indent="0" algn="ctr">
              <a:buNone/>
            </a:pPr>
            <a:r>
              <a:rPr lang="en-US" sz="1600" b="1">
                <a:solidFill>
                  <a:srgbClr val="2F855A"/>
                </a:solidFill>
              </a:rPr>
              <a:t>Centralized records</a:t>
            </a:r>
            <a:endParaRPr lang="en-US" sz="1600"/>
          </a:p>
        </p:txBody>
      </p:sp>
      <p:sp>
        <p:nvSpPr>
          <p:cNvPr id="8" name="Text 6"/>
          <p:cNvSpPr/>
          <p:nvPr/>
        </p:nvSpPr>
        <p:spPr>
          <a:xfrm>
            <a:off x="1078992" y="3310128"/>
            <a:ext cx="2743200" cy="640080"/>
          </a:xfrm>
          <a:prstGeom prst="rect">
            <a:avLst/>
          </a:prstGeom>
          <a:noFill/>
          <a:ln/>
        </p:spPr>
        <p:txBody>
          <a:bodyPr wrap="square" lIns="0" tIns="0" rIns="0" bIns="0" rtlCol="0" anchor="ctr">
            <a:normAutofit/>
          </a:bodyPr>
          <a:lstStyle/>
          <a:p>
            <a:pPr marL="0" indent="0" algn="ctr">
              <a:buNone/>
            </a:pPr>
            <a:r>
              <a:rPr lang="en-US" sz="1280">
                <a:solidFill>
                  <a:srgbClr val="1A202C"/>
                </a:solidFill>
              </a:rPr>
              <a:t>Teams, players, coaches, seasons, locations, matches, and stats are stored consistently.</a:t>
            </a:r>
            <a:endParaRPr lang="en-US" sz="1280"/>
          </a:p>
        </p:txBody>
      </p:sp>
      <p:sp>
        <p:nvSpPr>
          <p:cNvPr id="9" name="Shape 7"/>
          <p:cNvSpPr/>
          <p:nvPr/>
        </p:nvSpPr>
        <p:spPr>
          <a:xfrm>
            <a:off x="4572000" y="2514600"/>
            <a:ext cx="3246120" cy="1828800"/>
          </a:xfrm>
          <a:prstGeom prst="roundRect">
            <a:avLst>
              <a:gd name="adj" fmla="val 6000"/>
            </a:avLst>
          </a:prstGeom>
          <a:solidFill>
            <a:srgbClr val="E6F4EA"/>
          </a:solidFill>
          <a:ln w="12700">
            <a:solidFill>
              <a:srgbClr val="B7E4C7"/>
            </a:solidFill>
            <a:prstDash val="solid"/>
          </a:ln>
        </p:spPr>
      </p:sp>
      <p:sp>
        <p:nvSpPr>
          <p:cNvPr id="10" name="Text 8"/>
          <p:cNvSpPr/>
          <p:nvPr/>
        </p:nvSpPr>
        <p:spPr>
          <a:xfrm>
            <a:off x="4800600" y="2816352"/>
            <a:ext cx="2788920" cy="274320"/>
          </a:xfrm>
          <a:prstGeom prst="rect">
            <a:avLst/>
          </a:prstGeom>
          <a:noFill/>
          <a:ln/>
        </p:spPr>
        <p:txBody>
          <a:bodyPr wrap="square" lIns="0" tIns="0" rIns="0" bIns="0" rtlCol="0" anchor="ctr"/>
          <a:lstStyle/>
          <a:p>
            <a:pPr marL="0" indent="0" algn="ctr">
              <a:buNone/>
            </a:pPr>
            <a:r>
              <a:rPr lang="en-US" sz="1600" b="1">
                <a:solidFill>
                  <a:srgbClr val="2F855A"/>
                </a:solidFill>
              </a:rPr>
              <a:t>User-focused reports</a:t>
            </a:r>
            <a:endParaRPr lang="en-US" sz="1600"/>
          </a:p>
        </p:txBody>
      </p:sp>
      <p:sp>
        <p:nvSpPr>
          <p:cNvPr id="11" name="Text 9"/>
          <p:cNvSpPr/>
          <p:nvPr/>
        </p:nvSpPr>
        <p:spPr>
          <a:xfrm>
            <a:off x="4828032" y="3310128"/>
            <a:ext cx="2743200" cy="640080"/>
          </a:xfrm>
          <a:prstGeom prst="rect">
            <a:avLst/>
          </a:prstGeom>
          <a:noFill/>
          <a:ln/>
        </p:spPr>
        <p:txBody>
          <a:bodyPr wrap="square" lIns="0" tIns="0" rIns="0" bIns="0" rtlCol="0" anchor="ctr">
            <a:normAutofit/>
          </a:bodyPr>
          <a:lstStyle/>
          <a:p>
            <a:pPr marL="0" indent="0" algn="ctr">
              <a:buNone/>
            </a:pPr>
            <a:r>
              <a:rPr lang="en-US" sz="1280">
                <a:solidFill>
                  <a:srgbClr val="1A202C"/>
                </a:solidFill>
              </a:rPr>
              <a:t>Queries answer real questions about participation, schedules, results, standings, and performance.</a:t>
            </a:r>
            <a:endParaRPr lang="en-US" sz="1280"/>
          </a:p>
        </p:txBody>
      </p:sp>
      <p:sp>
        <p:nvSpPr>
          <p:cNvPr id="12" name="Shape 10"/>
          <p:cNvSpPr/>
          <p:nvPr/>
        </p:nvSpPr>
        <p:spPr>
          <a:xfrm>
            <a:off x="8321040" y="2514600"/>
            <a:ext cx="3246120" cy="1828800"/>
          </a:xfrm>
          <a:prstGeom prst="roundRect">
            <a:avLst>
              <a:gd name="adj" fmla="val 6000"/>
            </a:avLst>
          </a:prstGeom>
          <a:solidFill>
            <a:srgbClr val="FFFFFF"/>
          </a:solidFill>
          <a:ln w="12700">
            <a:solidFill>
              <a:srgbClr val="D9E2EC"/>
            </a:solidFill>
            <a:prstDash val="solid"/>
          </a:ln>
        </p:spPr>
      </p:sp>
      <p:sp>
        <p:nvSpPr>
          <p:cNvPr id="13" name="Text 11"/>
          <p:cNvSpPr/>
          <p:nvPr/>
        </p:nvSpPr>
        <p:spPr>
          <a:xfrm>
            <a:off x="8549640" y="2816352"/>
            <a:ext cx="2788920" cy="274320"/>
          </a:xfrm>
          <a:prstGeom prst="rect">
            <a:avLst/>
          </a:prstGeom>
          <a:noFill/>
          <a:ln/>
        </p:spPr>
        <p:txBody>
          <a:bodyPr wrap="square" lIns="0" tIns="0" rIns="0" bIns="0" rtlCol="0" anchor="ctr"/>
          <a:lstStyle/>
          <a:p>
            <a:pPr marL="0" indent="0" algn="ctr">
              <a:buNone/>
            </a:pPr>
            <a:r>
              <a:rPr lang="en-US" sz="1600" b="1">
                <a:solidFill>
                  <a:srgbClr val="2F855A"/>
                </a:solidFill>
              </a:rPr>
              <a:t>Better decisions</a:t>
            </a:r>
            <a:endParaRPr lang="en-US" sz="1600"/>
          </a:p>
        </p:txBody>
      </p:sp>
      <p:sp>
        <p:nvSpPr>
          <p:cNvPr id="14" name="Text 12"/>
          <p:cNvSpPr/>
          <p:nvPr/>
        </p:nvSpPr>
        <p:spPr>
          <a:xfrm>
            <a:off x="8577072" y="3310128"/>
            <a:ext cx="2743200" cy="640080"/>
          </a:xfrm>
          <a:prstGeom prst="rect">
            <a:avLst/>
          </a:prstGeom>
          <a:noFill/>
          <a:ln/>
        </p:spPr>
        <p:txBody>
          <a:bodyPr wrap="square" lIns="0" tIns="0" rIns="0" bIns="0" rtlCol="0" anchor="ctr">
            <a:normAutofit/>
          </a:bodyPr>
          <a:lstStyle/>
          <a:p>
            <a:pPr marL="0" indent="0" algn="ctr">
              <a:buNone/>
            </a:pPr>
            <a:r>
              <a:rPr lang="en-US" sz="1280">
                <a:solidFill>
                  <a:srgbClr val="1A202C"/>
                </a:solidFill>
              </a:rPr>
              <a:t>League staff can plan facilities, staffing, standings, and future seasons with confidence.</a:t>
            </a:r>
            <a:endParaRPr lang="en-US" sz="1280"/>
          </a:p>
        </p:txBody>
      </p:sp>
      <p:sp>
        <p:nvSpPr>
          <p:cNvPr id="16" name="Text 14"/>
          <p:cNvSpPr/>
          <p:nvPr/>
        </p:nvSpPr>
        <p:spPr>
          <a:xfrm>
            <a:off x="502920" y="6473952"/>
            <a:ext cx="6583680" cy="146304"/>
          </a:xfrm>
          <a:prstGeom prst="rect">
            <a:avLst/>
          </a:prstGeom>
          <a:noFill/>
          <a:ln/>
        </p:spPr>
        <p:txBody>
          <a:bodyPr wrap="square" lIns="0" tIns="0" rIns="0" bIns="0" rtlCol="0" anchor="ctr"/>
          <a:lstStyle/>
          <a:p>
            <a:pPr marL="0" indent="0">
              <a:buNone/>
            </a:pPr>
            <a:r>
              <a:rPr lang="en-US" sz="750">
                <a:solidFill>
                  <a:srgbClr val="718096"/>
                </a:solidFill>
              </a:rPr>
              <a:t>Group 13 • CS-3743 Database Systems • 25</a:t>
            </a:r>
            <a:endParaRPr lang="en-US" sz="7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26</Slides>
  <Notes>26</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UTSA CS-3743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13 - Local Sports League Management System</dc:title>
  <dc:subject>Local Sports League Management System final presentation</dc:subject>
  <dc:creator>Group 13</dc:creator>
  <cp:revision>2</cp:revision>
  <dcterms:created xsi:type="dcterms:W3CDTF">2026-04-29T23:23:53Z</dcterms:created>
  <dcterms:modified xsi:type="dcterms:W3CDTF">2026-05-02T23:43:36Z</dcterms:modified>
</cp:coreProperties>
</file>